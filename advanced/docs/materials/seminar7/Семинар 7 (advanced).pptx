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147377643" r:id="rId2"/>
    <p:sldId id="2147377644" r:id="rId3"/>
    <p:sldId id="2147377645" r:id="rId4"/>
    <p:sldId id="2147377646" r:id="rId5"/>
    <p:sldId id="2147377647" r:id="rId6"/>
    <p:sldId id="2147377648" r:id="rId7"/>
    <p:sldId id="2147377649" r:id="rId8"/>
    <p:sldId id="2147377650" r:id="rId9"/>
    <p:sldId id="2147377651" r:id="rId10"/>
    <p:sldId id="2147377652" r:id="rId11"/>
    <p:sldId id="2147377653" r:id="rId12"/>
    <p:sldId id="2147377655" r:id="rId13"/>
    <p:sldId id="2147377656" r:id="rId14"/>
    <p:sldId id="2147377657" r:id="rId15"/>
    <p:sldId id="2147377658" r:id="rId16"/>
    <p:sldId id="2147377659" r:id="rId17"/>
    <p:sldId id="2147377660" r:id="rId18"/>
    <p:sldId id="2147377661" r:id="rId19"/>
    <p:sldId id="2147377662" r:id="rId20"/>
    <p:sldId id="2147377663" r:id="rId21"/>
    <p:sldId id="2147377664" r:id="rId22"/>
    <p:sldId id="2147377665" r:id="rId23"/>
    <p:sldId id="2147377666" r:id="rId24"/>
    <p:sldId id="2147377667" r:id="rId25"/>
    <p:sldId id="2147377668" r:id="rId26"/>
    <p:sldId id="2147377669" r:id="rId27"/>
    <p:sldId id="2147377670" r:id="rId28"/>
    <p:sldId id="2147377680" r:id="rId29"/>
    <p:sldId id="2147377671" r:id="rId30"/>
    <p:sldId id="2147377672" r:id="rId31"/>
    <p:sldId id="2147377681" r:id="rId32"/>
    <p:sldId id="2147377673" r:id="rId33"/>
    <p:sldId id="2147377674" r:id="rId34"/>
    <p:sldId id="2147377675" r:id="rId35"/>
    <p:sldId id="2147377676" r:id="rId36"/>
    <p:sldId id="2147377677" r:id="rId37"/>
    <p:sldId id="2147377678" r:id="rId38"/>
    <p:sldId id="2147377679" r:id="rId39"/>
  </p:sldIdLst>
  <p:sldSz cx="19799300" cy="11160125"/>
  <p:notesSz cx="6858000" cy="9144000"/>
  <p:embeddedFontLst>
    <p:embeddedFont>
      <p:font typeface="Cambria Math" panose="02040503050406030204" pitchFamily="18" charset="0"/>
      <p:regular r:id="rId42"/>
    </p:embeddedFont>
    <p:embeddedFont>
      <p:font typeface="JetBrains Mono Medium" panose="02000009000000000000" pitchFamily="49" charset="0"/>
      <p:italic r:id="rId43"/>
    </p:embeddedFont>
    <p:embeddedFont>
      <p:font typeface="T-Sans" pitchFamily="2" charset="77"/>
      <p:regular r:id="rId44"/>
      <p:bold r:id="rId45"/>
    </p:embeddedFont>
    <p:embeddedFont>
      <p:font typeface="T-Sans Medium" pitchFamily="2" charset="77"/>
      <p:regular r:id="rId46"/>
    </p:embeddedFont>
    <p:embeddedFont>
      <p:font typeface="Tinkoff Sans" panose="02000506050000020004" pitchFamily="2" charset="77"/>
      <p:regular r:id="rId47"/>
      <p:bold r:id="rId48"/>
    </p:embeddedFont>
  </p:embeddedFontLst>
  <p:defaultTextStyle>
    <a:defPPr marL="0" marR="0" indent="0" algn="l" defTabSz="9000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1pPr>
    <a:lvl2pPr marL="0" marR="0" indent="450029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2pPr>
    <a:lvl3pPr marL="0" marR="0" indent="90006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3pPr>
    <a:lvl4pPr marL="0" marR="0" indent="135008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4pPr>
    <a:lvl5pPr marL="0" marR="0" indent="180012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5pPr>
    <a:lvl6pPr marL="0" marR="0" indent="225014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6pPr>
    <a:lvl7pPr marL="0" marR="0" indent="270017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7pPr>
    <a:lvl8pPr marL="0" marR="0" indent="315020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8pPr>
    <a:lvl9pPr marL="0" marR="0" indent="360023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9pPr>
  </p:defaultTextStyle>
  <p:extLst>
    <p:ext uri="{EFAFB233-063F-42B5-8137-9DF3F51BA10A}">
      <p15:sldGuideLst xmlns:p15="http://schemas.microsoft.com/office/powerpoint/2012/main">
        <p15:guide id="1" pos="861" userDrawn="1">
          <p15:clr>
            <a:srgbClr val="A4A3A4"/>
          </p15:clr>
        </p15:guide>
        <p15:guide id="2" orient="horz" pos="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DFBFA"/>
    <a:srgbClr val="FFDB2B"/>
    <a:srgbClr val="E7B804"/>
    <a:srgbClr val="F8F8F8"/>
    <a:srgbClr val="7ABAD9"/>
    <a:srgbClr val="293134"/>
    <a:srgbClr val="79B9D5"/>
    <a:srgbClr val="A9E5F8"/>
    <a:srgbClr val="FFE4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ACB"/>
          </a:solidFill>
        </a:fill>
      </a:tcStyle>
    </a:wholeTbl>
    <a:band2H>
      <a:tcTxStyle/>
      <a:tcStyle>
        <a:tcBdr/>
        <a:fill>
          <a:solidFill>
            <a:srgbClr val="FEF5E7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CFF"/>
          </a:solidFill>
        </a:fill>
      </a:tcStyle>
    </a:wholeTbl>
    <a:band2H>
      <a:tcTxStyle/>
      <a:tcStyle>
        <a:tcBdr/>
        <a:fill>
          <a:solidFill>
            <a:srgbClr val="EAE7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lumOff val="3235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2">
              <a:lumOff val="3235"/>
            </a:schemeClr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94"/>
    <p:restoredTop sz="93330"/>
  </p:normalViewPr>
  <p:slideViewPr>
    <p:cSldViewPr snapToGrid="0" snapToObjects="1" showGuides="1">
      <p:cViewPr varScale="1">
        <p:scale>
          <a:sx n="93" d="100"/>
          <a:sy n="93" d="100"/>
        </p:scale>
        <p:origin x="696" y="216"/>
      </p:cViewPr>
      <p:guideLst>
        <p:guide pos="861"/>
        <p:guide orient="horz" pos="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4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83D989E-EF15-6F48-AA4B-731FAEF118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4CF683-EEF1-4645-87EB-D55DCC49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06CE-BBC7-5648-9AD8-918B797FE8E8}" type="datetimeFigureOut">
              <a:rPr lang="ru-RU" smtClean="0">
                <a:latin typeface="T-Sans" pitchFamily="2" charset="0"/>
                <a:ea typeface="T-Sans" pitchFamily="2" charset="0"/>
              </a:rPr>
              <a:t>22.10.2026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9581FD-2C33-5D4D-8228-B60CABE32A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57F81C-FF75-FE4D-AA1C-3BDE570DF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2138-0C2A-DB4B-942A-F7E05EC66FCB}" type="slidenum">
              <a:rPr lang="ru-RU" smtClean="0">
                <a:latin typeface="T-Sans" pitchFamily="2" charset="0"/>
                <a:ea typeface="T-Sans" pitchFamily="2" charset="0"/>
              </a:rPr>
              <a:t>‹#›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716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378" b="0" i="0">
        <a:solidFill>
          <a:schemeClr val="tx1"/>
        </a:solidFill>
        <a:latin typeface="T-Sans" pitchFamily="2" charset="0"/>
        <a:ea typeface="+mj-ea"/>
        <a:cs typeface="+mj-cs"/>
        <a:sym typeface="Calibri"/>
      </a:defRPr>
    </a:lvl1pPr>
    <a:lvl2pPr indent="225015" latinLnBrk="0">
      <a:defRPr sz="1181">
        <a:latin typeface="+mj-lt"/>
        <a:ea typeface="+mj-ea"/>
        <a:cs typeface="+mj-cs"/>
        <a:sym typeface="Calibri"/>
      </a:defRPr>
    </a:lvl2pPr>
    <a:lvl3pPr indent="450029" latinLnBrk="0">
      <a:defRPr sz="1181">
        <a:latin typeface="+mj-lt"/>
        <a:ea typeface="+mj-ea"/>
        <a:cs typeface="+mj-cs"/>
        <a:sym typeface="Calibri"/>
      </a:defRPr>
    </a:lvl3pPr>
    <a:lvl4pPr indent="675045" latinLnBrk="0">
      <a:defRPr sz="1181">
        <a:latin typeface="+mj-lt"/>
        <a:ea typeface="+mj-ea"/>
        <a:cs typeface="+mj-cs"/>
        <a:sym typeface="Calibri"/>
      </a:defRPr>
    </a:lvl4pPr>
    <a:lvl5pPr indent="900060" latinLnBrk="0">
      <a:defRPr sz="1181">
        <a:latin typeface="+mj-lt"/>
        <a:ea typeface="+mj-ea"/>
        <a:cs typeface="+mj-cs"/>
        <a:sym typeface="Calibri"/>
      </a:defRPr>
    </a:lvl5pPr>
    <a:lvl6pPr indent="1125075" latinLnBrk="0">
      <a:defRPr sz="1181">
        <a:latin typeface="+mj-lt"/>
        <a:ea typeface="+mj-ea"/>
        <a:cs typeface="+mj-cs"/>
        <a:sym typeface="Calibri"/>
      </a:defRPr>
    </a:lvl6pPr>
    <a:lvl7pPr indent="1350086" latinLnBrk="0">
      <a:defRPr sz="1181">
        <a:latin typeface="+mj-lt"/>
        <a:ea typeface="+mj-ea"/>
        <a:cs typeface="+mj-cs"/>
        <a:sym typeface="Calibri"/>
      </a:defRPr>
    </a:lvl7pPr>
    <a:lvl8pPr indent="1575102" latinLnBrk="0">
      <a:defRPr sz="1181">
        <a:latin typeface="+mj-lt"/>
        <a:ea typeface="+mj-ea"/>
        <a:cs typeface="+mj-cs"/>
        <a:sym typeface="Calibri"/>
      </a:defRPr>
    </a:lvl8pPr>
    <a:lvl9pPr indent="1800120" latinLnBrk="0">
      <a:defRPr sz="1181">
        <a:latin typeface="+mj-lt"/>
        <a:ea typeface="+mj-ea"/>
        <a:cs typeface="+mj-cs"/>
        <a:sym typeface="Calibri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F84A1A-3892-BEBC-E3CB-B413F84BF63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409919"/>
            <a:ext cx="1068946" cy="246221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 b="0" i="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125966-8232-9AC4-8683-EE4F730CA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5759176" cy="1116012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5D350B-6697-71DD-45DA-AAE4591C9E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224688" y="1779477"/>
            <a:ext cx="4394057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303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pos="5170" userDrawn="1">
          <p15:clr>
            <a:srgbClr val="FBAE40"/>
          </p15:clr>
        </p15:guide>
        <p15:guide id="24" orient="horz" pos="1111" userDrawn="1">
          <p15:clr>
            <a:srgbClr val="FBAE40"/>
          </p15:clr>
        </p15:guide>
        <p15:guide id="26" orient="horz" pos="1542" userDrawn="1">
          <p15:clr>
            <a:srgbClr val="FBAE40"/>
          </p15:clr>
        </p15:guide>
        <p15:guide id="30" orient="horz" pos="2653" userDrawn="1">
          <p15:clr>
            <a:srgbClr val="FBAE40"/>
          </p15:clr>
        </p15:guide>
        <p15:guide id="39" orient="horz" pos="4422" userDrawn="1">
          <p15:clr>
            <a:srgbClr val="FBAE40"/>
          </p15:clr>
        </p15:guide>
        <p15:guide id="43" orient="horz" pos="5533" userDrawn="1">
          <p15:clr>
            <a:srgbClr val="FBAE40"/>
          </p15:clr>
        </p15:guide>
        <p15:guide id="44" orient="horz" pos="591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A8CCF61-34E1-A7FE-253D-38968BB9DED6}"/>
              </a:ext>
            </a:extLst>
          </p:cNvPr>
          <p:cNvSpPr/>
          <p:nvPr userDrawn="1"/>
        </p:nvSpPr>
        <p:spPr>
          <a:xfrm>
            <a:off x="611188" y="647699"/>
            <a:ext cx="18576925" cy="9864725"/>
          </a:xfrm>
          <a:prstGeom prst="roundRect">
            <a:avLst>
              <a:gd name="adj" fmla="val 5394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solidFill>
                <a:srgbClr val="000000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189F2E-9007-1111-5F2A-7177336F66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427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9E0DDE-5486-2C50-C638-7E159326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C97689-0B14-BAB4-075D-08F8243A70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12104" y="1510158"/>
            <a:ext cx="488228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2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925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AC7EC11E-6AF4-DD27-3F92-218937F2CF6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6144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Желт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AE3D09BE-CDCC-BEAE-26D7-66AC1CF209B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3380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2FBF9586-44EC-4E13-AED7-14C258C34A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423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B69617-8869-9649-F99C-69FDA9C1E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11C91763-0915-F4BA-6A23-BA87B1885B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37695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24" orient="horz" pos="616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бел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00FDC96-810D-CFD9-6E58-04A3A2505C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8540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ер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00516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желт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8B3D8D3C-755C-BEF7-93C5-FD57275918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88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56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B31166E-5B2E-161F-80C4-671886F8EC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5535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паттерном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0F91C1-1A78-58C6-CB42-CC30A05BA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96DED21-0FBB-16BD-4DC9-B015EE6354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1823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черн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1BCFD17-C1D9-8EDD-22C9-22186C3311D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63944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4BFEFE7-FB2B-3859-C2EE-78C10CF7D7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945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15F1DD-95F6-4971-D888-6A6491841E9A}"/>
              </a:ext>
            </a:extLst>
          </p:cNvPr>
          <p:cNvGrpSpPr/>
          <p:nvPr userDrawn="1"/>
        </p:nvGrpSpPr>
        <p:grpSpPr>
          <a:xfrm>
            <a:off x="611187" y="2861734"/>
            <a:ext cx="18396000" cy="9864725"/>
            <a:chOff x="7477169" y="647700"/>
            <a:chExt cx="18396000" cy="9864725"/>
          </a:xfrm>
        </p:grpSpPr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38B58920-520D-ECD2-F228-4BCC7CF3CE49}"/>
                </a:ext>
              </a:extLst>
            </p:cNvPr>
            <p:cNvSpPr/>
            <p:nvPr/>
          </p:nvSpPr>
          <p:spPr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2B7D3A56-805B-13E2-7063-6B9B4EC8AA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A30C1799-08EA-B949-D626-A8CCD88143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048CF9FC-F84E-B682-74A5-DBD5C6B0F2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9B1BD348-2498-84F2-C965-C41594850914}"/>
                </a:ext>
              </a:extLst>
            </p:cNvPr>
            <p:cNvSpPr/>
            <p:nvPr/>
          </p:nvSpPr>
          <p:spPr>
            <a:xfrm>
              <a:off x="7621169" y="1245510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5771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1F21671-BB96-2971-101E-D1089DBA17F8}"/>
              </a:ext>
            </a:extLst>
          </p:cNvPr>
          <p:cNvGrpSpPr/>
          <p:nvPr userDrawn="1"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83E92DA5-6108-6ED0-6D68-5064067EF090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DC590063-5A42-FB1A-E53B-185C753C31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6828266-A2B8-ABD5-B32A-F0002CFDC0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C4F931CE-FB41-24EA-227F-5FDF32D136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5862E01E-E516-3B53-62A9-B59CBE13424B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5024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аттерн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65FB45-97BD-7225-E420-C825F595E3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178"/>
          <a:stretch/>
        </p:blipFill>
        <p:spPr>
          <a:xfrm>
            <a:off x="611186" y="4619298"/>
            <a:ext cx="18576000" cy="5881729"/>
          </a:xfrm>
          <a:prstGeom prst="roundRect">
            <a:avLst>
              <a:gd name="adj" fmla="val 10384"/>
            </a:avLst>
          </a:prstGeom>
        </p:spPr>
      </p:pic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CDC5362-4493-F8E4-812F-FB74B56668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29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E61101-FB36-7188-BEAF-FDF7940DFCCF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584EAB4-0304-4FEF-C52A-A2CB0150F1FC}"/>
              </a:ext>
            </a:extLst>
          </p:cNvPr>
          <p:cNvSpPr/>
          <p:nvPr userDrawn="1"/>
        </p:nvSpPr>
        <p:spPr>
          <a:xfrm>
            <a:off x="2207516" y="-2112072"/>
            <a:ext cx="15384268" cy="15384268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13E127B-8DEA-CC96-30EA-8B45282E4E78}"/>
              </a:ext>
            </a:extLst>
          </p:cNvPr>
          <p:cNvSpPr/>
          <p:nvPr userDrawn="1"/>
        </p:nvSpPr>
        <p:spPr>
          <a:xfrm>
            <a:off x="4645819" y="326231"/>
            <a:ext cx="10507662" cy="10507662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079FC53-DDC0-CA9F-5B63-3CAEBFE2C5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894602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47CB827-92DF-1E19-4556-7F26AEF2ED94}"/>
              </a:ext>
            </a:extLst>
          </p:cNvPr>
          <p:cNvGrpSpPr/>
          <p:nvPr userDrawn="1"/>
        </p:nvGrpSpPr>
        <p:grpSpPr>
          <a:xfrm>
            <a:off x="7355366" y="-719938"/>
            <a:ext cx="12600000" cy="12600000"/>
            <a:chOff x="7355366" y="-719938"/>
            <a:chExt cx="12600000" cy="12600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8A5DABA1-1DC3-E38B-4750-89870BC3EFA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355366" y="-719938"/>
              <a:ext cx="12600000" cy="12600000"/>
            </a:xfrm>
            <a:prstGeom prst="ellipse">
              <a:avLst/>
            </a:prstGeom>
            <a:solidFill>
              <a:srgbClr val="212020">
                <a:alpha val="2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9D503385-2B01-BB65-0260-EAC7605709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585879" y="510575"/>
              <a:ext cx="10138974" cy="10138974"/>
            </a:xfrm>
            <a:prstGeom prst="ellipse">
              <a:avLst/>
            </a:prstGeom>
            <a:solidFill>
              <a:srgbClr val="212020">
                <a:alpha val="3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D702DD45-F95F-F325-33A5-6B018D62D0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846586" y="1771282"/>
              <a:ext cx="7617561" cy="7617561"/>
            </a:xfrm>
            <a:prstGeom prst="ellipse">
              <a:avLst/>
            </a:prstGeom>
            <a:solidFill>
              <a:srgbClr val="212020">
                <a:alpha val="4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</p:grp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4F8FCCF-EC84-FD71-19BC-21BC6FE5EE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316613" y="3241309"/>
            <a:ext cx="4677507" cy="4677507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BAC04F5-2F11-88B0-A40D-7E022C490DC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426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3A67B3-FB4F-3CB2-6C6A-D1F535CF1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0F3C1F4A-9CD7-F8ED-CE66-6400EF28413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29677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6B5DC0-C588-DA97-CCB3-A681ADD9E7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126BD4C-C383-9301-0090-1D4E13EA6F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61704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1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cxnSp>
        <p:nvCxnSpPr>
          <p:cNvPr id="51" name="Соединительная линия уступом 50">
            <a:extLst>
              <a:ext uri="{FF2B5EF4-FFF2-40B4-BE49-F238E27FC236}">
                <a16:creationId xmlns:a16="http://schemas.microsoft.com/office/drawing/2014/main" id="{3329BF57-8247-BE21-5523-C8E3F8A144D2}"/>
              </a:ext>
            </a:extLst>
          </p:cNvPr>
          <p:cNvCxnSpPr>
            <a:cxnSpLocks/>
            <a:stCxn id="36" idx="3"/>
            <a:endCxn id="31" idx="0"/>
          </p:cNvCxnSpPr>
          <p:nvPr userDrawn="1"/>
        </p:nvCxnSpPr>
        <p:spPr>
          <a:xfrm>
            <a:off x="12151144" y="4294991"/>
            <a:ext cx="4458796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Соединительная линия уступом 53">
            <a:extLst>
              <a:ext uri="{FF2B5EF4-FFF2-40B4-BE49-F238E27FC236}">
                <a16:creationId xmlns:a16="http://schemas.microsoft.com/office/drawing/2014/main" id="{04558508-EE6A-D763-E9A4-260659A92926}"/>
              </a:ext>
            </a:extLst>
          </p:cNvPr>
          <p:cNvCxnSpPr>
            <a:stCxn id="36" idx="1"/>
            <a:endCxn id="21" idx="0"/>
          </p:cNvCxnSpPr>
          <p:nvPr userDrawn="1"/>
        </p:nvCxnSpPr>
        <p:spPr>
          <a:xfrm rot="10800000" flipV="1">
            <a:off x="3189361" y="4294991"/>
            <a:ext cx="4458794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C6D2594A-1FA6-F933-CFE2-93DB69279023}"/>
              </a:ext>
            </a:extLst>
          </p:cNvPr>
          <p:cNvCxnSpPr>
            <a:endCxn id="26" idx="0"/>
          </p:cNvCxnSpPr>
          <p:nvPr userDrawn="1"/>
        </p:nvCxnSpPr>
        <p:spPr>
          <a:xfrm>
            <a:off x="9899650" y="5373293"/>
            <a:ext cx="0" cy="2584208"/>
          </a:xfrm>
          <a:prstGeom prst="line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D4243908-EBE6-D74B-9B81-D2D458B76874}"/>
              </a:ext>
            </a:extLst>
          </p:cNvPr>
          <p:cNvSpPr/>
          <p:nvPr/>
        </p:nvSpPr>
        <p:spPr>
          <a:xfrm>
            <a:off x="937866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26194E7-DE29-A96E-FDA8-40CFCD3F6B45}"/>
              </a:ext>
            </a:extLst>
          </p:cNvPr>
          <p:cNvSpPr/>
          <p:nvPr/>
        </p:nvSpPr>
        <p:spPr>
          <a:xfrm>
            <a:off x="764815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1DF6D686-21DA-23E3-2D02-5BE4F58DB73E}"/>
              </a:ext>
            </a:extLst>
          </p:cNvPr>
          <p:cNvSpPr/>
          <p:nvPr/>
        </p:nvSpPr>
        <p:spPr>
          <a:xfrm>
            <a:off x="1435844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652039D-D3E9-0FE2-7C76-04F1BDC0CEFA}"/>
              </a:ext>
            </a:extLst>
          </p:cNvPr>
          <p:cNvSpPr/>
          <p:nvPr/>
        </p:nvSpPr>
        <p:spPr>
          <a:xfrm>
            <a:off x="937866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F8517EF7-A9CB-6060-9B5B-9284F8008B5A}"/>
              </a:ext>
            </a:extLst>
          </p:cNvPr>
          <p:cNvSpPr/>
          <p:nvPr/>
        </p:nvSpPr>
        <p:spPr>
          <a:xfrm>
            <a:off x="764815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CF12E7D5-8E67-5FD6-7DFB-40783541066C}"/>
              </a:ext>
            </a:extLst>
          </p:cNvPr>
          <p:cNvSpPr/>
          <p:nvPr/>
        </p:nvSpPr>
        <p:spPr>
          <a:xfrm>
            <a:off x="1435844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3523BD01-495C-0508-6528-37435F16CD29}"/>
              </a:ext>
            </a:extLst>
          </p:cNvPr>
          <p:cNvSpPr/>
          <p:nvPr/>
        </p:nvSpPr>
        <p:spPr>
          <a:xfrm>
            <a:off x="7648155" y="3216689"/>
            <a:ext cx="4502989" cy="2156604"/>
          </a:xfrm>
          <a:prstGeom prst="roundRect">
            <a:avLst>
              <a:gd name="adj" fmla="val 23232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97CAB214-D26D-6764-37C0-88A38712D8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922557" y="4131330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2" name="Рисунок 40">
            <a:extLst>
              <a:ext uri="{FF2B5EF4-FFF2-40B4-BE49-F238E27FC236}">
                <a16:creationId xmlns:a16="http://schemas.microsoft.com/office/drawing/2014/main" id="{4E271671-026B-BC66-8298-F846D467F5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557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3" name="Рисунок 40">
            <a:extLst>
              <a:ext uri="{FF2B5EF4-FFF2-40B4-BE49-F238E27FC236}">
                <a16:creationId xmlns:a16="http://schemas.microsoft.com/office/drawing/2014/main" id="{E8008964-7207-DFFA-6167-432E9AD5B6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557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40">
            <a:extLst>
              <a:ext uri="{FF2B5EF4-FFF2-40B4-BE49-F238E27FC236}">
                <a16:creationId xmlns:a16="http://schemas.microsoft.com/office/drawing/2014/main" id="{5E4B7693-F81F-64E5-BB12-AAC0176AB5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07432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40">
            <a:extLst>
              <a:ext uri="{FF2B5EF4-FFF2-40B4-BE49-F238E27FC236}">
                <a16:creationId xmlns:a16="http://schemas.microsoft.com/office/drawing/2014/main" id="{3985D896-4BC0-FE98-0455-E62069DEA7E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07432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40">
            <a:extLst>
              <a:ext uri="{FF2B5EF4-FFF2-40B4-BE49-F238E27FC236}">
                <a16:creationId xmlns:a16="http://schemas.microsoft.com/office/drawing/2014/main" id="{AF4B2BA9-A809-F832-C663-0BECDCD782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623395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40">
            <a:extLst>
              <a:ext uri="{FF2B5EF4-FFF2-40B4-BE49-F238E27FC236}">
                <a16:creationId xmlns:a16="http://schemas.microsoft.com/office/drawing/2014/main" id="{923EEA1F-8180-AACE-C114-19FA98CFD4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623395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F6424D5-BD53-B501-EFCF-A7094B14AA1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566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42" name="Рисунок 3">
            <a:extLst>
              <a:ext uri="{FF2B5EF4-FFF2-40B4-BE49-F238E27FC236}">
                <a16:creationId xmlns:a16="http://schemas.microsoft.com/office/drawing/2014/main" id="{7ADDD9D5-E467-DCAB-F59E-6F8A5FFA3F89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0084662" y="1392537"/>
            <a:ext cx="1332000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sz="24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Ф</a:t>
            </a:r>
            <a:r>
              <a:rPr lang="ru-RU" dirty="0"/>
              <a:t>ото</a:t>
            </a:r>
          </a:p>
        </p:txBody>
      </p:sp>
      <p:sp>
        <p:nvSpPr>
          <p:cNvPr id="43" name="Рисунок 4">
            <a:extLst>
              <a:ext uri="{FF2B5EF4-FFF2-40B4-BE49-F238E27FC236}">
                <a16:creationId xmlns:a16="http://schemas.microsoft.com/office/drawing/2014/main" id="{547DBDDA-3E5E-2E2A-CA25-69A84B4606A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512153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5">
            <a:extLst>
              <a:ext uri="{FF2B5EF4-FFF2-40B4-BE49-F238E27FC236}">
                <a16:creationId xmlns:a16="http://schemas.microsoft.com/office/drawing/2014/main" id="{68BEC38C-6C26-D162-9776-6CB9B0E4BD67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087409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30">
            <a:extLst>
              <a:ext uri="{FF2B5EF4-FFF2-40B4-BE49-F238E27FC236}">
                <a16:creationId xmlns:a16="http://schemas.microsoft.com/office/drawing/2014/main" id="{6C42DA80-BE83-D5E0-8D52-5405B0A37A2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591911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870F61A5-CF3B-2E6C-40A1-0A664B10706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45534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32">
            <a:extLst>
              <a:ext uri="{FF2B5EF4-FFF2-40B4-BE49-F238E27FC236}">
                <a16:creationId xmlns:a16="http://schemas.microsoft.com/office/drawing/2014/main" id="{4AC76CDA-79C5-A6DB-DBD5-E05F8652ABD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102130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8" name="Рисунок 33">
            <a:extLst>
              <a:ext uri="{FF2B5EF4-FFF2-40B4-BE49-F238E27FC236}">
                <a16:creationId xmlns:a16="http://schemas.microsoft.com/office/drawing/2014/main" id="{4FAB1FFA-D21B-3AC7-A1F0-371662B3291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5589437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9" name="Рисунок 34">
            <a:extLst>
              <a:ext uri="{FF2B5EF4-FFF2-40B4-BE49-F238E27FC236}">
                <a16:creationId xmlns:a16="http://schemas.microsoft.com/office/drawing/2014/main" id="{ABA1AF5F-8612-0C40-322D-391C28D2DD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46377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0" name="Рисунок 35">
            <a:extLst>
              <a:ext uri="{FF2B5EF4-FFF2-40B4-BE49-F238E27FC236}">
                <a16:creationId xmlns:a16="http://schemas.microsoft.com/office/drawing/2014/main" id="{2D939B1D-098B-DEB9-E778-BA6A389EACE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1021306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1" name="Рисунок 36">
            <a:extLst>
              <a:ext uri="{FF2B5EF4-FFF2-40B4-BE49-F238E27FC236}">
                <a16:creationId xmlns:a16="http://schemas.microsoft.com/office/drawing/2014/main" id="{02B9D7DE-05FA-09CF-FF40-CD53D77312E8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558854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2" name="Рисунок 37">
            <a:extLst>
              <a:ext uri="{FF2B5EF4-FFF2-40B4-BE49-F238E27FC236}">
                <a16:creationId xmlns:a16="http://schemas.microsoft.com/office/drawing/2014/main" id="{8054396C-013F-A853-A3BA-AA5324B50A69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46377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3" name="Рисунок 38">
            <a:extLst>
              <a:ext uri="{FF2B5EF4-FFF2-40B4-BE49-F238E27FC236}">
                <a16:creationId xmlns:a16="http://schemas.microsoft.com/office/drawing/2014/main" id="{A044A316-30D4-CB52-3155-96A21134363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1026533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4" name="Рисунок 39">
            <a:extLst>
              <a:ext uri="{FF2B5EF4-FFF2-40B4-BE49-F238E27FC236}">
                <a16:creationId xmlns:a16="http://schemas.microsoft.com/office/drawing/2014/main" id="{89AE198D-E9CE-6294-4035-0F86E63F6B9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559340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2F7E8D1-0C8D-E16D-7364-33B86D9E005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51339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rgbClr val="FFEE9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B84011A-5000-94AF-6126-2744109098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3869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ACEFA16-0A2C-CC3C-97F3-2BF76F5270A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331410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724B0A02-5030-1F59-1E9F-B3ECF5EEC6C4}"/>
              </a:ext>
            </a:extLst>
          </p:cNvPr>
          <p:cNvSpPr/>
          <p:nvPr userDrawn="1"/>
        </p:nvSpPr>
        <p:spPr>
          <a:xfrm>
            <a:off x="13175044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688013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40525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9A8E54B-CAB1-51F3-2D62-9BBAE2D25F7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67927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33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локов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920BB3-B504-FDE4-54A6-D08E9D591175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56291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35DBF272-939B-8648-6910-34827077F523}"/>
              </a:ext>
            </a:extLst>
          </p:cNvPr>
          <p:cNvSpPr/>
          <p:nvPr userDrawn="1"/>
        </p:nvSpPr>
        <p:spPr>
          <a:xfrm>
            <a:off x="13159266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7D1BFEE7-0825-0753-4E97-E04E80E683BC}"/>
              </a:ext>
            </a:extLst>
          </p:cNvPr>
          <p:cNvSpPr/>
          <p:nvPr userDrawn="1"/>
        </p:nvSpPr>
        <p:spPr>
          <a:xfrm>
            <a:off x="13159266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0F8788BB-1EFA-9E1C-ECD6-6E922EA133F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4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полнители с вырез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>
            <a:extLst>
              <a:ext uri="{FF2B5EF4-FFF2-40B4-BE49-F238E27FC236}">
                <a16:creationId xmlns:a16="http://schemas.microsoft.com/office/drawing/2014/main" id="{E3195EB8-BAA6-98A2-ED4A-761390F89227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14887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4" name="Рисунок 10">
            <a:extLst>
              <a:ext uri="{FF2B5EF4-FFF2-40B4-BE49-F238E27FC236}">
                <a16:creationId xmlns:a16="http://schemas.microsoft.com/office/drawing/2014/main" id="{1736C7D4-7D97-6FF3-B2A9-90EFA450F879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875010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82A0538B-EBA4-07B0-F30A-251A02B76DDF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3135133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2D17354B-548F-4A7B-2533-BB9F942475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74360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3">
            <a:extLst>
              <a:ext uri="{FF2B5EF4-FFF2-40B4-BE49-F238E27FC236}">
                <a16:creationId xmlns:a16="http://schemas.microsoft.com/office/drawing/2014/main" id="{01515A73-04C3-20AC-0CFB-39D743234689}"/>
              </a:ext>
            </a:extLst>
          </p:cNvPr>
          <p:cNvSpPr/>
          <p:nvPr/>
        </p:nvSpPr>
        <p:spPr>
          <a:xfrm>
            <a:off x="615403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DE8C40DE-1372-D837-6A2D-7DED59BAD1C0}"/>
              </a:ext>
            </a:extLst>
          </p:cNvPr>
          <p:cNvSpPr/>
          <p:nvPr userDrawn="1"/>
        </p:nvSpPr>
        <p:spPr>
          <a:xfrm>
            <a:off x="6890697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AC10503E-8046-7476-D9B2-778878EE1D11}"/>
              </a:ext>
            </a:extLst>
          </p:cNvPr>
          <p:cNvSpPr/>
          <p:nvPr userDrawn="1"/>
        </p:nvSpPr>
        <p:spPr>
          <a:xfrm>
            <a:off x="13165992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BE82D4E0-C7D9-F4C5-5F35-AEA5153AC6D4}"/>
              </a:ext>
            </a:extLst>
          </p:cNvPr>
          <p:cNvSpPr/>
          <p:nvPr userDrawn="1"/>
        </p:nvSpPr>
        <p:spPr>
          <a:xfrm>
            <a:off x="615403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FABD9EAD-22E6-5B1C-D342-6F9320852561}"/>
              </a:ext>
            </a:extLst>
          </p:cNvPr>
          <p:cNvSpPr/>
          <p:nvPr userDrawn="1"/>
        </p:nvSpPr>
        <p:spPr>
          <a:xfrm>
            <a:off x="6890697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F2FF0358-5E97-8E4F-7D36-C076A812679C}"/>
              </a:ext>
            </a:extLst>
          </p:cNvPr>
          <p:cNvSpPr/>
          <p:nvPr userDrawn="1"/>
        </p:nvSpPr>
        <p:spPr>
          <a:xfrm>
            <a:off x="13165992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ACB921E-34F4-B39F-CB56-695B4094A7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322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55B62F-4A6E-2A82-8A84-5903ADA9D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646767"/>
            <a:ext cx="4462572" cy="48206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351C10-78BB-5B20-4FF5-0DB0E767E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646767"/>
            <a:ext cx="4462572" cy="48206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2FB24B-11AB-60BA-2CC4-A900838138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5707498"/>
            <a:ext cx="4462572" cy="48206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0D87DE-52A9-9D4F-8F6F-A0E7DE0FD1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5707498"/>
            <a:ext cx="4462572" cy="482068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6BD939-3B26-76D5-C800-C54CAF8335E2}"/>
              </a:ext>
            </a:extLst>
          </p:cNvPr>
          <p:cNvSpPr/>
          <p:nvPr userDrawn="1"/>
        </p:nvSpPr>
        <p:spPr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BF3750D-2DFD-F99F-B82A-E3DC5B9FF4B2}"/>
              </a:ext>
            </a:extLst>
          </p:cNvPr>
          <p:cNvSpPr/>
          <p:nvPr userDrawn="1"/>
        </p:nvSpPr>
        <p:spPr>
          <a:xfrm>
            <a:off x="13574110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82D75B98-C8BD-7E80-EB35-404F3A4E5085}"/>
              </a:ext>
            </a:extLst>
          </p:cNvPr>
          <p:cNvSpPr/>
          <p:nvPr userDrawn="1"/>
        </p:nvSpPr>
        <p:spPr>
          <a:xfrm>
            <a:off x="18249627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B3A63ED-36B1-28D9-148F-2B61F8224B1E}"/>
              </a:ext>
            </a:extLst>
          </p:cNvPr>
          <p:cNvSpPr/>
          <p:nvPr userDrawn="1"/>
        </p:nvSpPr>
        <p:spPr>
          <a:xfrm>
            <a:off x="13574110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454C450-F9B0-9EAD-A161-CF618C3A67C7}"/>
              </a:ext>
            </a:extLst>
          </p:cNvPr>
          <p:cNvSpPr/>
          <p:nvPr userDrawn="1"/>
        </p:nvSpPr>
        <p:spPr>
          <a:xfrm>
            <a:off x="18249627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D1B6CA6C-26DC-2726-A85C-C4574E4DC18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1046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7209C-701D-EFF1-D053-EF206B5C7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52" y="62"/>
            <a:ext cx="19840004" cy="11160000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75CAD5DB-3636-72FD-E8CC-C6F5AF1416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8313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16979B78-5F90-43E6-DDA5-D62A47926D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68573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-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385ED10-9BB3-A085-119F-84355A318DF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10488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2 го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D4F7591-5947-6E56-E200-33ABEB45DD29}"/>
              </a:ext>
            </a:extLst>
          </p:cNvPr>
          <p:cNvSpPr/>
          <p:nvPr userDrawn="1"/>
        </p:nvSpPr>
        <p:spPr>
          <a:xfrm>
            <a:off x="611188" y="3167064"/>
            <a:ext cx="18576925" cy="7345362"/>
          </a:xfrm>
          <a:prstGeom prst="roundRect">
            <a:avLst>
              <a:gd name="adj" fmla="val 654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4C91BC5-2FEE-6EFE-0AB5-DC32049551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5626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2 плашк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2686D7D-2C5B-7C59-DE64-DB7826C86F4C}"/>
              </a:ext>
            </a:extLst>
          </p:cNvPr>
          <p:cNvSpPr/>
          <p:nvPr userDrawn="1"/>
        </p:nvSpPr>
        <p:spPr>
          <a:xfrm>
            <a:off x="611189" y="3167064"/>
            <a:ext cx="9180512" cy="7345362"/>
          </a:xfrm>
          <a:prstGeom prst="roundRect">
            <a:avLst>
              <a:gd name="adj" fmla="val 725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15A0197-1B36-BE20-0422-B841D0AD33C5}"/>
              </a:ext>
            </a:extLst>
          </p:cNvPr>
          <p:cNvSpPr/>
          <p:nvPr userDrawn="1"/>
        </p:nvSpPr>
        <p:spPr>
          <a:xfrm>
            <a:off x="10048487" y="3167064"/>
            <a:ext cx="9139624" cy="7345362"/>
          </a:xfrm>
          <a:prstGeom prst="roundRect">
            <a:avLst>
              <a:gd name="adj" fmla="val 701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DEE51519-DF49-690F-5A20-FF1251D62E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37873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orient="horz" pos="199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6024128-7667-9EE3-6AEF-FBE898BBBA29}"/>
              </a:ext>
            </a:extLst>
          </p:cNvPr>
          <p:cNvSpPr/>
          <p:nvPr userDrawn="1"/>
        </p:nvSpPr>
        <p:spPr>
          <a:xfrm>
            <a:off x="6893719" y="647700"/>
            <a:ext cx="12294394" cy="9864725"/>
          </a:xfrm>
          <a:prstGeom prst="roundRect">
            <a:avLst>
              <a:gd name="adj" fmla="val 502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32AD7565-3801-157D-ECCD-DA0A097572B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6011862" cy="9864725"/>
          </a:xfrm>
          <a:prstGeom prst="roundRect">
            <a:avLst>
              <a:gd name="adj" fmla="val 8632"/>
            </a:avLst>
          </a:prstGeom>
          <a:solidFill>
            <a:schemeClr val="accent6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CCA51760-F1E4-DA5E-F681-1C48225929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839106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106D8025-2673-9F76-9704-0B62B7C9F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188" y="2319229"/>
            <a:ext cx="18576925" cy="4845159"/>
          </a:xfrm>
          <a:prstGeom prst="roundRect">
            <a:avLst>
              <a:gd name="adj" fmla="val 10175"/>
            </a:avLst>
          </a:prstGeom>
          <a:solidFill>
            <a:srgbClr val="E0E1E3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D415FCC-F8A2-1C2F-AB16-D14F96D831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9839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6" orient="horz" pos="1451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6" name="Рисунок 5">
            <a:extLst>
              <a:ext uri="{FF2B5EF4-FFF2-40B4-BE49-F238E27FC236}">
                <a16:creationId xmlns:a16="http://schemas.microsoft.com/office/drawing/2014/main" id="{680A0F9C-C6DA-ED07-DC42-9B1392F55F9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59788" y="647700"/>
            <a:ext cx="10725699" cy="9864725"/>
          </a:xfrm>
          <a:prstGeom prst="roundRect">
            <a:avLst>
              <a:gd name="adj" fmla="val 548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74D0E89C-6459-1FB5-B952-0CABBE20CC35}"/>
              </a:ext>
            </a:extLst>
          </p:cNvPr>
          <p:cNvSpPr/>
          <p:nvPr userDrawn="1"/>
        </p:nvSpPr>
        <p:spPr>
          <a:xfrm>
            <a:off x="613813" y="652653"/>
            <a:ext cx="7593562" cy="9859772"/>
          </a:xfrm>
          <a:prstGeom prst="roundRect">
            <a:avLst>
              <a:gd name="adj" fmla="val 644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F108BE3-E3A8-7336-4912-8058FF96306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088783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161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6">
            <a:extLst>
              <a:ext uri="{FF2B5EF4-FFF2-40B4-BE49-F238E27FC236}">
                <a16:creationId xmlns:a16="http://schemas.microsoft.com/office/drawing/2014/main" id="{62235652-E410-14E7-3325-0B78EE2EEA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7596187" cy="6516688"/>
          </a:xfrm>
          <a:prstGeom prst="roundRect">
            <a:avLst>
              <a:gd name="adj" fmla="val 8943"/>
            </a:avLst>
          </a:prstGeom>
          <a:solidFill>
            <a:schemeClr val="accent5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19E53CE-B623-6004-1366-6FDE2EE962AF}"/>
              </a:ext>
            </a:extLst>
          </p:cNvPr>
          <p:cNvSpPr/>
          <p:nvPr userDrawn="1"/>
        </p:nvSpPr>
        <p:spPr>
          <a:xfrm>
            <a:off x="611188" y="7416800"/>
            <a:ext cx="7596187" cy="3095625"/>
          </a:xfrm>
          <a:prstGeom prst="roundRect">
            <a:avLst>
              <a:gd name="adj" fmla="val 1976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26B087EB-98BE-198C-78E9-848208EC6FF9}"/>
              </a:ext>
            </a:extLst>
          </p:cNvPr>
          <p:cNvSpPr/>
          <p:nvPr userDrawn="1"/>
        </p:nvSpPr>
        <p:spPr>
          <a:xfrm>
            <a:off x="8459788" y="647700"/>
            <a:ext cx="10725698" cy="9864725"/>
          </a:xfrm>
          <a:prstGeom prst="roundRect">
            <a:avLst>
              <a:gd name="adj" fmla="val 536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847AE31-56A8-C4CA-4584-F00061C3F0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5448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02" userDrawn="1">
          <p15:clr>
            <a:srgbClr val="FBAE40"/>
          </p15:clr>
        </p15:guide>
        <p15:guide id="2" pos="11611">
          <p15:clr>
            <a:srgbClr val="FBAE40"/>
          </p15:clr>
        </p15:guide>
        <p15:guide id="45" pos="573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FD35A26-9840-8880-8120-6C5FC4EAA5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9799300" cy="11160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В</a:t>
            </a:r>
            <a:r>
              <a:rPr lang="ru-RU" dirty="0"/>
              <a:t>ставка фото</a:t>
            </a:r>
          </a:p>
        </p:txBody>
      </p:sp>
    </p:spTree>
    <p:extLst>
      <p:ext uri="{BB962C8B-B14F-4D97-AF65-F5344CB8AC3E}">
        <p14:creationId xmlns:p14="http://schemas.microsoft.com/office/powerpoint/2010/main" val="8869638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2924A27-D394-98E3-CF54-68EDEDD5F64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343565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E37D892-9D21-89E3-C92D-1E02B16D5A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0256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0B4E9C-0298-57CE-4900-265B14F9D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9740" y="155779"/>
            <a:ext cx="5659820" cy="10603499"/>
          </a:xfrm>
          <a:prstGeom prst="rect">
            <a:avLst/>
          </a:prstGeom>
        </p:spPr>
      </p:pic>
      <p:sp>
        <p:nvSpPr>
          <p:cNvPr id="8" name="Рисунок 11">
            <a:extLst>
              <a:ext uri="{FF2B5EF4-FFF2-40B4-BE49-F238E27FC236}">
                <a16:creationId xmlns:a16="http://schemas.microsoft.com/office/drawing/2014/main" id="{5EFFCDDF-1F21-226F-65C3-03CF23E901E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721650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1265689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16ECE12F-E94E-5DF9-C802-07CB291461A7}"/>
              </a:ext>
            </a:extLst>
          </p:cNvPr>
          <p:cNvSpPr/>
          <p:nvPr userDrawn="1"/>
        </p:nvSpPr>
        <p:spPr>
          <a:xfrm>
            <a:off x="611188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Прямоугольник с двумя скругленными противолежащими углами 3">
            <a:extLst>
              <a:ext uri="{FF2B5EF4-FFF2-40B4-BE49-F238E27FC236}">
                <a16:creationId xmlns:a16="http://schemas.microsoft.com/office/drawing/2014/main" id="{177F3DFA-214B-31F0-477D-973A9FB2B4D2}"/>
              </a:ext>
            </a:extLst>
          </p:cNvPr>
          <p:cNvSpPr/>
          <p:nvPr userDrawn="1"/>
        </p:nvSpPr>
        <p:spPr>
          <a:xfrm>
            <a:off x="611188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16E0473F-DC3B-EB5F-D6CB-70E3142AA8D0}"/>
              </a:ext>
            </a:extLst>
          </p:cNvPr>
          <p:cNvSpPr/>
          <p:nvPr userDrawn="1"/>
        </p:nvSpPr>
        <p:spPr>
          <a:xfrm>
            <a:off x="6881359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E0A1433B-30EB-EFDC-0992-2C3BB276A930}"/>
              </a:ext>
            </a:extLst>
          </p:cNvPr>
          <p:cNvSpPr/>
          <p:nvPr userDrawn="1"/>
        </p:nvSpPr>
        <p:spPr>
          <a:xfrm>
            <a:off x="6881359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Прямоугольник с двумя скругленными противолежащими углами 6">
            <a:extLst>
              <a:ext uri="{FF2B5EF4-FFF2-40B4-BE49-F238E27FC236}">
                <a16:creationId xmlns:a16="http://schemas.microsoft.com/office/drawing/2014/main" id="{32F60909-E504-EC34-C0C7-D5EE3AE8BB78}"/>
              </a:ext>
            </a:extLst>
          </p:cNvPr>
          <p:cNvSpPr/>
          <p:nvPr userDrawn="1"/>
        </p:nvSpPr>
        <p:spPr>
          <a:xfrm>
            <a:off x="13170192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Прямоугольник с двумя скругленными противолежащими углами 7">
            <a:extLst>
              <a:ext uri="{FF2B5EF4-FFF2-40B4-BE49-F238E27FC236}">
                <a16:creationId xmlns:a16="http://schemas.microsoft.com/office/drawing/2014/main" id="{88323E56-13FA-8C59-3760-10F1E812EC2A}"/>
              </a:ext>
            </a:extLst>
          </p:cNvPr>
          <p:cNvSpPr/>
          <p:nvPr userDrawn="1"/>
        </p:nvSpPr>
        <p:spPr>
          <a:xfrm>
            <a:off x="13170192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BC41D6-7FF2-E141-BD24-D68D3A216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4459" y="3785793"/>
            <a:ext cx="3626535" cy="5323282"/>
          </a:xfrm>
          <a:prstGeom prst="rect">
            <a:avLst/>
          </a:prstGeom>
        </p:spPr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445A317-693C-BA35-F9FD-0B38D53916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26273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4F36A5-A931-90F9-DC15-681991E82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075" y="3785793"/>
            <a:ext cx="3626535" cy="5323282"/>
          </a:xfrm>
          <a:prstGeom prst="rect">
            <a:avLst/>
          </a:prstGeom>
        </p:spPr>
      </p:pic>
      <p:sp>
        <p:nvSpPr>
          <p:cNvPr id="12" name="Рисунок 9">
            <a:extLst>
              <a:ext uri="{FF2B5EF4-FFF2-40B4-BE49-F238E27FC236}">
                <a16:creationId xmlns:a16="http://schemas.microsoft.com/office/drawing/2014/main" id="{53343718-A296-C12B-FA60-5A585FE120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437889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6E59DDE-998C-8E98-753D-CF60D7FFD4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19838" y="3785793"/>
            <a:ext cx="3626535" cy="5323282"/>
          </a:xfrm>
          <a:prstGeom prst="rect">
            <a:avLst/>
          </a:prstGeom>
        </p:spPr>
      </p:pic>
      <p:sp>
        <p:nvSpPr>
          <p:cNvPr id="14" name="Рисунок 9">
            <a:extLst>
              <a:ext uri="{FF2B5EF4-FFF2-40B4-BE49-F238E27FC236}">
                <a16:creationId xmlns:a16="http://schemas.microsoft.com/office/drawing/2014/main" id="{F525E12E-69F5-046C-095E-1760440BDA8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662391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2D44E80A-C031-2044-8ECC-DF913BC174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38716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компьют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FD5FB0-9A81-3A7C-DAA4-91299088F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00" y="-118551"/>
            <a:ext cx="13169900" cy="11703072"/>
          </a:xfrm>
          <a:prstGeom prst="rect">
            <a:avLst/>
          </a:prstGeom>
        </p:spPr>
      </p:pic>
      <p:sp>
        <p:nvSpPr>
          <p:cNvPr id="9" name="Рисунок 18">
            <a:extLst>
              <a:ext uri="{FF2B5EF4-FFF2-40B4-BE49-F238E27FC236}">
                <a16:creationId xmlns:a16="http://schemas.microsoft.com/office/drawing/2014/main" id="{E85B5318-DE9B-9E64-A615-755452FB57B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81569" y="1274243"/>
            <a:ext cx="11229161" cy="7650999"/>
          </a:xfrm>
          <a:custGeom>
            <a:avLst/>
            <a:gdLst>
              <a:gd name="connsiteX0" fmla="*/ 208174 w 9461500"/>
              <a:gd name="connsiteY0" fmla="*/ 0 h 6446602"/>
              <a:gd name="connsiteX1" fmla="*/ 9461500 w 9461500"/>
              <a:gd name="connsiteY1" fmla="*/ 0 h 6446602"/>
              <a:gd name="connsiteX2" fmla="*/ 9461500 w 9461500"/>
              <a:gd name="connsiteY2" fmla="*/ 6446602 h 6446602"/>
              <a:gd name="connsiteX3" fmla="*/ 0 w 9461500"/>
              <a:gd name="connsiteY3" fmla="*/ 6446602 h 6446602"/>
              <a:gd name="connsiteX4" fmla="*/ 0 w 9461500"/>
              <a:gd name="connsiteY4" fmla="*/ 208291 h 6446602"/>
              <a:gd name="connsiteX5" fmla="*/ 208174 w 9461500"/>
              <a:gd name="connsiteY5" fmla="*/ 0 h 644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61500" h="6446602">
                <a:moveTo>
                  <a:pt x="208174" y="0"/>
                </a:moveTo>
                <a:lnTo>
                  <a:pt x="9461500" y="0"/>
                </a:lnTo>
                <a:lnTo>
                  <a:pt x="9461500" y="6446602"/>
                </a:lnTo>
                <a:lnTo>
                  <a:pt x="0" y="6446602"/>
                </a:lnTo>
                <a:lnTo>
                  <a:pt x="0" y="208291"/>
                </a:lnTo>
                <a:cubicBezTo>
                  <a:pt x="0" y="93255"/>
                  <a:pt x="93203" y="0"/>
                  <a:pt x="20817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B433A600-8A53-F440-CF3F-CC91E1C6FAE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0401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qr код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5706C0-6A13-4923-6574-EDE169364610}"/>
              </a:ext>
            </a:extLst>
          </p:cNvPr>
          <p:cNvSpPr/>
          <p:nvPr userDrawn="1"/>
        </p:nvSpPr>
        <p:spPr>
          <a:xfrm>
            <a:off x="10557164" y="1842655"/>
            <a:ext cx="7495309" cy="7481454"/>
          </a:xfrm>
          <a:prstGeom prst="roundRect">
            <a:avLst>
              <a:gd name="adj" fmla="val 814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A53F8555-2432-3EC8-BA86-230CA1B7571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44143" y="2722707"/>
            <a:ext cx="5721350" cy="5721350"/>
          </a:xfrm>
          <a:prstGeom prst="rect">
            <a:avLst/>
          </a:prstGeom>
          <a:solidFill>
            <a:schemeClr val="accent5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Место для </a:t>
            </a:r>
            <a:r>
              <a:rPr lang="ru-RU" dirty="0" err="1"/>
              <a:t>Q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FF5EF554-4206-B400-460C-2445949829A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2962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66C56D-6598-4535-7307-3F3BBAC1A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9312" y="5134647"/>
            <a:ext cx="6040677" cy="89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66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44" orient="horz" pos="616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353CD5-1AE7-9078-EC33-FEC734B296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1665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99E0437-D66B-F092-7B3D-AE4F22893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574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2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420B71-BE2A-77F8-6142-EABEC8324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10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D6ABF4-FA5E-C290-265D-F03687E871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87019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3">
    <p:bg>
      <p:bg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51D5F1-2AF4-9D4F-5EDA-3B14ECB84BB3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936FF7C-912E-C469-CC6F-F4D6C411C6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281306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27BB1A-232A-915D-0822-9E971DAD31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3F4BB79-CBF9-9F96-D712-095F36FD85C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945998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C0AF5F-F272-25C3-6AE1-16E696AAA311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DE8B3DF-6BA0-8D54-AF33-0EE7727168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93709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63B56008-A337-B822-0430-FAE6377E5C0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45" r:id="rId2"/>
    <p:sldLayoutId id="2147483854" r:id="rId3"/>
    <p:sldLayoutId id="2147483782" r:id="rId4"/>
    <p:sldLayoutId id="2147483837" r:id="rId5"/>
    <p:sldLayoutId id="2147483776" r:id="rId6"/>
    <p:sldLayoutId id="2147483836" r:id="rId7"/>
    <p:sldLayoutId id="2147483789" r:id="rId8"/>
    <p:sldLayoutId id="2147483799" r:id="rId9"/>
    <p:sldLayoutId id="2147483769" r:id="rId10"/>
    <p:sldLayoutId id="2147483784" r:id="rId11"/>
    <p:sldLayoutId id="2147483786" r:id="rId12"/>
    <p:sldLayoutId id="2147483772" r:id="rId13"/>
    <p:sldLayoutId id="2147483785" r:id="rId14"/>
    <p:sldLayoutId id="2147483859" r:id="rId15"/>
    <p:sldLayoutId id="2147483860" r:id="rId16"/>
    <p:sldLayoutId id="2147483783" r:id="rId17"/>
    <p:sldLayoutId id="2147483852" r:id="rId18"/>
    <p:sldLayoutId id="2147483820" r:id="rId19"/>
    <p:sldLayoutId id="2147483777" r:id="rId20"/>
    <p:sldLayoutId id="2147483823" r:id="rId21"/>
    <p:sldLayoutId id="2147483813" r:id="rId22"/>
    <p:sldLayoutId id="2147483814" r:id="rId23"/>
    <p:sldLayoutId id="2147483787" r:id="rId24"/>
    <p:sldLayoutId id="2147483846" r:id="rId25"/>
    <p:sldLayoutId id="2147483790" r:id="rId26"/>
    <p:sldLayoutId id="2147483791" r:id="rId27"/>
    <p:sldLayoutId id="2147483849" r:id="rId28"/>
    <p:sldLayoutId id="2147483792" r:id="rId29"/>
    <p:sldLayoutId id="2147483839" r:id="rId30"/>
    <p:sldLayoutId id="2147483840" r:id="rId31"/>
    <p:sldLayoutId id="2147483810" r:id="rId32"/>
    <p:sldLayoutId id="2147483829" r:id="rId33"/>
    <p:sldLayoutId id="2147483830" r:id="rId34"/>
    <p:sldLayoutId id="2147483831" r:id="rId35"/>
    <p:sldLayoutId id="2147483838" r:id="rId36"/>
    <p:sldLayoutId id="2147483800" r:id="rId37"/>
    <p:sldLayoutId id="2147483825" r:id="rId38"/>
    <p:sldLayoutId id="2147483826" r:id="rId39"/>
    <p:sldLayoutId id="2147483828" r:id="rId40"/>
    <p:sldLayoutId id="2147483801" r:id="rId41"/>
    <p:sldLayoutId id="2147483802" r:id="rId42"/>
    <p:sldLayoutId id="2147483858" r:id="rId43"/>
    <p:sldLayoutId id="2147483851" r:id="rId44"/>
    <p:sldLayoutId id="2147483809" r:id="rId45"/>
    <p:sldLayoutId id="2147483841" r:id="rId46"/>
    <p:sldLayoutId id="2147483847" r:id="rId47"/>
    <p:sldLayoutId id="2147483863" r:id="rId48"/>
    <p:sldLayoutId id="2147483834" r:id="rId49"/>
    <p:sldLayoutId id="2147483832" r:id="rId50"/>
    <p:sldLayoutId id="2147483835" r:id="rId51"/>
    <p:sldLayoutId id="2147483833" r:id="rId52"/>
    <p:sldLayoutId id="2147483843" r:id="rId53"/>
  </p:sldLayoutIdLst>
  <p:transition spd="med"/>
  <p:hf hdr="0" ftr="0" dt="0"/>
  <p:txStyles>
    <p:titleStyle>
      <a:lvl1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titleStyle>
    <p:bodyStyle>
      <a:lvl1pPr marL="0" marR="0" indent="0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None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708566" marR="0" indent="-438064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1417132" marR="0" indent="-517712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2125697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3560341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4303145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5045952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5788754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6531561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bodyStyle>
    <p:otherStyle>
      <a:lvl1pPr marL="0" marR="0" indent="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1pPr>
      <a:lvl2pPr marL="0" marR="0" indent="44993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2pPr>
      <a:lvl3pPr marL="0" marR="0" indent="89988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3pPr>
      <a:lvl4pPr marL="0" marR="0" indent="1349818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4pPr>
      <a:lvl5pPr marL="0" marR="0" indent="179975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5pPr>
      <a:lvl6pPr marL="0" marR="0" indent="224969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6pPr>
      <a:lvl7pPr marL="0" marR="0" indent="269963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7pPr>
      <a:lvl8pPr marL="0" marR="0" indent="314957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8pPr>
      <a:lvl9pPr marL="0" marR="0" indent="359951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9pPr>
    </p:otherStyle>
  </p:txStyles>
  <p:extLst>
    <p:ext uri="{27BBF7A9-308A-43DC-89C8-2F10F3537804}">
      <p15:sldGuideLst xmlns:p15="http://schemas.microsoft.com/office/powerpoint/2012/main">
        <p15:guide id="1" pos="385" userDrawn="1">
          <p15:clr>
            <a:srgbClr val="F26B43"/>
          </p15:clr>
        </p15:guide>
        <p15:guide id="2" orient="horz" pos="408" userDrawn="1">
          <p15:clr>
            <a:srgbClr val="F26B43"/>
          </p15:clr>
        </p15:guide>
        <p15:guide id="3" pos="12087" userDrawn="1">
          <p15:clr>
            <a:srgbClr val="F26B43"/>
          </p15:clr>
        </p15:guide>
        <p15:guide id="4" orient="horz" pos="66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15313" y="4250721"/>
            <a:ext cx="10972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600" b="1" dirty="0">
                <a:solidFill>
                  <a:srgbClr val="0A0A0A"/>
                </a:solidFill>
                <a:latin typeface="T-Sans"/>
                <a:ea typeface="T-Sans" pitchFamily="2" charset="0"/>
              </a:rPr>
              <a:t>(Не)блокирующее взаимодействие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11312" y="6441124"/>
            <a:ext cx="82080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-Sans" pitchFamily="2" charset="0"/>
                <a:ea typeface="T-Sans" pitchFamily="2" charset="0"/>
              </a:rPr>
              <a:t>Сетевое взаимодействие: от блокирующего клиента к событийному вводу-выводу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55DE2C4-35F6-8C4D-B91D-924FBBFD2B8F}"/>
              </a:ext>
            </a:extLst>
          </p:cNvPr>
          <p:cNvGrpSpPr/>
          <p:nvPr/>
        </p:nvGrpSpPr>
        <p:grpSpPr>
          <a:xfrm>
            <a:off x="8211312" y="8783778"/>
            <a:ext cx="612776" cy="612776"/>
            <a:chOff x="6884958" y="8711671"/>
            <a:chExt cx="921394" cy="921394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78E7EA02-44CE-2ABC-35A3-219AA4555040}"/>
                </a:ext>
              </a:extLst>
            </p:cNvPr>
            <p:cNvSpPr/>
            <p:nvPr/>
          </p:nvSpPr>
          <p:spPr>
            <a:xfrm>
              <a:off x="6884958" y="8711671"/>
              <a:ext cx="921394" cy="921394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4AC7CB32-9B69-7078-94B9-BC913DD96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21611" y="8948324"/>
              <a:ext cx="448089" cy="44808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172D3CE-B46B-70A8-D436-3F23C015C980}"/>
              </a:ext>
            </a:extLst>
          </p:cNvPr>
          <p:cNvSpPr txBox="1"/>
          <p:nvPr/>
        </p:nvSpPr>
        <p:spPr>
          <a:xfrm>
            <a:off x="9046660" y="8943027"/>
            <a:ext cx="1012900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400"/>
              </a:lnSpc>
              <a:defRPr sz="2400">
                <a:solidFill>
                  <a:schemeClr val="accent6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Хасанов Анвар | Ведущий разработчик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215C97-89F0-8726-9B74-20C91248E24D}"/>
              </a:ext>
            </a:extLst>
          </p:cNvPr>
          <p:cNvSpPr txBox="1"/>
          <p:nvPr/>
        </p:nvSpPr>
        <p:spPr>
          <a:xfrm>
            <a:off x="1366838" y="1281545"/>
            <a:ext cx="5935475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9400"/>
              </a:lnSpc>
              <a:defRPr sz="8800" b="1">
                <a:solidFill>
                  <a:schemeClr val="accent6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ru-RU" sz="60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План семинара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9F034E-A4C6-7F11-4102-9F92DDB39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8566" y="4455977"/>
            <a:ext cx="720000" cy="72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77DA60-DE8D-9857-D423-7CEAD2E0826D}"/>
              </a:ext>
            </a:extLst>
          </p:cNvPr>
          <p:cNvSpPr txBox="1"/>
          <p:nvPr/>
        </p:nvSpPr>
        <p:spPr>
          <a:xfrm>
            <a:off x="2274326" y="2524454"/>
            <a:ext cx="6082863" cy="1935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Перестанем существовать в сферическом вакууме и потихоньку начнём взаимодействовать с внешним миром (пока что только по сети)!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8B5016-6544-D4A3-E45C-B132B4619EFB}"/>
              </a:ext>
            </a:extLst>
          </p:cNvPr>
          <p:cNvSpPr txBox="1"/>
          <p:nvPr/>
        </p:nvSpPr>
        <p:spPr>
          <a:xfrm>
            <a:off x="2274326" y="4579374"/>
            <a:ext cx="6082863" cy="1447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Посмотрим, как сетевое взаимодействие было устроено раньше и какие проблемы порождает такой подход.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0049181-FE17-E34C-3DB1-22CDF715B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8566" y="2401057"/>
            <a:ext cx="720000" cy="720000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CEC6BBCA-AFFC-1FCD-904C-9C83D81E63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1FA0B44-C9E0-D08B-A2C5-C053481BDF6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79860" y="647700"/>
            <a:ext cx="10619440" cy="9864725"/>
          </a:xfrm>
        </p:spPr>
      </p:pic>
      <p:pic>
        <p:nvPicPr>
          <p:cNvPr id="2" name="Рисунок 7">
            <a:extLst>
              <a:ext uri="{FF2B5EF4-FFF2-40B4-BE49-F238E27FC236}">
                <a16:creationId xmlns:a16="http://schemas.microsoft.com/office/drawing/2014/main" id="{542E17DF-99E6-EC8B-9AB5-A849E847E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8566" y="6146981"/>
            <a:ext cx="720000" cy="72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6B5EB9-E049-BFE7-2773-D2CFE667A337}"/>
              </a:ext>
            </a:extLst>
          </p:cNvPr>
          <p:cNvSpPr txBox="1"/>
          <p:nvPr/>
        </p:nvSpPr>
        <p:spPr>
          <a:xfrm>
            <a:off x="2274326" y="6270378"/>
            <a:ext cx="6082863" cy="9605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Реализуем «светлое будущее / настоящее» с помощью паттерна Reactor!</a:t>
            </a:r>
          </a:p>
        </p:txBody>
      </p:sp>
    </p:spTree>
    <p:extLst>
      <p:ext uri="{BB962C8B-B14F-4D97-AF65-F5344CB8AC3E}">
        <p14:creationId xmlns:p14="http://schemas.microsoft.com/office/powerpoint/2010/main" val="35779932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3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001" name="Title"/>
          <p:cNvSpPr txBox="1"/>
          <p:nvPr/>
        </p:nvSpPr>
        <p:spPr>
          <a:xfrm>
            <a:off x="611188" y="700000"/>
            <a:ext cx="6488924" cy="1451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Сегодня только сеть!</a:t>
            </a:r>
          </a:p>
        </p:txBody>
      </p:sp>
      <p:pic>
        <p:nvPicPr>
          <p:cNvPr id="1002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761600"/>
            <a:ext cx="612000" cy="612000"/>
          </a:xfrm>
          <a:prstGeom prst="rect">
            <a:avLst/>
          </a:prstGeom>
        </p:spPr>
      </p:pic>
      <p:sp>
        <p:nvSpPr>
          <p:cNvPr id="1003" name="Text"/>
          <p:cNvSpPr txBox="1"/>
          <p:nvPr/>
        </p:nvSpPr>
        <p:spPr>
          <a:xfrm>
            <a:off x="1481188" y="2760537"/>
            <a:ext cx="5618924" cy="13018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Сегодня речь пойдёт только о </a:t>
            </a:r>
            <a:r>
              <a:rPr lang="ru-RU" sz="2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клиентской составляющей</a:t>
            </a: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будем ходить в T‑Invest API!</a:t>
            </a:r>
          </a:p>
        </p:txBody>
      </p:sp>
      <p:pic>
        <p:nvPicPr>
          <p:cNvPr id="1004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4541993"/>
            <a:ext cx="612000" cy="612000"/>
          </a:xfrm>
          <a:prstGeom prst="rect">
            <a:avLst/>
          </a:prstGeom>
        </p:spPr>
      </p:pic>
      <p:sp>
        <p:nvSpPr>
          <p:cNvPr id="1005" name="Text"/>
          <p:cNvSpPr txBox="1"/>
          <p:nvPr/>
        </p:nvSpPr>
        <p:spPr>
          <a:xfrm>
            <a:off x="1481188" y="4581993"/>
            <a:ext cx="5618924" cy="1722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Почему?</a:t>
            </a: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Потому что чаще всего мы общаемся с внешним миром </a:t>
            </a:r>
            <a:r>
              <a:rPr lang="ru-RU" sz="2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по сети</a:t>
            </a: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внешние API, базы данных, брокеры сообщений и т. д.</a:t>
            </a:r>
          </a:p>
        </p:txBody>
      </p:sp>
      <p:pic>
        <p:nvPicPr>
          <p:cNvPr id="1006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6824072"/>
            <a:ext cx="612000" cy="612000"/>
          </a:xfrm>
          <a:prstGeom prst="rect">
            <a:avLst/>
          </a:prstGeom>
        </p:spPr>
      </p:pic>
      <p:sp>
        <p:nvSpPr>
          <p:cNvPr id="1007" name="Text"/>
          <p:cNvSpPr txBox="1"/>
          <p:nvPr/>
        </p:nvSpPr>
        <p:spPr>
          <a:xfrm>
            <a:off x="1481188" y="6864072"/>
            <a:ext cx="5618924" cy="1722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Любое обращение - это ожидание: пока ответ в пути, код ничего не делает. Как бы нам этого избежать?</a:t>
            </a:r>
          </a:p>
        </p:txBody>
      </p:sp>
      <p:pic>
        <p:nvPicPr>
          <p:cNvPr id="1008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8534151"/>
            <a:ext cx="612000" cy="612000"/>
          </a:xfrm>
          <a:prstGeom prst="rect">
            <a:avLst/>
          </a:prstGeom>
        </p:spPr>
      </p:pic>
      <p:sp>
        <p:nvSpPr>
          <p:cNvPr id="1009" name="Text"/>
          <p:cNvSpPr txBox="1"/>
          <p:nvPr/>
        </p:nvSpPr>
        <p:spPr>
          <a:xfrm>
            <a:off x="1481188" y="8574151"/>
            <a:ext cx="5618924" cy="13018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Так мы заложим фундамент к семинарам про многопоточность и клиент-серверное взаимодействие.</a:t>
            </a:r>
          </a:p>
        </p:txBody>
      </p:sp>
      <p:sp>
        <p:nvSpPr>
          <p:cNvPr id="1010" name="Box"/>
          <p:cNvSpPr/>
          <p:nvPr/>
        </p:nvSpPr>
        <p:spPr>
          <a:xfrm>
            <a:off x="8214112" y="4410696"/>
            <a:ext cx="3400000" cy="22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11" name="Text"/>
          <p:cNvSpPr txBox="1"/>
          <p:nvPr/>
        </p:nvSpPr>
        <p:spPr>
          <a:xfrm>
            <a:off x="8214112" y="4410696"/>
            <a:ext cx="3400000" cy="22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3300" b="1" dirty="0">
                <a:solidFill>
                  <a:srgbClr val="333333"/>
                </a:solidFill>
                <a:latin typeface="T-Sans"/>
                <a:ea typeface="T-Sans"/>
              </a:rPr>
              <a:t>Наше</a:t>
            </a:r>
          </a:p>
          <a:p>
            <a:pPr algn="ctr">
              <a:lnSpc>
                <a:spcPct val="120000"/>
              </a:lnSpc>
            </a:pPr>
            <a:r>
              <a:rPr lang="ru-RU" sz="3300" b="1" dirty="0">
                <a:solidFill>
                  <a:srgbClr val="333333"/>
                </a:solidFill>
                <a:latin typeface="T-Sans"/>
                <a:ea typeface="T-Sans"/>
              </a:rPr>
              <a:t>приложение</a:t>
            </a:r>
          </a:p>
        </p:txBody>
      </p:sp>
      <p:sp>
        <p:nvSpPr>
          <p:cNvPr id="1012" name="Box"/>
          <p:cNvSpPr/>
          <p:nvPr/>
        </p:nvSpPr>
        <p:spPr>
          <a:xfrm>
            <a:off x="14414112" y="1510537"/>
            <a:ext cx="4300000" cy="125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13" name="Text"/>
          <p:cNvSpPr txBox="1"/>
          <p:nvPr/>
        </p:nvSpPr>
        <p:spPr>
          <a:xfrm>
            <a:off x="14414112" y="1510537"/>
            <a:ext cx="4300000" cy="1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3300" b="1" dirty="0">
                <a:solidFill>
                  <a:srgbClr val="333333"/>
                </a:solidFill>
                <a:latin typeface="T-Sans"/>
                <a:ea typeface="T-Sans"/>
              </a:rPr>
              <a:t>T-Invest API</a:t>
            </a:r>
          </a:p>
        </p:txBody>
      </p:sp>
      <p:cxnSp>
        <p:nvCxnSpPr>
          <p:cNvPr id="1014" name="Arrow"/>
          <p:cNvCxnSpPr/>
          <p:nvPr/>
        </p:nvCxnSpPr>
        <p:spPr>
          <a:xfrm flipV="1">
            <a:off x="11614112" y="2135537"/>
            <a:ext cx="2800000" cy="3375159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015" name="Box"/>
          <p:cNvSpPr/>
          <p:nvPr/>
        </p:nvSpPr>
        <p:spPr>
          <a:xfrm>
            <a:off x="14414112" y="3760643"/>
            <a:ext cx="4300000" cy="125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16" name="Text"/>
          <p:cNvSpPr txBox="1"/>
          <p:nvPr/>
        </p:nvSpPr>
        <p:spPr>
          <a:xfrm>
            <a:off x="14414112" y="3760643"/>
            <a:ext cx="4300000" cy="1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3300" b="1" dirty="0">
                <a:solidFill>
                  <a:srgbClr val="333333"/>
                </a:solidFill>
                <a:latin typeface="T-Sans"/>
                <a:ea typeface="T-Sans"/>
              </a:rPr>
              <a:t>База данных</a:t>
            </a:r>
          </a:p>
        </p:txBody>
      </p:sp>
      <p:cxnSp>
        <p:nvCxnSpPr>
          <p:cNvPr id="1017" name="Arrow"/>
          <p:cNvCxnSpPr/>
          <p:nvPr/>
        </p:nvCxnSpPr>
        <p:spPr>
          <a:xfrm flipV="1">
            <a:off x="11614112" y="4385643"/>
            <a:ext cx="2800000" cy="1125053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018" name="Box"/>
          <p:cNvSpPr/>
          <p:nvPr/>
        </p:nvSpPr>
        <p:spPr>
          <a:xfrm>
            <a:off x="14414112" y="6010749"/>
            <a:ext cx="4300000" cy="125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19" name="Text"/>
          <p:cNvSpPr txBox="1"/>
          <p:nvPr/>
        </p:nvSpPr>
        <p:spPr>
          <a:xfrm>
            <a:off x="14414112" y="6010749"/>
            <a:ext cx="4300000" cy="1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3300" b="1" dirty="0">
                <a:solidFill>
                  <a:srgbClr val="333333"/>
                </a:solidFill>
                <a:latin typeface="T-Sans"/>
                <a:ea typeface="T-Sans"/>
              </a:rPr>
              <a:t>Брокер сообщений</a:t>
            </a:r>
          </a:p>
        </p:txBody>
      </p:sp>
      <p:cxnSp>
        <p:nvCxnSpPr>
          <p:cNvPr id="1020" name="Arrow"/>
          <p:cNvCxnSpPr/>
          <p:nvPr/>
        </p:nvCxnSpPr>
        <p:spPr>
          <a:xfrm>
            <a:off x="11614112" y="5510696"/>
            <a:ext cx="2800000" cy="1125053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021" name="Box"/>
          <p:cNvSpPr/>
          <p:nvPr/>
        </p:nvSpPr>
        <p:spPr>
          <a:xfrm>
            <a:off x="14414112" y="8260855"/>
            <a:ext cx="4300000" cy="125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22" name="Text"/>
          <p:cNvSpPr txBox="1"/>
          <p:nvPr/>
        </p:nvSpPr>
        <p:spPr>
          <a:xfrm>
            <a:off x="14414112" y="8260855"/>
            <a:ext cx="4300000" cy="1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3300" b="1" dirty="0">
                <a:solidFill>
                  <a:srgbClr val="333333"/>
                </a:solidFill>
                <a:latin typeface="T-Sans"/>
                <a:ea typeface="T-Sans"/>
              </a:rPr>
              <a:t>Другой сервис</a:t>
            </a:r>
          </a:p>
        </p:txBody>
      </p:sp>
      <p:cxnSp>
        <p:nvCxnSpPr>
          <p:cNvPr id="1023" name="Arrow"/>
          <p:cNvCxnSpPr/>
          <p:nvPr/>
        </p:nvCxnSpPr>
        <p:spPr>
          <a:xfrm>
            <a:off x="11614112" y="5510696"/>
            <a:ext cx="2800000" cy="3375159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024" name="Text"/>
          <p:cNvSpPr txBox="1"/>
          <p:nvPr/>
        </p:nvSpPr>
        <p:spPr>
          <a:xfrm>
            <a:off x="8214112" y="10002640"/>
            <a:ext cx="10500000" cy="4223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Везде одно и то же: отправили запрос и ждём ответа</a:t>
            </a:r>
          </a:p>
        </p:txBody>
      </p:sp>
    </p:spTree>
    <p:extLst>
      <p:ext uri="{BB962C8B-B14F-4D97-AF65-F5344CB8AC3E}">
        <p14:creationId xmlns:p14="http://schemas.microsoft.com/office/powerpoint/2010/main" val="2225970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4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1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Базовая реализация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366838" y="2391734"/>
            <a:ext cx="14543323" cy="503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HttpURLConnection: одно соединение - один поток</a:t>
            </a:r>
          </a:p>
        </p:txBody>
      </p:sp>
    </p:spTree>
    <p:extLst>
      <p:ext uri="{BB962C8B-B14F-4D97-AF65-F5344CB8AC3E}">
        <p14:creationId xmlns:p14="http://schemas.microsoft.com/office/powerpoint/2010/main" val="52874014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5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025" name="Title"/>
          <p:cNvSpPr txBox="1"/>
          <p:nvPr/>
        </p:nvSpPr>
        <p:spPr>
          <a:xfrm>
            <a:off x="611188" y="700000"/>
            <a:ext cx="6488924" cy="1451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«Блокирующий» клиент</a:t>
            </a:r>
          </a:p>
        </p:txBody>
      </p:sp>
      <p:pic>
        <p:nvPicPr>
          <p:cNvPr id="1026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761600"/>
            <a:ext cx="612000" cy="612000"/>
          </a:xfrm>
          <a:prstGeom prst="rect">
            <a:avLst/>
          </a:prstGeom>
        </p:spPr>
      </p:pic>
      <p:sp>
        <p:nvSpPr>
          <p:cNvPr id="1027" name="Text"/>
          <p:cNvSpPr txBox="1"/>
          <p:nvPr/>
        </p:nvSpPr>
        <p:spPr>
          <a:xfrm>
            <a:off x="1481188" y="2801600"/>
            <a:ext cx="5618924" cy="129002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Один запрос – одно соединение – один поток!</a:t>
            </a:r>
          </a:p>
        </p:txBody>
      </p:sp>
      <p:pic>
        <p:nvPicPr>
          <p:cNvPr id="1028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4320867"/>
            <a:ext cx="612000" cy="612000"/>
          </a:xfrm>
          <a:prstGeom prst="rect">
            <a:avLst/>
          </a:prstGeom>
        </p:spPr>
      </p:pic>
      <p:sp>
        <p:nvSpPr>
          <p:cNvPr id="1029" name="Text"/>
          <p:cNvSpPr txBox="1"/>
          <p:nvPr/>
        </p:nvSpPr>
        <p:spPr>
          <a:xfrm>
            <a:off x="1481188" y="4360867"/>
            <a:ext cx="5618924" cy="129002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Сборка и отправка запроса: поток работает.</a:t>
            </a:r>
          </a:p>
        </p:txBody>
      </p:sp>
      <p:pic>
        <p:nvPicPr>
          <p:cNvPr id="1030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5920134"/>
            <a:ext cx="612000" cy="612000"/>
          </a:xfrm>
          <a:prstGeom prst="rect">
            <a:avLst/>
          </a:prstGeom>
        </p:spPr>
      </p:pic>
      <p:sp>
        <p:nvSpPr>
          <p:cNvPr id="1031" name="Text"/>
          <p:cNvSpPr txBox="1"/>
          <p:nvPr/>
        </p:nvSpPr>
        <p:spPr>
          <a:xfrm>
            <a:off x="1481188" y="5960134"/>
            <a:ext cx="5618924" cy="129002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Ожидание ответа: поток спит, процессор свободен.</a:t>
            </a:r>
          </a:p>
        </p:txBody>
      </p:sp>
      <p:pic>
        <p:nvPicPr>
          <p:cNvPr id="1032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7559401"/>
            <a:ext cx="612000" cy="612000"/>
          </a:xfrm>
          <a:prstGeom prst="rect">
            <a:avLst/>
          </a:prstGeom>
        </p:spPr>
      </p:pic>
      <p:sp>
        <p:nvSpPr>
          <p:cNvPr id="1033" name="Text"/>
          <p:cNvSpPr txBox="1"/>
          <p:nvPr/>
        </p:nvSpPr>
        <p:spPr>
          <a:xfrm>
            <a:off x="1481188" y="7599401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Разбор ответа: поток снова работает.</a:t>
            </a:r>
          </a:p>
        </p:txBody>
      </p:sp>
      <p:sp>
        <p:nvSpPr>
          <p:cNvPr id="1034" name="Box"/>
          <p:cNvSpPr/>
          <p:nvPr/>
        </p:nvSpPr>
        <p:spPr>
          <a:xfrm>
            <a:off x="8814112" y="1510537"/>
            <a:ext cx="3800000" cy="10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35" name="Text"/>
          <p:cNvSpPr txBox="1"/>
          <p:nvPr/>
        </p:nvSpPr>
        <p:spPr>
          <a:xfrm>
            <a:off x="8814112" y="1510537"/>
            <a:ext cx="38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Поток клиента</a:t>
            </a:r>
          </a:p>
        </p:txBody>
      </p:sp>
      <p:sp>
        <p:nvSpPr>
          <p:cNvPr id="1036" name="Box"/>
          <p:cNvSpPr/>
          <p:nvPr/>
        </p:nvSpPr>
        <p:spPr>
          <a:xfrm>
            <a:off x="14314112" y="1510537"/>
            <a:ext cx="3800000" cy="10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37" name="Text"/>
          <p:cNvSpPr txBox="1"/>
          <p:nvPr/>
        </p:nvSpPr>
        <p:spPr>
          <a:xfrm>
            <a:off x="14314112" y="1510537"/>
            <a:ext cx="38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T-Invest API</a:t>
            </a:r>
          </a:p>
        </p:txBody>
      </p:sp>
      <p:cxnSp>
        <p:nvCxnSpPr>
          <p:cNvPr id="1038" name="Line"/>
          <p:cNvCxnSpPr/>
          <p:nvPr/>
        </p:nvCxnSpPr>
        <p:spPr>
          <a:xfrm>
            <a:off x="10714112" y="2510537"/>
            <a:ext cx="1" cy="7900318"/>
          </a:xfrm>
          <a:prstGeom prst="line">
            <a:avLst/>
          </a:prstGeom>
          <a:ln w="19050">
            <a:solidFill>
              <a:srgbClr val="BFBFBF"/>
            </a:solidFill>
            <a:prstDash val="dash"/>
          </a:ln>
        </p:spPr>
      </p:cxnSp>
      <p:cxnSp>
        <p:nvCxnSpPr>
          <p:cNvPr id="1039" name="Line"/>
          <p:cNvCxnSpPr/>
          <p:nvPr/>
        </p:nvCxnSpPr>
        <p:spPr>
          <a:xfrm>
            <a:off x="16214112" y="2510537"/>
            <a:ext cx="1" cy="7900318"/>
          </a:xfrm>
          <a:prstGeom prst="line">
            <a:avLst/>
          </a:prstGeom>
          <a:ln w="19050">
            <a:solidFill>
              <a:srgbClr val="BFBFBF"/>
            </a:solidFill>
            <a:prstDash val="dash"/>
          </a:ln>
        </p:spPr>
      </p:cxnSp>
      <p:cxnSp>
        <p:nvCxnSpPr>
          <p:cNvPr id="1040" name="Arrow"/>
          <p:cNvCxnSpPr/>
          <p:nvPr/>
        </p:nvCxnSpPr>
        <p:spPr>
          <a:xfrm>
            <a:off x="10714112" y="3290600"/>
            <a:ext cx="550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041" name="Text"/>
          <p:cNvSpPr txBox="1"/>
          <p:nvPr/>
        </p:nvSpPr>
        <p:spPr>
          <a:xfrm>
            <a:off x="10714112" y="2650600"/>
            <a:ext cx="5500000" cy="43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5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Запрос</a:t>
            </a:r>
          </a:p>
        </p:txBody>
      </p:sp>
      <p:sp>
        <p:nvSpPr>
          <p:cNvPr id="1042" name="Box"/>
          <p:cNvSpPr/>
          <p:nvPr/>
        </p:nvSpPr>
        <p:spPr>
          <a:xfrm>
            <a:off x="8314112" y="4091629"/>
            <a:ext cx="4800000" cy="2225079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43" name="Text"/>
          <p:cNvSpPr txBox="1"/>
          <p:nvPr/>
        </p:nvSpPr>
        <p:spPr>
          <a:xfrm>
            <a:off x="8314112" y="4091629"/>
            <a:ext cx="4800000" cy="22250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/>
                <a:ea typeface="T-Sans"/>
              </a:rPr>
              <a:t>Поток заблокирован:</a:t>
            </a:r>
          </a:p>
          <a:p>
            <a:pPr algn="ctr">
              <a:lnSpc>
                <a:spcPct val="12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/>
                <a:ea typeface="T-Sans"/>
              </a:rPr>
              <a:t>ждёт ответа и ничего</a:t>
            </a:r>
          </a:p>
          <a:p>
            <a:pPr algn="ctr">
              <a:lnSpc>
                <a:spcPct val="12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/>
                <a:ea typeface="T-Sans"/>
              </a:rPr>
              <a:t>другого не делает</a:t>
            </a:r>
          </a:p>
        </p:txBody>
      </p:sp>
      <p:cxnSp>
        <p:nvCxnSpPr>
          <p:cNvPr id="1044" name="Arrow"/>
          <p:cNvCxnSpPr/>
          <p:nvPr/>
        </p:nvCxnSpPr>
        <p:spPr>
          <a:xfrm flipH="1">
            <a:off x="10714112" y="7562753"/>
            <a:ext cx="550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dash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045" name="Text"/>
          <p:cNvSpPr txBox="1"/>
          <p:nvPr/>
        </p:nvSpPr>
        <p:spPr>
          <a:xfrm>
            <a:off x="10714112" y="6922753"/>
            <a:ext cx="5500000" cy="43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5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Ответ с данными</a:t>
            </a:r>
          </a:p>
        </p:txBody>
      </p:sp>
      <p:sp>
        <p:nvSpPr>
          <p:cNvPr id="1046" name="Box"/>
          <p:cNvSpPr/>
          <p:nvPr/>
        </p:nvSpPr>
        <p:spPr>
          <a:xfrm>
            <a:off x="8914112" y="8363781"/>
            <a:ext cx="3600000" cy="979034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47" name="Text"/>
          <p:cNvSpPr txBox="1"/>
          <p:nvPr/>
        </p:nvSpPr>
        <p:spPr>
          <a:xfrm>
            <a:off x="8914112" y="8363781"/>
            <a:ext cx="3600000" cy="9790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/>
                <a:ea typeface="T-Sans"/>
              </a:rPr>
              <a:t>Обработка ответа</a:t>
            </a:r>
          </a:p>
        </p:txBody>
      </p:sp>
    </p:spTree>
    <p:extLst>
      <p:ext uri="{BB962C8B-B14F-4D97-AF65-F5344CB8AC3E}">
        <p14:creationId xmlns:p14="http://schemas.microsoft.com/office/powerpoint/2010/main" val="173033957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6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048" name="Title"/>
          <p:cNvSpPr txBox="1"/>
          <p:nvPr/>
        </p:nvSpPr>
        <p:spPr>
          <a:xfrm>
            <a:off x="611188" y="700000"/>
            <a:ext cx="6488924" cy="1197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4400" b="1" dirty="0">
                <a:solidFill>
                  <a:srgbClr val="333333"/>
                </a:solidFill>
                <a:latin typeface="T-Sans"/>
                <a:ea typeface="T-Sans"/>
              </a:rPr>
              <a:t>Пример: HttpURLConnection</a:t>
            </a:r>
          </a:p>
        </p:txBody>
      </p:sp>
      <p:pic>
        <p:nvPicPr>
          <p:cNvPr id="1049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507600"/>
            <a:ext cx="612000" cy="612000"/>
          </a:xfrm>
          <a:prstGeom prst="rect">
            <a:avLst/>
          </a:prstGeom>
        </p:spPr>
      </p:pic>
      <p:sp>
        <p:nvSpPr>
          <p:cNvPr id="1050" name="Text"/>
          <p:cNvSpPr txBox="1"/>
          <p:nvPr/>
        </p:nvSpPr>
        <p:spPr>
          <a:xfrm>
            <a:off x="1481188" y="2547600"/>
            <a:ext cx="5618924" cy="15940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Блокирующий вызов</a:t>
            </a: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поток стоит на </a:t>
            </a:r>
            <a:r>
              <a:rPr lang="ru-RU" sz="2800" dirty="0">
                <a:solidFill>
                  <a:srgbClr val="9B3D00"/>
                </a:solidFill>
                <a:latin typeface="JetBrains Mono Medium" pitchFamily="49" charset="0"/>
                <a:ea typeface="JetBrains Mono Medium" pitchFamily="49" charset="0"/>
              </a:rPr>
              <a:t>getResponseCode()</a:t>
            </a: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, пока не придёт ответ.</a:t>
            </a:r>
          </a:p>
        </p:txBody>
      </p:sp>
      <p:pic>
        <p:nvPicPr>
          <p:cNvPr id="1051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4311692"/>
            <a:ext cx="612000" cy="612000"/>
          </a:xfrm>
          <a:prstGeom prst="rect">
            <a:avLst/>
          </a:prstGeom>
        </p:spPr>
      </p:pic>
      <p:sp>
        <p:nvSpPr>
          <p:cNvPr id="1052" name="Text"/>
          <p:cNvSpPr txBox="1"/>
          <p:nvPr/>
        </p:nvSpPr>
        <p:spPr>
          <a:xfrm>
            <a:off x="1481188" y="4351692"/>
            <a:ext cx="5618924" cy="1035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Таймауты - на соединение и на чтение.</a:t>
            </a:r>
          </a:p>
        </p:txBody>
      </p:sp>
      <p:pic>
        <p:nvPicPr>
          <p:cNvPr id="1053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5596802"/>
            <a:ext cx="612000" cy="612000"/>
          </a:xfrm>
          <a:prstGeom prst="rect">
            <a:avLst/>
          </a:prstGeom>
        </p:spPr>
      </p:pic>
      <p:sp>
        <p:nvSpPr>
          <p:cNvPr id="1054" name="Text"/>
          <p:cNvSpPr txBox="1"/>
          <p:nvPr/>
        </p:nvSpPr>
        <p:spPr>
          <a:xfrm>
            <a:off x="1481188" y="5636802"/>
            <a:ext cx="5618924" cy="1035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Поток занят одним соединением от начала и до конца.</a:t>
            </a:r>
          </a:p>
        </p:txBody>
      </p:sp>
      <p:sp>
        <p:nvSpPr>
          <p:cNvPr id="1055" name="Code"/>
          <p:cNvSpPr txBox="1"/>
          <p:nvPr/>
        </p:nvSpPr>
        <p:spPr>
          <a:xfrm>
            <a:off x="8214112" y="1510537"/>
            <a:ext cx="10500000" cy="64949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URL url = URI.</a:t>
            </a:r>
            <a:r>
              <a:rPr lang="ru-RU" sz="29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create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(fullUrl).</a:t>
            </a:r>
            <a:r>
              <a:rPr lang="ru-RU" sz="29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toURL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();</a:t>
            </a:r>
          </a:p>
          <a:p>
            <a:pPr algn="l">
              <a:lnSpc>
                <a:spcPct val="112000"/>
              </a:lnSpc>
            </a:pP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HttpURLConnection c =</a:t>
            </a:r>
          </a:p>
          <a:p>
            <a:pPr algn="l">
              <a:lnSpc>
                <a:spcPct val="112000"/>
              </a:lnSpc>
            </a:pP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       (HttpURLConnection)</a:t>
            </a:r>
          </a:p>
          <a:p>
            <a:pPr algn="l">
              <a:lnSpc>
                <a:spcPct val="112000"/>
              </a:lnSpc>
            </a:pP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       url.</a:t>
            </a:r>
            <a:r>
              <a:rPr lang="ru-RU" sz="29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openConnection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();</a:t>
            </a:r>
          </a:p>
          <a:p>
            <a:pPr algn="l">
              <a:lnSpc>
                <a:spcPct val="112000"/>
              </a:lnSpc>
            </a:pP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c.</a:t>
            </a:r>
            <a:r>
              <a:rPr lang="ru-RU" sz="29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setRequestMethod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</a:t>
            </a:r>
            <a:r>
              <a:rPr lang="ru-RU" sz="2900" dirty="0">
                <a:solidFill>
                  <a:srgbClr val="067D17"/>
                </a:solidFill>
                <a:latin typeface="JetBrains Mono Medium" pitchFamily="49" charset="0"/>
                <a:ea typeface="JetBrains Mono Medium" pitchFamily="49" charset="0"/>
              </a:rPr>
              <a:t>"GET"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);</a:t>
            </a:r>
          </a:p>
          <a:p>
            <a:pPr algn="l">
              <a:lnSpc>
                <a:spcPct val="112000"/>
              </a:lnSpc>
            </a:pP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c.</a:t>
            </a:r>
            <a:r>
              <a:rPr lang="ru-RU" sz="29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setConnectTimeout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</a:t>
            </a:r>
            <a:r>
              <a:rPr lang="ru-RU" sz="2900" dirty="0">
                <a:solidFill>
                  <a:srgbClr val="1750EB"/>
                </a:solidFill>
                <a:latin typeface="JetBrains Mono Medium" pitchFamily="49" charset="0"/>
                <a:ea typeface="JetBrains Mono Medium" pitchFamily="49" charset="0"/>
              </a:rPr>
              <a:t>2_000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);</a:t>
            </a:r>
          </a:p>
          <a:p>
            <a:pPr algn="l">
              <a:lnSpc>
                <a:spcPct val="112000"/>
              </a:lnSpc>
            </a:pP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c.</a:t>
            </a:r>
            <a:r>
              <a:rPr lang="ru-RU" sz="29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setReadTimeout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</a:t>
            </a:r>
            <a:r>
              <a:rPr lang="ru-RU" sz="2900" dirty="0">
                <a:solidFill>
                  <a:srgbClr val="1750EB"/>
                </a:solidFill>
                <a:latin typeface="JetBrains Mono Medium" pitchFamily="49" charset="0"/>
                <a:ea typeface="JetBrains Mono Medium" pitchFamily="49" charset="0"/>
              </a:rPr>
              <a:t>5_000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);</a:t>
            </a:r>
          </a:p>
          <a:p>
            <a:pPr algn="l">
              <a:lnSpc>
                <a:spcPct val="112000"/>
              </a:lnSpc>
            </a:pPr>
            <a:endParaRPr lang="en-US" sz="2900"/>
          </a:p>
          <a:p>
            <a:pPr algn="l">
              <a:lnSpc>
                <a:spcPct val="112000"/>
              </a:lnSpc>
            </a:pPr>
            <a:r>
              <a:rPr lang="ru-RU" sz="2900" dirty="0">
                <a:solidFill>
                  <a:srgbClr val="0033B3"/>
                </a:solidFill>
                <a:latin typeface="JetBrains Mono Medium" pitchFamily="49" charset="0"/>
                <a:ea typeface="JetBrains Mono Medium" pitchFamily="49" charset="0"/>
              </a:rPr>
              <a:t>int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status = c.</a:t>
            </a:r>
            <a:r>
              <a:rPr lang="ru-RU" sz="29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getResponseCode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(); </a:t>
            </a:r>
            <a:r>
              <a:rPr lang="ru-RU" sz="2900" i="1" dirty="0">
                <a:solidFill>
                  <a:srgbClr val="8C8C8C"/>
                </a:solidFill>
                <a:latin typeface="JetBrains Mono Medium" pitchFamily="49" charset="0"/>
                <a:ea typeface="JetBrains Mono Medium" pitchFamily="49" charset="0"/>
              </a:rPr>
              <a:t>// поток ждёт</a:t>
            </a:r>
          </a:p>
          <a:p>
            <a:pPr algn="l">
              <a:lnSpc>
                <a:spcPct val="112000"/>
              </a:lnSpc>
            </a:pPr>
            <a:r>
              <a:rPr lang="ru-RU" sz="2900" dirty="0">
                <a:solidFill>
                  <a:srgbClr val="0033B3"/>
                </a:solidFill>
                <a:latin typeface="JetBrains Mono Medium" pitchFamily="49" charset="0"/>
                <a:ea typeface="JetBrains Mono Medium" pitchFamily="49" charset="0"/>
              </a:rPr>
              <a:t>try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(InputStream in = c.</a:t>
            </a:r>
            <a:r>
              <a:rPr lang="ru-RU" sz="29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getInputStream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()) {</a:t>
            </a:r>
          </a:p>
          <a:p>
            <a:pPr algn="l">
              <a:lnSpc>
                <a:spcPct val="112000"/>
              </a:lnSpc>
            </a:pP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   </a:t>
            </a:r>
            <a:r>
              <a:rPr lang="ru-RU" sz="2900" dirty="0">
                <a:solidFill>
                  <a:srgbClr val="0033B3"/>
                </a:solidFill>
                <a:latin typeface="JetBrains Mono Medium" pitchFamily="49" charset="0"/>
                <a:ea typeface="JetBrains Mono Medium" pitchFamily="49" charset="0"/>
              </a:rPr>
              <a:t>byte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[] data = in.</a:t>
            </a:r>
            <a:r>
              <a:rPr lang="ru-RU" sz="29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readAllBytes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();</a:t>
            </a:r>
          </a:p>
          <a:p>
            <a:pPr algn="l">
              <a:lnSpc>
                <a:spcPct val="112000"/>
              </a:lnSpc>
            </a:pP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c.</a:t>
            </a:r>
            <a:r>
              <a:rPr lang="ru-RU" sz="29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disconnect</a:t>
            </a:r>
            <a:r>
              <a:rPr lang="ru-RU" sz="29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();</a:t>
            </a:r>
          </a:p>
        </p:txBody>
      </p:sp>
      <p:pic>
        <p:nvPicPr>
          <p:cNvPr id="6" name="Check">
            <a:extLst>
              <a:ext uri="{FF2B5EF4-FFF2-40B4-BE49-F238E27FC236}">
                <a16:creationId xmlns:a16="http://schemas.microsoft.com/office/drawing/2014/main" id="{AB6BECA3-61AC-2948-927A-5796AF113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11188" y="6921912"/>
            <a:ext cx="612000" cy="612000"/>
          </a:xfrm>
          <a:prstGeom prst="rect">
            <a:avLst/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6C6D6F30-18C6-629A-4F1C-B9B6F7A9CB9B}"/>
              </a:ext>
            </a:extLst>
          </p:cNvPr>
          <p:cNvSpPr txBox="1"/>
          <p:nvPr/>
        </p:nvSpPr>
        <p:spPr bwMode="auto">
          <a:xfrm>
            <a:off x="1481188" y="6961912"/>
            <a:ext cx="5618924" cy="1035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На столько древний </a:t>
            </a:r>
            <a:r>
              <a:rPr lang="en-US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API, </a:t>
            </a: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что не реализует </a:t>
            </a:r>
            <a:r>
              <a:rPr lang="en-US" sz="2800" dirty="0" err="1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AutoCloseable</a:t>
            </a:r>
            <a:r>
              <a:rPr lang="en-US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, </a:t>
            </a: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и его нельзя использовать с </a:t>
            </a:r>
            <a:r>
              <a:rPr lang="en-US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try-with-resources…</a:t>
            </a:r>
            <a:endParaRPr lang="ru-RU" sz="2800" dirty="0">
              <a:solidFill>
                <a:srgbClr val="333333"/>
              </a:solidFill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26833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2348971" y="4447831"/>
            <a:ext cx="8644611" cy="22644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5400" b="1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Что делать, если нужно отправить много запросов?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7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CFE7BB-7760-6667-B867-8C5C07566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49130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6274DBE-5A7A-4F34-8272-CC1D69CFD60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8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BF430-497A-4CCD-B5AC-3303BA9BA228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1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Наивное решение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3E37F8-9E70-4E52-9714-7DDA679FF858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Просто добавим потоков?</a:t>
            </a:r>
          </a:p>
        </p:txBody>
      </p:sp>
    </p:spTree>
    <p:extLst>
      <p:ext uri="{BB962C8B-B14F-4D97-AF65-F5344CB8AC3E}">
        <p14:creationId xmlns:p14="http://schemas.microsoft.com/office/powerpoint/2010/main" val="10295783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9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056" name="Title"/>
          <p:cNvSpPr txBox="1"/>
          <p:nvPr/>
        </p:nvSpPr>
        <p:spPr>
          <a:xfrm>
            <a:off x="611188" y="700000"/>
            <a:ext cx="6488924" cy="76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Пул потоков</a:t>
            </a:r>
          </a:p>
        </p:txBody>
      </p:sp>
      <p:pic>
        <p:nvPicPr>
          <p:cNvPr id="1057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075800"/>
            <a:ext cx="612000" cy="612000"/>
          </a:xfrm>
          <a:prstGeom prst="rect">
            <a:avLst/>
          </a:prstGeom>
        </p:spPr>
      </p:pic>
      <p:sp>
        <p:nvSpPr>
          <p:cNvPr id="1058" name="Text"/>
          <p:cNvSpPr txBox="1"/>
          <p:nvPr/>
        </p:nvSpPr>
        <p:spPr>
          <a:xfrm>
            <a:off x="1481188" y="2115800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Раздаём запросы </a:t>
            </a: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пулу потоков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.</a:t>
            </a:r>
          </a:p>
        </p:txBody>
      </p:sp>
      <p:pic>
        <p:nvPicPr>
          <p:cNvPr id="1059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3526232"/>
            <a:ext cx="612000" cy="612000"/>
          </a:xfrm>
          <a:prstGeom prst="rect">
            <a:avLst/>
          </a:prstGeom>
        </p:spPr>
      </p:pic>
      <p:sp>
        <p:nvSpPr>
          <p:cNvPr id="1060" name="Text"/>
          <p:cNvSpPr txBox="1"/>
          <p:nvPr/>
        </p:nvSpPr>
        <p:spPr>
          <a:xfrm>
            <a:off x="1481188" y="3566232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В работе не больше запросов, чем потоков в пуле.</a:t>
            </a:r>
          </a:p>
        </p:txBody>
      </p:sp>
      <p:pic>
        <p:nvPicPr>
          <p:cNvPr id="1061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5016664"/>
            <a:ext cx="612000" cy="612000"/>
          </a:xfrm>
          <a:prstGeom prst="rect">
            <a:avLst/>
          </a:prstGeom>
        </p:spPr>
      </p:pic>
      <p:sp>
        <p:nvSpPr>
          <p:cNvPr id="1062" name="Text"/>
          <p:cNvSpPr txBox="1"/>
          <p:nvPr/>
        </p:nvSpPr>
        <p:spPr>
          <a:xfrm>
            <a:off x="1481188" y="5056664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Остальные ждут свободный поток.</a:t>
            </a:r>
          </a:p>
        </p:txBody>
      </p:sp>
      <p:pic>
        <p:nvPicPr>
          <p:cNvPr id="1063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6547096"/>
            <a:ext cx="612000" cy="612000"/>
          </a:xfrm>
          <a:prstGeom prst="rect">
            <a:avLst/>
          </a:prstGeom>
        </p:spPr>
      </p:pic>
      <p:sp>
        <p:nvSpPr>
          <p:cNvPr id="1064" name="Text"/>
          <p:cNvSpPr txBox="1"/>
          <p:nvPr/>
        </p:nvSpPr>
        <p:spPr>
          <a:xfrm>
            <a:off x="1481188" y="6547096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Сам поток при этом ничего не вычисляет - только ждёт сеть.</a:t>
            </a:r>
          </a:p>
        </p:txBody>
      </p:sp>
      <p:sp>
        <p:nvSpPr>
          <p:cNvPr id="1065" name="Box"/>
          <p:cNvSpPr/>
          <p:nvPr/>
        </p:nvSpPr>
        <p:spPr>
          <a:xfrm>
            <a:off x="11714112" y="1510537"/>
            <a:ext cx="3700000" cy="5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66" name="Text"/>
          <p:cNvSpPr txBox="1"/>
          <p:nvPr/>
        </p:nvSpPr>
        <p:spPr>
          <a:xfrm>
            <a:off x="11714112" y="1660537"/>
            <a:ext cx="3700000" cy="48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Пул, размер 3</a:t>
            </a:r>
          </a:p>
        </p:txBody>
      </p:sp>
      <p:sp>
        <p:nvSpPr>
          <p:cNvPr id="1067" name="Box"/>
          <p:cNvSpPr/>
          <p:nvPr/>
        </p:nvSpPr>
        <p:spPr>
          <a:xfrm>
            <a:off x="16214112" y="2410537"/>
            <a:ext cx="2500000" cy="370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68" name="Text"/>
          <p:cNvSpPr txBox="1"/>
          <p:nvPr/>
        </p:nvSpPr>
        <p:spPr>
          <a:xfrm>
            <a:off x="16214112" y="2410537"/>
            <a:ext cx="2500000" cy="3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Внешний</a:t>
            </a:r>
          </a:p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сервис</a:t>
            </a:r>
          </a:p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≈ 300 мс</a:t>
            </a:r>
          </a:p>
        </p:txBody>
      </p:sp>
      <p:sp>
        <p:nvSpPr>
          <p:cNvPr id="1069" name="Box"/>
          <p:cNvSpPr/>
          <p:nvPr/>
        </p:nvSpPr>
        <p:spPr>
          <a:xfrm>
            <a:off x="8214112" y="2410537"/>
            <a:ext cx="2900000" cy="10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70" name="Text"/>
          <p:cNvSpPr txBox="1"/>
          <p:nvPr/>
        </p:nvSpPr>
        <p:spPr>
          <a:xfrm>
            <a:off x="8214112" y="2410537"/>
            <a:ext cx="29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700" b="1" dirty="0">
                <a:solidFill>
                  <a:srgbClr val="333333"/>
                </a:solidFill>
                <a:latin typeface="T-Sans"/>
                <a:ea typeface="T-Sans"/>
              </a:rPr>
              <a:t>Запрос 1</a:t>
            </a:r>
          </a:p>
        </p:txBody>
      </p:sp>
      <p:sp>
        <p:nvSpPr>
          <p:cNvPr id="1071" name="Box"/>
          <p:cNvSpPr/>
          <p:nvPr/>
        </p:nvSpPr>
        <p:spPr>
          <a:xfrm>
            <a:off x="11964112" y="2410537"/>
            <a:ext cx="3200000" cy="10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72" name="Text"/>
          <p:cNvSpPr txBox="1"/>
          <p:nvPr/>
        </p:nvSpPr>
        <p:spPr>
          <a:xfrm>
            <a:off x="11964112" y="2410537"/>
            <a:ext cx="32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Поток 1 - занят</a:t>
            </a:r>
          </a:p>
        </p:txBody>
      </p:sp>
      <p:cxnSp>
        <p:nvCxnSpPr>
          <p:cNvPr id="1073" name="Arrow"/>
          <p:cNvCxnSpPr/>
          <p:nvPr/>
        </p:nvCxnSpPr>
        <p:spPr>
          <a:xfrm>
            <a:off x="11114112" y="2910537"/>
            <a:ext cx="85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cxnSp>
        <p:nvCxnSpPr>
          <p:cNvPr id="1074" name="Arrow"/>
          <p:cNvCxnSpPr/>
          <p:nvPr/>
        </p:nvCxnSpPr>
        <p:spPr>
          <a:xfrm>
            <a:off x="15164112" y="2910537"/>
            <a:ext cx="105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075" name="Box"/>
          <p:cNvSpPr/>
          <p:nvPr/>
        </p:nvSpPr>
        <p:spPr>
          <a:xfrm>
            <a:off x="8214112" y="3760537"/>
            <a:ext cx="2900000" cy="10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76" name="Text"/>
          <p:cNvSpPr txBox="1"/>
          <p:nvPr/>
        </p:nvSpPr>
        <p:spPr>
          <a:xfrm>
            <a:off x="8214112" y="3760537"/>
            <a:ext cx="29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700" b="1" dirty="0">
                <a:solidFill>
                  <a:srgbClr val="333333"/>
                </a:solidFill>
                <a:latin typeface="T-Sans"/>
                <a:ea typeface="T-Sans"/>
              </a:rPr>
              <a:t>Запрос 2</a:t>
            </a:r>
          </a:p>
        </p:txBody>
      </p:sp>
      <p:sp>
        <p:nvSpPr>
          <p:cNvPr id="1077" name="Box"/>
          <p:cNvSpPr/>
          <p:nvPr/>
        </p:nvSpPr>
        <p:spPr>
          <a:xfrm>
            <a:off x="11964112" y="3760537"/>
            <a:ext cx="3200000" cy="10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78" name="Text"/>
          <p:cNvSpPr txBox="1"/>
          <p:nvPr/>
        </p:nvSpPr>
        <p:spPr>
          <a:xfrm>
            <a:off x="11964112" y="3760537"/>
            <a:ext cx="32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Поток 2 - занят</a:t>
            </a:r>
          </a:p>
        </p:txBody>
      </p:sp>
      <p:cxnSp>
        <p:nvCxnSpPr>
          <p:cNvPr id="1079" name="Arrow"/>
          <p:cNvCxnSpPr/>
          <p:nvPr/>
        </p:nvCxnSpPr>
        <p:spPr>
          <a:xfrm>
            <a:off x="11114112" y="4260537"/>
            <a:ext cx="85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cxnSp>
        <p:nvCxnSpPr>
          <p:cNvPr id="1080" name="Arrow"/>
          <p:cNvCxnSpPr/>
          <p:nvPr/>
        </p:nvCxnSpPr>
        <p:spPr>
          <a:xfrm>
            <a:off x="15164112" y="4260537"/>
            <a:ext cx="105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081" name="Box"/>
          <p:cNvSpPr/>
          <p:nvPr/>
        </p:nvSpPr>
        <p:spPr>
          <a:xfrm>
            <a:off x="8214112" y="5110537"/>
            <a:ext cx="2900000" cy="10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82" name="Text"/>
          <p:cNvSpPr txBox="1"/>
          <p:nvPr/>
        </p:nvSpPr>
        <p:spPr>
          <a:xfrm>
            <a:off x="8214112" y="5110537"/>
            <a:ext cx="29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700" b="1" dirty="0">
                <a:solidFill>
                  <a:srgbClr val="333333"/>
                </a:solidFill>
                <a:latin typeface="T-Sans"/>
                <a:ea typeface="T-Sans"/>
              </a:rPr>
              <a:t>Запрос 3</a:t>
            </a:r>
          </a:p>
        </p:txBody>
      </p:sp>
      <p:sp>
        <p:nvSpPr>
          <p:cNvPr id="1083" name="Box"/>
          <p:cNvSpPr/>
          <p:nvPr/>
        </p:nvSpPr>
        <p:spPr>
          <a:xfrm>
            <a:off x="11964112" y="5110537"/>
            <a:ext cx="3200000" cy="10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84" name="Text"/>
          <p:cNvSpPr txBox="1"/>
          <p:nvPr/>
        </p:nvSpPr>
        <p:spPr>
          <a:xfrm>
            <a:off x="11964112" y="5110537"/>
            <a:ext cx="32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Поток 3 - занят</a:t>
            </a:r>
          </a:p>
        </p:txBody>
      </p:sp>
      <p:cxnSp>
        <p:nvCxnSpPr>
          <p:cNvPr id="1085" name="Arrow"/>
          <p:cNvCxnSpPr/>
          <p:nvPr/>
        </p:nvCxnSpPr>
        <p:spPr>
          <a:xfrm>
            <a:off x="11114112" y="5610537"/>
            <a:ext cx="85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cxnSp>
        <p:nvCxnSpPr>
          <p:cNvPr id="1086" name="Arrow"/>
          <p:cNvCxnSpPr/>
          <p:nvPr/>
        </p:nvCxnSpPr>
        <p:spPr>
          <a:xfrm>
            <a:off x="15164112" y="5610537"/>
            <a:ext cx="105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087" name="Box"/>
          <p:cNvSpPr/>
          <p:nvPr/>
        </p:nvSpPr>
        <p:spPr>
          <a:xfrm>
            <a:off x="8214112" y="7510537"/>
            <a:ext cx="2900000" cy="100000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88" name="Text"/>
          <p:cNvSpPr txBox="1"/>
          <p:nvPr/>
        </p:nvSpPr>
        <p:spPr>
          <a:xfrm>
            <a:off x="8214112" y="7510537"/>
            <a:ext cx="29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700" b="1" dirty="0">
                <a:solidFill>
                  <a:srgbClr val="333333"/>
                </a:solidFill>
                <a:latin typeface="T-Sans"/>
                <a:ea typeface="T-Sans"/>
              </a:rPr>
              <a:t>Запросы 4–8</a:t>
            </a:r>
          </a:p>
        </p:txBody>
      </p:sp>
      <p:cxnSp>
        <p:nvCxnSpPr>
          <p:cNvPr id="1089" name="Arrow"/>
          <p:cNvCxnSpPr/>
          <p:nvPr/>
        </p:nvCxnSpPr>
        <p:spPr>
          <a:xfrm flipV="1">
            <a:off x="11114112" y="6710537"/>
            <a:ext cx="1200000" cy="1300000"/>
          </a:xfrm>
          <a:prstGeom prst="straightConnector1">
            <a:avLst/>
          </a:prstGeom>
          <a:ln w="25400">
            <a:solidFill>
              <a:srgbClr val="333333"/>
            </a:solidFill>
            <a:prstDash val="dash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090" name="Text"/>
          <p:cNvSpPr txBox="1"/>
          <p:nvPr/>
        </p:nvSpPr>
        <p:spPr>
          <a:xfrm>
            <a:off x="11814112" y="7610537"/>
            <a:ext cx="6900000" cy="4726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27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ждут свободный поток</a:t>
            </a:r>
          </a:p>
        </p:txBody>
      </p:sp>
      <p:sp>
        <p:nvSpPr>
          <p:cNvPr id="1091" name="Box"/>
          <p:cNvSpPr/>
          <p:nvPr/>
        </p:nvSpPr>
        <p:spPr>
          <a:xfrm>
            <a:off x="8214112" y="9360855"/>
            <a:ext cx="10500000" cy="95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2" name="Text"/>
              <p:cNvSpPr txBox="1"/>
              <p:nvPr/>
            </p:nvSpPr>
            <p:spPr>
              <a:xfrm>
                <a:off x="8214112" y="9360855"/>
                <a:ext cx="10500000" cy="950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ru-RU" sz="2400" b="1" dirty="0">
                    <a:solidFill>
                      <a:srgbClr val="333333"/>
                    </a:solidFill>
                    <a:latin typeface="T-Sans"/>
                    <a:ea typeface="T-Sans"/>
                  </a:rPr>
                  <a:t>Пример: 8 запросов и ≈ 300 мс на ответ </a:t>
                </a:r>
                <a14:m>
                  <m:oMath xmlns:m="http://schemas.openxmlformats.org/officeDocument/2006/math">
                    <m:r>
                      <a:rPr lang="ru-RU" sz="2400" b="1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T-Sans"/>
                      </a:rPr>
                      <m:t>→</m:t>
                    </m:r>
                  </m:oMath>
                </a14:m>
                <a:r>
                  <a:rPr lang="ru-RU" sz="2400" b="1" dirty="0">
                    <a:solidFill>
                      <a:srgbClr val="333333"/>
                    </a:solidFill>
                    <a:latin typeface="T-Sans"/>
                    <a:ea typeface="T-Sans"/>
                  </a:rPr>
                  <a:t> ≈ 1 с вместо 0,3 с</a:t>
                </a:r>
              </a:p>
            </p:txBody>
          </p:sp>
        </mc:Choice>
        <mc:Fallback xmlns="">
          <p:sp>
            <p:nvSpPr>
              <p:cNvPr id="109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112" y="9360855"/>
                <a:ext cx="10500000" cy="95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9959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10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093" name="Title"/>
          <p:cNvSpPr txBox="1"/>
          <p:nvPr/>
        </p:nvSpPr>
        <p:spPr>
          <a:xfrm>
            <a:off x="611188" y="700000"/>
            <a:ext cx="6488924" cy="2137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Сколько займут 8 запросов</a:t>
            </a:r>
            <a:r>
              <a:rPr lang="en-US" sz="5400" b="1" dirty="0">
                <a:solidFill>
                  <a:srgbClr val="333333"/>
                </a:solidFill>
                <a:latin typeface="T-Sans"/>
                <a:ea typeface="T-Sans"/>
              </a:rPr>
              <a:t>?</a:t>
            </a:r>
            <a:endParaRPr lang="ru-RU" sz="5400" b="1" dirty="0">
              <a:solidFill>
                <a:srgbClr val="333333"/>
              </a:solidFill>
              <a:latin typeface="T-Sans"/>
              <a:ea typeface="T-Sans"/>
            </a:endParaRPr>
          </a:p>
        </p:txBody>
      </p:sp>
      <p:pic>
        <p:nvPicPr>
          <p:cNvPr id="1094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803827"/>
            <a:ext cx="612000" cy="612000"/>
          </a:xfrm>
          <a:prstGeom prst="rect">
            <a:avLst/>
          </a:prstGeom>
        </p:spPr>
      </p:pic>
      <p:sp>
        <p:nvSpPr>
          <p:cNvPr id="1095" name="Text"/>
          <p:cNvSpPr txBox="1"/>
          <p:nvPr/>
        </p:nvSpPr>
        <p:spPr>
          <a:xfrm>
            <a:off x="1481188" y="2843827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Пул из </a:t>
            </a: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3 потоков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обслуживает запросы </a:t>
            </a: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порциями по 3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.</a:t>
            </a:r>
          </a:p>
        </p:txBody>
      </p:sp>
      <p:pic>
        <p:nvPicPr>
          <p:cNvPr id="1096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4280224"/>
            <a:ext cx="612000" cy="612000"/>
          </a:xfrm>
          <a:prstGeom prst="rect">
            <a:avLst/>
          </a:prstGeom>
        </p:spPr>
      </p:pic>
      <p:sp>
        <p:nvSpPr>
          <p:cNvPr id="1097" name="Text"/>
          <p:cNvSpPr txBox="1"/>
          <p:nvPr/>
        </p:nvSpPr>
        <p:spPr>
          <a:xfrm>
            <a:off x="1481188" y="4320224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Каждый запрос ≈ 300 мс: поток занят им целиком.</a:t>
            </a:r>
          </a:p>
        </p:txBody>
      </p:sp>
      <p:pic>
        <p:nvPicPr>
          <p:cNvPr id="1098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5796621"/>
            <a:ext cx="612000" cy="612000"/>
          </a:xfrm>
          <a:prstGeom prst="rect">
            <a:avLst/>
          </a:prstGeom>
        </p:spPr>
      </p:pic>
      <p:sp>
        <p:nvSpPr>
          <p:cNvPr id="1099" name="Text"/>
          <p:cNvSpPr txBox="1"/>
          <p:nvPr/>
        </p:nvSpPr>
        <p:spPr>
          <a:xfrm>
            <a:off x="1481188" y="5836621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8 запросов - 3 порции, итого ≈ </a:t>
            </a: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900 мс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.</a:t>
            </a:r>
          </a:p>
        </p:txBody>
      </p:sp>
      <p:pic>
        <p:nvPicPr>
          <p:cNvPr id="1100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7353018"/>
            <a:ext cx="612000" cy="612000"/>
          </a:xfrm>
          <a:prstGeom prst="rect">
            <a:avLst/>
          </a:prstGeom>
        </p:spPr>
      </p:pic>
      <p:sp>
        <p:nvSpPr>
          <p:cNvPr id="1101" name="Text"/>
          <p:cNvSpPr txBox="1"/>
          <p:nvPr/>
        </p:nvSpPr>
        <p:spPr>
          <a:xfrm>
            <a:off x="1481188" y="7393018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Время ≈ ⌈N / размер пула⌉ × задержка.</a:t>
            </a:r>
          </a:p>
        </p:txBody>
      </p:sp>
      <p:sp>
        <p:nvSpPr>
          <p:cNvPr id="1102" name="Text"/>
          <p:cNvSpPr txBox="1"/>
          <p:nvPr/>
        </p:nvSpPr>
        <p:spPr>
          <a:xfrm>
            <a:off x="10314112" y="1660537"/>
            <a:ext cx="2800000" cy="48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Итерация 1</a:t>
            </a:r>
          </a:p>
        </p:txBody>
      </p:sp>
      <p:sp>
        <p:nvSpPr>
          <p:cNvPr id="1103" name="Text"/>
          <p:cNvSpPr txBox="1"/>
          <p:nvPr/>
        </p:nvSpPr>
        <p:spPr>
          <a:xfrm>
            <a:off x="13114112" y="1660537"/>
            <a:ext cx="2800000" cy="48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Итерация 2</a:t>
            </a:r>
          </a:p>
        </p:txBody>
      </p:sp>
      <p:sp>
        <p:nvSpPr>
          <p:cNvPr id="1104" name="Text"/>
          <p:cNvSpPr txBox="1"/>
          <p:nvPr/>
        </p:nvSpPr>
        <p:spPr>
          <a:xfrm>
            <a:off x="15914112" y="1660537"/>
            <a:ext cx="2800000" cy="48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Итерация 3</a:t>
            </a:r>
          </a:p>
        </p:txBody>
      </p:sp>
      <p:sp>
        <p:nvSpPr>
          <p:cNvPr id="1105" name="Text"/>
          <p:cNvSpPr txBox="1"/>
          <p:nvPr/>
        </p:nvSpPr>
        <p:spPr>
          <a:xfrm>
            <a:off x="8214112" y="2890537"/>
            <a:ext cx="1950000" cy="48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Поток 1</a:t>
            </a:r>
          </a:p>
        </p:txBody>
      </p:sp>
      <p:sp>
        <p:nvSpPr>
          <p:cNvPr id="1106" name="Box"/>
          <p:cNvSpPr/>
          <p:nvPr/>
        </p:nvSpPr>
        <p:spPr>
          <a:xfrm>
            <a:off x="10374112" y="2610537"/>
            <a:ext cx="2680000" cy="105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07" name="Text"/>
          <p:cNvSpPr txBox="1"/>
          <p:nvPr/>
        </p:nvSpPr>
        <p:spPr>
          <a:xfrm>
            <a:off x="10374112" y="2610537"/>
            <a:ext cx="2680000" cy="10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Запрос 1</a:t>
            </a:r>
          </a:p>
        </p:txBody>
      </p:sp>
      <p:sp>
        <p:nvSpPr>
          <p:cNvPr id="1108" name="Box"/>
          <p:cNvSpPr/>
          <p:nvPr/>
        </p:nvSpPr>
        <p:spPr>
          <a:xfrm>
            <a:off x="13174112" y="2610537"/>
            <a:ext cx="2680000" cy="105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09" name="Text"/>
          <p:cNvSpPr txBox="1"/>
          <p:nvPr/>
        </p:nvSpPr>
        <p:spPr>
          <a:xfrm>
            <a:off x="13174112" y="2610537"/>
            <a:ext cx="2680000" cy="10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Запрос 4</a:t>
            </a:r>
          </a:p>
        </p:txBody>
      </p:sp>
      <p:sp>
        <p:nvSpPr>
          <p:cNvPr id="1110" name="Box"/>
          <p:cNvSpPr/>
          <p:nvPr/>
        </p:nvSpPr>
        <p:spPr>
          <a:xfrm>
            <a:off x="15974112" y="2610537"/>
            <a:ext cx="2680000" cy="105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11" name="Text"/>
          <p:cNvSpPr txBox="1"/>
          <p:nvPr/>
        </p:nvSpPr>
        <p:spPr>
          <a:xfrm>
            <a:off x="15974112" y="2610537"/>
            <a:ext cx="2680000" cy="10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Запрос 7</a:t>
            </a:r>
          </a:p>
        </p:txBody>
      </p:sp>
      <p:sp>
        <p:nvSpPr>
          <p:cNvPr id="1112" name="Text"/>
          <p:cNvSpPr txBox="1"/>
          <p:nvPr/>
        </p:nvSpPr>
        <p:spPr>
          <a:xfrm>
            <a:off x="8214112" y="4140537"/>
            <a:ext cx="1950000" cy="48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Поток 2</a:t>
            </a:r>
          </a:p>
        </p:txBody>
      </p:sp>
      <p:sp>
        <p:nvSpPr>
          <p:cNvPr id="1113" name="Box"/>
          <p:cNvSpPr/>
          <p:nvPr/>
        </p:nvSpPr>
        <p:spPr>
          <a:xfrm>
            <a:off x="10374112" y="3860537"/>
            <a:ext cx="2680000" cy="105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14" name="Text"/>
          <p:cNvSpPr txBox="1"/>
          <p:nvPr/>
        </p:nvSpPr>
        <p:spPr>
          <a:xfrm>
            <a:off x="10374112" y="3860537"/>
            <a:ext cx="2680000" cy="10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Запрос 2</a:t>
            </a:r>
          </a:p>
        </p:txBody>
      </p:sp>
      <p:sp>
        <p:nvSpPr>
          <p:cNvPr id="1115" name="Box"/>
          <p:cNvSpPr/>
          <p:nvPr/>
        </p:nvSpPr>
        <p:spPr>
          <a:xfrm>
            <a:off x="13174112" y="3860537"/>
            <a:ext cx="2680000" cy="105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16" name="Text"/>
          <p:cNvSpPr txBox="1"/>
          <p:nvPr/>
        </p:nvSpPr>
        <p:spPr>
          <a:xfrm>
            <a:off x="13174112" y="3860537"/>
            <a:ext cx="2680000" cy="10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Запрос 5</a:t>
            </a:r>
          </a:p>
        </p:txBody>
      </p:sp>
      <p:sp>
        <p:nvSpPr>
          <p:cNvPr id="1117" name="Box"/>
          <p:cNvSpPr/>
          <p:nvPr/>
        </p:nvSpPr>
        <p:spPr>
          <a:xfrm>
            <a:off x="15974112" y="3860537"/>
            <a:ext cx="2680000" cy="105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18" name="Text"/>
          <p:cNvSpPr txBox="1"/>
          <p:nvPr/>
        </p:nvSpPr>
        <p:spPr>
          <a:xfrm>
            <a:off x="15974112" y="3860537"/>
            <a:ext cx="2680000" cy="10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Запрос 8</a:t>
            </a:r>
          </a:p>
        </p:txBody>
      </p:sp>
      <p:sp>
        <p:nvSpPr>
          <p:cNvPr id="1119" name="Text"/>
          <p:cNvSpPr txBox="1"/>
          <p:nvPr/>
        </p:nvSpPr>
        <p:spPr>
          <a:xfrm>
            <a:off x="8214112" y="5390537"/>
            <a:ext cx="1950000" cy="48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Поток 3</a:t>
            </a:r>
          </a:p>
        </p:txBody>
      </p:sp>
      <p:sp>
        <p:nvSpPr>
          <p:cNvPr id="1120" name="Box"/>
          <p:cNvSpPr/>
          <p:nvPr/>
        </p:nvSpPr>
        <p:spPr>
          <a:xfrm>
            <a:off x="10374112" y="5110537"/>
            <a:ext cx="2680000" cy="105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21" name="Text"/>
          <p:cNvSpPr txBox="1"/>
          <p:nvPr/>
        </p:nvSpPr>
        <p:spPr>
          <a:xfrm>
            <a:off x="10374112" y="5110537"/>
            <a:ext cx="2680000" cy="10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Запрос 3</a:t>
            </a:r>
          </a:p>
        </p:txBody>
      </p:sp>
      <p:sp>
        <p:nvSpPr>
          <p:cNvPr id="1122" name="Box"/>
          <p:cNvSpPr/>
          <p:nvPr/>
        </p:nvSpPr>
        <p:spPr>
          <a:xfrm>
            <a:off x="13174112" y="5110537"/>
            <a:ext cx="2680000" cy="105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23" name="Text"/>
          <p:cNvSpPr txBox="1"/>
          <p:nvPr/>
        </p:nvSpPr>
        <p:spPr>
          <a:xfrm>
            <a:off x="13174112" y="5110537"/>
            <a:ext cx="2680000" cy="10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Запрос 6</a:t>
            </a:r>
          </a:p>
        </p:txBody>
      </p:sp>
      <p:sp>
        <p:nvSpPr>
          <p:cNvPr id="1124" name="Box"/>
          <p:cNvSpPr/>
          <p:nvPr/>
        </p:nvSpPr>
        <p:spPr>
          <a:xfrm>
            <a:off x="15974112" y="5110537"/>
            <a:ext cx="2680000" cy="105000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25" name="Text"/>
          <p:cNvSpPr txBox="1"/>
          <p:nvPr/>
        </p:nvSpPr>
        <p:spPr>
          <a:xfrm>
            <a:off x="15974112" y="5110537"/>
            <a:ext cx="2680000" cy="10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ru-RU" sz="2400" b="0" dirty="0">
                <a:solidFill>
                  <a:srgbClr val="757675"/>
                </a:solidFill>
                <a:latin typeface="T-Sans"/>
                <a:ea typeface="T-Sans"/>
              </a:rPr>
              <a:t>свободен</a:t>
            </a:r>
          </a:p>
        </p:txBody>
      </p:sp>
      <p:cxnSp>
        <p:nvCxnSpPr>
          <p:cNvPr id="1126" name="Line"/>
          <p:cNvCxnSpPr/>
          <p:nvPr/>
        </p:nvCxnSpPr>
        <p:spPr>
          <a:xfrm>
            <a:off x="10314112" y="6210537"/>
            <a:ext cx="8400000" cy="1"/>
          </a:xfrm>
          <a:prstGeom prst="line">
            <a:avLst/>
          </a:prstGeom>
          <a:ln w="19050">
            <a:solidFill>
              <a:srgbClr val="BFBFBF"/>
            </a:solidFill>
            <a:prstDash val="solid"/>
          </a:ln>
        </p:spPr>
      </p:cxnSp>
      <p:sp>
        <p:nvSpPr>
          <p:cNvPr id="1127" name="Text"/>
          <p:cNvSpPr txBox="1"/>
          <p:nvPr/>
        </p:nvSpPr>
        <p:spPr>
          <a:xfrm>
            <a:off x="10014112" y="6290537"/>
            <a:ext cx="1200000" cy="43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5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0 мс</a:t>
            </a:r>
          </a:p>
        </p:txBody>
      </p:sp>
      <p:sp>
        <p:nvSpPr>
          <p:cNvPr id="1128" name="Text"/>
          <p:cNvSpPr txBox="1"/>
          <p:nvPr/>
        </p:nvSpPr>
        <p:spPr>
          <a:xfrm>
            <a:off x="12514112" y="6290537"/>
            <a:ext cx="1200000" cy="43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5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300 мс</a:t>
            </a:r>
          </a:p>
        </p:txBody>
      </p:sp>
      <p:sp>
        <p:nvSpPr>
          <p:cNvPr id="1129" name="Text"/>
          <p:cNvSpPr txBox="1"/>
          <p:nvPr/>
        </p:nvSpPr>
        <p:spPr>
          <a:xfrm>
            <a:off x="15314112" y="6290537"/>
            <a:ext cx="1200000" cy="43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5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600 мс</a:t>
            </a:r>
          </a:p>
        </p:txBody>
      </p:sp>
      <p:sp>
        <p:nvSpPr>
          <p:cNvPr id="1130" name="Text"/>
          <p:cNvSpPr txBox="1"/>
          <p:nvPr/>
        </p:nvSpPr>
        <p:spPr>
          <a:xfrm>
            <a:off x="17614112" y="6290537"/>
            <a:ext cx="1200000" cy="43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5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900 мс</a:t>
            </a:r>
          </a:p>
        </p:txBody>
      </p:sp>
      <p:sp>
        <p:nvSpPr>
          <p:cNvPr id="1131" name="Box"/>
          <p:cNvSpPr/>
          <p:nvPr/>
        </p:nvSpPr>
        <p:spPr>
          <a:xfrm>
            <a:off x="8214112" y="6960537"/>
            <a:ext cx="10500000" cy="85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32" name="Text"/>
          <p:cNvSpPr txBox="1"/>
          <p:nvPr/>
        </p:nvSpPr>
        <p:spPr>
          <a:xfrm>
            <a:off x="8214112" y="6960537"/>
            <a:ext cx="10500000" cy="8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Итераций = ⌈8 / 3⌉ = 3   →   время ≈ 3 × 300 мс ≈ 900 мс</a:t>
            </a:r>
          </a:p>
        </p:txBody>
      </p:sp>
      <p:sp>
        <p:nvSpPr>
          <p:cNvPr id="1133" name="Box"/>
          <p:cNvSpPr/>
          <p:nvPr/>
        </p:nvSpPr>
        <p:spPr>
          <a:xfrm>
            <a:off x="8214112" y="7910537"/>
            <a:ext cx="10500000" cy="85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34" name="Text"/>
          <p:cNvSpPr txBox="1"/>
          <p:nvPr/>
        </p:nvSpPr>
        <p:spPr>
          <a:xfrm>
            <a:off x="8214112" y="7910537"/>
            <a:ext cx="10500000" cy="8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Пул из 8 потоков: все 8 запросов за ≈ 300 мс</a:t>
            </a:r>
          </a:p>
        </p:txBody>
      </p:sp>
      <p:sp>
        <p:nvSpPr>
          <p:cNvPr id="1135" name="Box"/>
          <p:cNvSpPr/>
          <p:nvPr/>
        </p:nvSpPr>
        <p:spPr>
          <a:xfrm>
            <a:off x="8214112" y="8860537"/>
            <a:ext cx="10500000" cy="85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36" name="Text"/>
          <p:cNvSpPr txBox="1"/>
          <p:nvPr/>
        </p:nvSpPr>
        <p:spPr>
          <a:xfrm>
            <a:off x="8214112" y="8860537"/>
            <a:ext cx="10500000" cy="8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10 000 запросов и пул из 3 потоков: ≈ 1000 с</a:t>
            </a:r>
          </a:p>
        </p:txBody>
      </p:sp>
    </p:spTree>
    <p:extLst>
      <p:ext uri="{BB962C8B-B14F-4D97-AF65-F5344CB8AC3E}">
        <p14:creationId xmlns:p14="http://schemas.microsoft.com/office/powerpoint/2010/main" val="58249573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11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137" name="Title"/>
          <p:cNvSpPr txBox="1"/>
          <p:nvPr/>
        </p:nvSpPr>
        <p:spPr>
          <a:xfrm>
            <a:off x="611188" y="700000"/>
            <a:ext cx="6488924" cy="1451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Ограничения решения</a:t>
            </a:r>
          </a:p>
        </p:txBody>
      </p:sp>
      <p:pic>
        <p:nvPicPr>
          <p:cNvPr id="1138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761600"/>
            <a:ext cx="612000" cy="612000"/>
          </a:xfrm>
          <a:prstGeom prst="rect">
            <a:avLst/>
          </a:prstGeom>
        </p:spPr>
      </p:pic>
      <p:sp>
        <p:nvSpPr>
          <p:cNvPr id="1139" name="Text"/>
          <p:cNvSpPr txBox="1"/>
          <p:nvPr/>
        </p:nvSpPr>
        <p:spPr>
          <a:xfrm>
            <a:off x="1481188" y="2801600"/>
            <a:ext cx="5618924" cy="110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Больше потоков</a:t>
            </a:r>
            <a:r>
              <a:rPr lang="ru-RU" sz="29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- граница отодвинута, но не исчезла.</a:t>
            </a:r>
          </a:p>
        </p:txBody>
      </p:sp>
      <p:pic>
        <p:nvPicPr>
          <p:cNvPr id="1140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4142304"/>
            <a:ext cx="612000" cy="612000"/>
          </a:xfrm>
          <a:prstGeom prst="rect">
            <a:avLst/>
          </a:prstGeom>
        </p:spPr>
      </p:pic>
      <p:sp>
        <p:nvSpPr>
          <p:cNvPr id="1141" name="Text"/>
          <p:cNvSpPr txBox="1"/>
          <p:nvPr/>
        </p:nvSpPr>
        <p:spPr>
          <a:xfrm>
            <a:off x="1481188" y="4182304"/>
            <a:ext cx="5618924" cy="110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9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Поток ≈ </a:t>
            </a:r>
            <a:r>
              <a:rPr lang="ru-RU" sz="2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1 МБ</a:t>
            </a:r>
            <a:r>
              <a:rPr lang="ru-RU" sz="29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на стек: 1 000 потоков ≈ 1 ГБ.</a:t>
            </a:r>
          </a:p>
        </p:txBody>
      </p:sp>
      <p:pic>
        <p:nvPicPr>
          <p:cNvPr id="1142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5563008"/>
            <a:ext cx="612000" cy="612000"/>
          </a:xfrm>
          <a:prstGeom prst="rect">
            <a:avLst/>
          </a:prstGeom>
        </p:spPr>
      </p:pic>
      <p:sp>
        <p:nvSpPr>
          <p:cNvPr id="1143" name="Text"/>
          <p:cNvSpPr txBox="1"/>
          <p:nvPr/>
        </p:nvSpPr>
        <p:spPr>
          <a:xfrm>
            <a:off x="1481188" y="5603008"/>
            <a:ext cx="5618924" cy="1631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Thread starvation</a:t>
            </a:r>
            <a:r>
              <a:rPr lang="ru-RU" sz="29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все потоки ждут ответы, новые запросы стоят в очереди.</a:t>
            </a:r>
          </a:p>
        </p:txBody>
      </p:sp>
      <p:pic>
        <p:nvPicPr>
          <p:cNvPr id="1144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7554064"/>
            <a:ext cx="612000" cy="612000"/>
          </a:xfrm>
          <a:prstGeom prst="rect">
            <a:avLst/>
          </a:prstGeom>
        </p:spPr>
      </p:pic>
      <p:sp>
        <p:nvSpPr>
          <p:cNvPr id="1145" name="Text"/>
          <p:cNvSpPr txBox="1"/>
          <p:nvPr/>
        </p:nvSpPr>
        <p:spPr>
          <a:xfrm>
            <a:off x="1481188" y="7594064"/>
            <a:ext cx="5618924" cy="21614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Асинхронный интерфейс</a:t>
            </a:r>
            <a:r>
              <a:rPr lang="ru-RU" sz="29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вызывающий поток свободен, но внутри поток всё равно спит на сокете.</a:t>
            </a:r>
          </a:p>
        </p:txBody>
      </p:sp>
      <p:sp>
        <p:nvSpPr>
          <p:cNvPr id="1146" name="Text"/>
          <p:cNvSpPr txBox="1"/>
          <p:nvPr/>
        </p:nvSpPr>
        <p:spPr>
          <a:xfrm>
            <a:off x="8214112" y="1510537"/>
            <a:ext cx="4900000" cy="9923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Вариант А: больше потоков</a:t>
            </a:r>
          </a:p>
        </p:txBody>
      </p:sp>
      <p:sp>
        <p:nvSpPr>
          <p:cNvPr id="1147" name="Box"/>
          <p:cNvSpPr/>
          <p:nvPr/>
        </p:nvSpPr>
        <p:spPr>
          <a:xfrm>
            <a:off x="8214112" y="2610537"/>
            <a:ext cx="4900000" cy="19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48" name="Text"/>
          <p:cNvSpPr txBox="1"/>
          <p:nvPr/>
        </p:nvSpPr>
        <p:spPr>
          <a:xfrm>
            <a:off x="8214112" y="2610537"/>
            <a:ext cx="4900000" cy="19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Пул побольше</a:t>
            </a:r>
          </a:p>
        </p:txBody>
      </p:sp>
      <p:cxnSp>
        <p:nvCxnSpPr>
          <p:cNvPr id="1149" name="Arrow"/>
          <p:cNvCxnSpPr/>
          <p:nvPr/>
        </p:nvCxnSpPr>
        <p:spPr>
          <a:xfrm>
            <a:off x="10664112" y="4510537"/>
            <a:ext cx="1" cy="100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150" name="Box"/>
          <p:cNvSpPr/>
          <p:nvPr/>
        </p:nvSpPr>
        <p:spPr>
          <a:xfrm>
            <a:off x="8214112" y="5510537"/>
            <a:ext cx="4900000" cy="230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51" name="Text"/>
          <p:cNvSpPr txBox="1"/>
          <p:nvPr/>
        </p:nvSpPr>
        <p:spPr>
          <a:xfrm>
            <a:off x="8214112" y="5510537"/>
            <a:ext cx="4900000" cy="2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≈ 1 МБ памяти на поток;</a:t>
            </a:r>
          </a:p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пул занят ожиданием -</a:t>
            </a:r>
          </a:p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thread starvation</a:t>
            </a:r>
          </a:p>
        </p:txBody>
      </p:sp>
      <p:sp>
        <p:nvSpPr>
          <p:cNvPr id="1152" name="Text"/>
          <p:cNvSpPr txBox="1"/>
          <p:nvPr/>
        </p:nvSpPr>
        <p:spPr>
          <a:xfrm>
            <a:off x="13814112" y="1510537"/>
            <a:ext cx="4900000" cy="9923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Вариант Б: асинхронный интерфейс</a:t>
            </a:r>
          </a:p>
        </p:txBody>
      </p:sp>
      <p:sp>
        <p:nvSpPr>
          <p:cNvPr id="1153" name="Box"/>
          <p:cNvSpPr/>
          <p:nvPr/>
        </p:nvSpPr>
        <p:spPr>
          <a:xfrm>
            <a:off x="13814112" y="2610537"/>
            <a:ext cx="4900000" cy="19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54" name="Text"/>
          <p:cNvSpPr txBox="1"/>
          <p:nvPr/>
        </p:nvSpPr>
        <p:spPr>
          <a:xfrm>
            <a:off x="13814112" y="2610537"/>
            <a:ext cx="4900000" cy="19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Вызывающий поток</a:t>
            </a:r>
          </a:p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не ждёт результата</a:t>
            </a:r>
          </a:p>
        </p:txBody>
      </p:sp>
      <p:cxnSp>
        <p:nvCxnSpPr>
          <p:cNvPr id="1155" name="Arrow"/>
          <p:cNvCxnSpPr/>
          <p:nvPr/>
        </p:nvCxnSpPr>
        <p:spPr>
          <a:xfrm>
            <a:off x="16264112" y="4510537"/>
            <a:ext cx="1" cy="100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156" name="Box"/>
          <p:cNvSpPr/>
          <p:nvPr/>
        </p:nvSpPr>
        <p:spPr>
          <a:xfrm>
            <a:off x="13814112" y="5510537"/>
            <a:ext cx="4900000" cy="230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57" name="Text"/>
          <p:cNvSpPr txBox="1"/>
          <p:nvPr/>
        </p:nvSpPr>
        <p:spPr>
          <a:xfrm>
            <a:off x="13814112" y="5510537"/>
            <a:ext cx="4900000" cy="2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Но поток внутри всё равно</a:t>
            </a:r>
          </a:p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блокируется на сокете</a:t>
            </a:r>
          </a:p>
        </p:txBody>
      </p:sp>
      <p:sp>
        <p:nvSpPr>
          <p:cNvPr id="1158" name="Box"/>
          <p:cNvSpPr/>
          <p:nvPr/>
        </p:nvSpPr>
        <p:spPr>
          <a:xfrm>
            <a:off x="8214112" y="9110855"/>
            <a:ext cx="10500000" cy="11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59" name="Text"/>
          <p:cNvSpPr txBox="1"/>
          <p:nvPr/>
        </p:nvSpPr>
        <p:spPr>
          <a:xfrm>
            <a:off x="8214112" y="9110855"/>
            <a:ext cx="10500000" cy="11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Асинхронный интерфейс ≠ неблокирующая реализация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123198052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604C2E0B-142E-4D0A-A052-11EF8827C53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12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AB4558-0874-4C15-BCCA-A176243C26C3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1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C10K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0B1B6-9296-4385-A19E-7216ACB9C0E5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Небольшой исторический экскурс</a:t>
            </a:r>
          </a:p>
        </p:txBody>
      </p:sp>
    </p:spTree>
    <p:extLst>
      <p:ext uri="{BB962C8B-B14F-4D97-AF65-F5344CB8AC3E}">
        <p14:creationId xmlns:p14="http://schemas.microsoft.com/office/powerpoint/2010/main" val="46543771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4" name="Slide copy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9799300" cy="111601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CE8261-500E-0FCF-06B7-28DBCF1BA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0" y="10766425"/>
            <a:ext cx="73025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0337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14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175" name="Title"/>
          <p:cNvSpPr txBox="1"/>
          <p:nvPr/>
        </p:nvSpPr>
        <p:spPr>
          <a:xfrm>
            <a:off x="611188" y="700000"/>
            <a:ext cx="6488924" cy="1451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Главный недостаток</a:t>
            </a:r>
          </a:p>
        </p:txBody>
      </p:sp>
      <p:pic>
        <p:nvPicPr>
          <p:cNvPr id="1176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761600"/>
            <a:ext cx="612000" cy="612000"/>
          </a:xfrm>
          <a:prstGeom prst="rect">
            <a:avLst/>
          </a:prstGeom>
        </p:spPr>
      </p:pic>
      <p:sp>
        <p:nvSpPr>
          <p:cNvPr id="1177" name="Text"/>
          <p:cNvSpPr txBox="1"/>
          <p:nvPr/>
        </p:nvSpPr>
        <p:spPr>
          <a:xfrm>
            <a:off x="1481188" y="2801600"/>
            <a:ext cx="5618924" cy="1631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Один поток на соединение</a:t>
            </a:r>
            <a:r>
              <a:rPr lang="ru-RU" sz="29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- единственный способ обслужить много клиентов.</a:t>
            </a:r>
          </a:p>
        </p:txBody>
      </p:sp>
      <p:pic>
        <p:nvPicPr>
          <p:cNvPr id="1178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4632656"/>
            <a:ext cx="612000" cy="612000"/>
          </a:xfrm>
          <a:prstGeom prst="rect">
            <a:avLst/>
          </a:prstGeom>
        </p:spPr>
      </p:pic>
      <p:sp>
        <p:nvSpPr>
          <p:cNvPr id="1179" name="Text"/>
          <p:cNvSpPr txBox="1"/>
          <p:nvPr/>
        </p:nvSpPr>
        <p:spPr>
          <a:xfrm>
            <a:off x="1481188" y="4672656"/>
            <a:ext cx="5618924" cy="110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9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Масштабировать приходится </a:t>
            </a:r>
            <a:r>
              <a:rPr lang="ru-RU" sz="2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только потоками</a:t>
            </a:r>
            <a:r>
              <a:rPr lang="ru-RU" sz="29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.</a:t>
            </a:r>
          </a:p>
        </p:txBody>
      </p:sp>
      <p:pic>
        <p:nvPicPr>
          <p:cNvPr id="1180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5973360"/>
            <a:ext cx="612000" cy="612000"/>
          </a:xfrm>
          <a:prstGeom prst="rect">
            <a:avLst/>
          </a:prstGeom>
        </p:spPr>
      </p:pic>
      <p:sp>
        <p:nvSpPr>
          <p:cNvPr id="1181" name="Text"/>
          <p:cNvSpPr txBox="1"/>
          <p:nvPr/>
        </p:nvSpPr>
        <p:spPr>
          <a:xfrm>
            <a:off x="1481188" y="6013360"/>
            <a:ext cx="5618924" cy="1647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9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А поток - это </a:t>
            </a:r>
            <a:r>
              <a:rPr lang="ru-RU" sz="2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очень дорого</a:t>
            </a:r>
            <a:r>
              <a:rPr lang="ru-RU" sz="29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память под стек, переключения контекста, нагрузка на планировщик.</a:t>
            </a:r>
          </a:p>
        </p:txBody>
      </p:sp>
      <p:pic>
        <p:nvPicPr>
          <p:cNvPr id="1182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25188" y="7900855"/>
            <a:ext cx="612000" cy="612000"/>
          </a:xfrm>
          <a:prstGeom prst="rect">
            <a:avLst/>
          </a:prstGeom>
        </p:spPr>
      </p:pic>
      <p:sp>
        <p:nvSpPr>
          <p:cNvPr id="1183" name="Text"/>
          <p:cNvSpPr txBox="1"/>
          <p:nvPr/>
        </p:nvSpPr>
        <p:spPr>
          <a:xfrm>
            <a:off x="1495188" y="7940855"/>
            <a:ext cx="5618924" cy="1087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9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Потоки в основном </a:t>
            </a:r>
            <a:r>
              <a:rPr lang="ru-RU" sz="2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ждут</a:t>
            </a:r>
            <a:r>
              <a:rPr lang="ru-RU" sz="29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, а платим за них как за работающих.</a:t>
            </a:r>
          </a:p>
        </p:txBody>
      </p:sp>
      <p:sp>
        <p:nvSpPr>
          <p:cNvPr id="1184" name="Box"/>
          <p:cNvSpPr/>
          <p:nvPr/>
        </p:nvSpPr>
        <p:spPr>
          <a:xfrm>
            <a:off x="8814112" y="1510537"/>
            <a:ext cx="9300000" cy="125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85" name="Text"/>
          <p:cNvSpPr txBox="1"/>
          <p:nvPr/>
        </p:nvSpPr>
        <p:spPr>
          <a:xfrm>
            <a:off x="8814112" y="1510537"/>
            <a:ext cx="9300000" cy="1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Больше соединений</a:t>
            </a:r>
          </a:p>
        </p:txBody>
      </p:sp>
      <p:cxnSp>
        <p:nvCxnSpPr>
          <p:cNvPr id="1186" name="Arrow"/>
          <p:cNvCxnSpPr/>
          <p:nvPr/>
        </p:nvCxnSpPr>
        <p:spPr>
          <a:xfrm>
            <a:off x="13464112" y="2760537"/>
            <a:ext cx="1" cy="800106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187" name="Box"/>
          <p:cNvSpPr/>
          <p:nvPr/>
        </p:nvSpPr>
        <p:spPr>
          <a:xfrm>
            <a:off x="8814112" y="3560643"/>
            <a:ext cx="9300000" cy="125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88" name="Text"/>
          <p:cNvSpPr txBox="1"/>
          <p:nvPr/>
        </p:nvSpPr>
        <p:spPr>
          <a:xfrm>
            <a:off x="8814112" y="3560643"/>
            <a:ext cx="9300000" cy="1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Больше потоков</a:t>
            </a:r>
          </a:p>
        </p:txBody>
      </p:sp>
      <p:cxnSp>
        <p:nvCxnSpPr>
          <p:cNvPr id="1189" name="Arrow"/>
          <p:cNvCxnSpPr/>
          <p:nvPr/>
        </p:nvCxnSpPr>
        <p:spPr>
          <a:xfrm>
            <a:off x="13464112" y="4810643"/>
            <a:ext cx="1" cy="800106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190" name="Box"/>
          <p:cNvSpPr/>
          <p:nvPr/>
        </p:nvSpPr>
        <p:spPr>
          <a:xfrm>
            <a:off x="8814112" y="5610749"/>
            <a:ext cx="9300000" cy="125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91" name="Text"/>
          <p:cNvSpPr txBox="1"/>
          <p:nvPr/>
        </p:nvSpPr>
        <p:spPr>
          <a:xfrm>
            <a:off x="8814112" y="5610749"/>
            <a:ext cx="9300000" cy="1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Память под стеки + переключения контекста</a:t>
            </a:r>
          </a:p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+ нагрузка на планировщик ОС</a:t>
            </a:r>
          </a:p>
        </p:txBody>
      </p:sp>
      <p:cxnSp>
        <p:nvCxnSpPr>
          <p:cNvPr id="1192" name="Arrow"/>
          <p:cNvCxnSpPr/>
          <p:nvPr/>
        </p:nvCxnSpPr>
        <p:spPr>
          <a:xfrm>
            <a:off x="13464112" y="6860749"/>
            <a:ext cx="1" cy="800106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193" name="Box"/>
          <p:cNvSpPr/>
          <p:nvPr/>
        </p:nvSpPr>
        <p:spPr>
          <a:xfrm>
            <a:off x="8814112" y="7660855"/>
            <a:ext cx="9300000" cy="125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94" name="Text"/>
          <p:cNvSpPr txBox="1"/>
          <p:nvPr/>
        </p:nvSpPr>
        <p:spPr>
          <a:xfrm>
            <a:off x="8814112" y="7660855"/>
            <a:ext cx="9300000" cy="1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Масштабирование только через потоки -</a:t>
            </a:r>
          </a:p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очень дорого</a:t>
            </a:r>
          </a:p>
        </p:txBody>
      </p:sp>
      <p:sp>
        <p:nvSpPr>
          <p:cNvPr id="1195" name="Box"/>
          <p:cNvSpPr/>
          <p:nvPr/>
        </p:nvSpPr>
        <p:spPr>
          <a:xfrm>
            <a:off x="8214112" y="9310855"/>
            <a:ext cx="10500000" cy="10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96" name="Text"/>
          <p:cNvSpPr txBox="1"/>
          <p:nvPr/>
        </p:nvSpPr>
        <p:spPr>
          <a:xfrm>
            <a:off x="8214112" y="9310855"/>
            <a:ext cx="105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Потоки почти всё время ждут сеть – то есть их утилизация очень низкая!</a:t>
            </a:r>
          </a:p>
        </p:txBody>
      </p:sp>
    </p:spTree>
    <p:extLst>
      <p:ext uri="{BB962C8B-B14F-4D97-AF65-F5344CB8AC3E}">
        <p14:creationId xmlns:p14="http://schemas.microsoft.com/office/powerpoint/2010/main" val="155203320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2662DDB-F8E3-4F20-B715-583E9F1A7C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15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745AF-BAE5-48C6-AA36-5E6302D04E30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1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Reactor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489A3-B873-4CBC-84F1-0AA3BD9DE54A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Верхнеуровнево</a:t>
            </a:r>
          </a:p>
        </p:txBody>
      </p:sp>
    </p:spTree>
    <p:extLst>
      <p:ext uri="{BB962C8B-B14F-4D97-AF65-F5344CB8AC3E}">
        <p14:creationId xmlns:p14="http://schemas.microsoft.com/office/powerpoint/2010/main" val="74409848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16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197" name="Title"/>
          <p:cNvSpPr txBox="1"/>
          <p:nvPr/>
        </p:nvSpPr>
        <p:spPr>
          <a:xfrm>
            <a:off x="611188" y="700000"/>
            <a:ext cx="6488924" cy="1451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6000" b="1" dirty="0">
                <a:solidFill>
                  <a:srgbClr val="333333"/>
                </a:solidFill>
                <a:latin typeface="T-Sans"/>
                <a:ea typeface="T-Sans"/>
              </a:rPr>
              <a:t>Reactor Pattern</a:t>
            </a:r>
          </a:p>
        </p:txBody>
      </p:sp>
      <p:pic>
        <p:nvPicPr>
          <p:cNvPr id="1198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1950137"/>
            <a:ext cx="612000" cy="612000"/>
          </a:xfrm>
          <a:prstGeom prst="rect">
            <a:avLst/>
          </a:prstGeom>
        </p:spPr>
      </p:pic>
      <p:sp>
        <p:nvSpPr>
          <p:cNvPr id="1199" name="Text"/>
          <p:cNvSpPr txBox="1"/>
          <p:nvPr/>
        </p:nvSpPr>
        <p:spPr>
          <a:xfrm>
            <a:off x="1481188" y="1990137"/>
            <a:ext cx="5618924" cy="177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1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Вместо ожидания мы </a:t>
            </a:r>
            <a:r>
              <a:rPr lang="ru-RU" sz="31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реагируем на события</a:t>
            </a:r>
            <a:r>
              <a:rPr lang="ru-RU" sz="31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, которые возникают в системе.</a:t>
            </a:r>
          </a:p>
        </p:txBody>
      </p:sp>
      <p:pic>
        <p:nvPicPr>
          <p:cNvPr id="1200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23188" y="4000537"/>
            <a:ext cx="612000" cy="612000"/>
          </a:xfrm>
          <a:prstGeom prst="rect">
            <a:avLst/>
          </a:prstGeom>
        </p:spPr>
      </p:pic>
      <p:sp>
        <p:nvSpPr>
          <p:cNvPr id="1201" name="Text"/>
          <p:cNvSpPr txBox="1"/>
          <p:nvPr/>
        </p:nvSpPr>
        <p:spPr>
          <a:xfrm>
            <a:off x="1493188" y="4040537"/>
            <a:ext cx="5618924" cy="11738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1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Потоки не зависают в ожидании ответа.</a:t>
            </a:r>
          </a:p>
        </p:txBody>
      </p:sp>
      <p:pic>
        <p:nvPicPr>
          <p:cNvPr id="1202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5498537"/>
            <a:ext cx="612000" cy="612000"/>
          </a:xfrm>
          <a:prstGeom prst="rect">
            <a:avLst/>
          </a:prstGeom>
        </p:spPr>
      </p:pic>
      <p:sp>
        <p:nvSpPr>
          <p:cNvPr id="1203" name="Text"/>
          <p:cNvSpPr txBox="1"/>
          <p:nvPr/>
        </p:nvSpPr>
        <p:spPr>
          <a:xfrm>
            <a:off x="1481188" y="5538537"/>
            <a:ext cx="5618924" cy="11738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1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Один поток</a:t>
            </a:r>
            <a:r>
              <a:rPr lang="ru-RU" sz="31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обслуживает множество соединений.</a:t>
            </a:r>
          </a:p>
        </p:txBody>
      </p:sp>
      <p:pic>
        <p:nvPicPr>
          <p:cNvPr id="1204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7036537"/>
            <a:ext cx="612000" cy="612000"/>
          </a:xfrm>
          <a:prstGeom prst="rect">
            <a:avLst/>
          </a:prstGeom>
        </p:spPr>
      </p:pic>
      <p:sp>
        <p:nvSpPr>
          <p:cNvPr id="1205" name="Text"/>
          <p:cNvSpPr txBox="1"/>
          <p:nvPr/>
        </p:nvSpPr>
        <p:spPr>
          <a:xfrm>
            <a:off x="1481188" y="7076537"/>
            <a:ext cx="5618924" cy="23077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1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Нужна </a:t>
            </a:r>
            <a:r>
              <a:rPr lang="ru-RU" sz="31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поддержка ОС</a:t>
            </a:r>
            <a:r>
              <a:rPr lang="ru-RU" sz="31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специализированные вызовы для работы с сетью.</a:t>
            </a:r>
          </a:p>
        </p:txBody>
      </p:sp>
      <p:sp>
        <p:nvSpPr>
          <p:cNvPr id="1206" name="Box"/>
          <p:cNvSpPr/>
          <p:nvPr/>
        </p:nvSpPr>
        <p:spPr>
          <a:xfrm>
            <a:off x="11514112" y="1510537"/>
            <a:ext cx="4300000" cy="11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07" name="Text"/>
          <p:cNvSpPr txBox="1"/>
          <p:nvPr/>
        </p:nvSpPr>
        <p:spPr>
          <a:xfrm>
            <a:off x="11514112" y="1510537"/>
            <a:ext cx="4300000" cy="11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700" b="1" dirty="0">
                <a:solidFill>
                  <a:srgbClr val="333333"/>
                </a:solidFill>
                <a:latin typeface="T-Sans"/>
                <a:ea typeface="T-Sans"/>
              </a:rPr>
              <a:t>Приложение</a:t>
            </a:r>
          </a:p>
          <a:p>
            <a:pPr algn="ctr">
              <a:lnSpc>
                <a:spcPct val="120000"/>
              </a:lnSpc>
            </a:pPr>
            <a:r>
              <a:rPr lang="ru-RU" sz="2700" b="1" dirty="0">
                <a:solidFill>
                  <a:srgbClr val="333333"/>
                </a:solidFill>
                <a:latin typeface="T-Sans"/>
                <a:ea typeface="T-Sans"/>
              </a:rPr>
              <a:t>основной цикл</a:t>
            </a:r>
          </a:p>
        </p:txBody>
      </p:sp>
      <p:sp>
        <p:nvSpPr>
          <p:cNvPr id="1208" name="Box"/>
          <p:cNvSpPr/>
          <p:nvPr/>
        </p:nvSpPr>
        <p:spPr>
          <a:xfrm>
            <a:off x="11514112" y="3410537"/>
            <a:ext cx="4300000" cy="150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09" name="Text"/>
          <p:cNvSpPr txBox="1"/>
          <p:nvPr/>
        </p:nvSpPr>
        <p:spPr>
          <a:xfrm>
            <a:off x="11514112" y="3410537"/>
            <a:ext cx="4300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3100" b="1" dirty="0">
                <a:solidFill>
                  <a:srgbClr val="333333"/>
                </a:solidFill>
                <a:latin typeface="T-Sans"/>
                <a:ea typeface="T-Sans"/>
              </a:rPr>
              <a:t>Реактор</a:t>
            </a:r>
          </a:p>
          <a:p>
            <a:pPr algn="ctr">
              <a:lnSpc>
                <a:spcPct val="120000"/>
              </a:lnSpc>
            </a:pPr>
            <a:r>
              <a:rPr lang="ru-RU" sz="3100" b="1" dirty="0">
                <a:solidFill>
                  <a:srgbClr val="333333"/>
                </a:solidFill>
                <a:latin typeface="T-Sans"/>
                <a:ea typeface="T-Sans"/>
              </a:rPr>
              <a:t>диспетчер</a:t>
            </a:r>
          </a:p>
        </p:txBody>
      </p:sp>
      <p:sp>
        <p:nvSpPr>
          <p:cNvPr id="1210" name="Box"/>
          <p:cNvSpPr/>
          <p:nvPr/>
        </p:nvSpPr>
        <p:spPr>
          <a:xfrm>
            <a:off x="11514112" y="6010537"/>
            <a:ext cx="4300000" cy="15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11" name="Text"/>
          <p:cNvSpPr txBox="1"/>
          <p:nvPr/>
        </p:nvSpPr>
        <p:spPr>
          <a:xfrm>
            <a:off x="11514112" y="6010537"/>
            <a:ext cx="4300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/>
                <a:ea typeface="T-Sans"/>
              </a:rPr>
              <a:t>Демультиплексор событий</a:t>
            </a:r>
          </a:p>
          <a:p>
            <a:pPr algn="ctr">
              <a:lnSpc>
                <a:spcPct val="12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/>
                <a:ea typeface="T-Sans"/>
              </a:rPr>
              <a:t>select / poll / epoll</a:t>
            </a:r>
          </a:p>
        </p:txBody>
      </p:sp>
      <p:cxnSp>
        <p:nvCxnSpPr>
          <p:cNvPr id="1212" name="Arrow"/>
          <p:cNvCxnSpPr/>
          <p:nvPr/>
        </p:nvCxnSpPr>
        <p:spPr>
          <a:xfrm>
            <a:off x="13364112" y="2610537"/>
            <a:ext cx="1" cy="80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213" name="Badge"/>
          <p:cNvSpPr/>
          <p:nvPr/>
        </p:nvSpPr>
        <p:spPr>
          <a:xfrm>
            <a:off x="13154112" y="2800537"/>
            <a:ext cx="420000" cy="420000"/>
          </a:xfrm>
          <a:prstGeom prst="ellipse">
            <a:avLst/>
          </a:prstGeom>
          <a:solidFill>
            <a:srgbClr val="FFDD2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cxnSp>
        <p:nvCxnSpPr>
          <p:cNvPr id="1214" name="Arrow"/>
          <p:cNvCxnSpPr/>
          <p:nvPr/>
        </p:nvCxnSpPr>
        <p:spPr>
          <a:xfrm>
            <a:off x="13064112" y="4910537"/>
            <a:ext cx="1" cy="110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215" name="Badge"/>
          <p:cNvSpPr/>
          <p:nvPr/>
        </p:nvSpPr>
        <p:spPr>
          <a:xfrm>
            <a:off x="12854112" y="5250537"/>
            <a:ext cx="420000" cy="420000"/>
          </a:xfrm>
          <a:prstGeom prst="ellipse">
            <a:avLst/>
          </a:prstGeom>
          <a:solidFill>
            <a:srgbClr val="FFDD2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cxnSp>
        <p:nvCxnSpPr>
          <p:cNvPr id="1216" name="Arrow"/>
          <p:cNvCxnSpPr/>
          <p:nvPr/>
        </p:nvCxnSpPr>
        <p:spPr>
          <a:xfrm flipV="1">
            <a:off x="14264112" y="4910537"/>
            <a:ext cx="1" cy="110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217" name="Badge"/>
          <p:cNvSpPr/>
          <p:nvPr/>
        </p:nvSpPr>
        <p:spPr>
          <a:xfrm>
            <a:off x="14054112" y="5250537"/>
            <a:ext cx="420000" cy="420000"/>
          </a:xfrm>
          <a:prstGeom prst="ellipse">
            <a:avLst/>
          </a:prstGeom>
          <a:solidFill>
            <a:srgbClr val="FFDD2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1218" name="Box"/>
          <p:cNvSpPr/>
          <p:nvPr/>
        </p:nvSpPr>
        <p:spPr>
          <a:xfrm>
            <a:off x="8214112" y="6110537"/>
            <a:ext cx="2600000" cy="13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19" name="Text"/>
          <p:cNvSpPr txBox="1"/>
          <p:nvPr/>
        </p:nvSpPr>
        <p:spPr>
          <a:xfrm>
            <a:off x="8214112" y="6110537"/>
            <a:ext cx="2600000" cy="1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Ресурсы</a:t>
            </a:r>
          </a:p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(сокеты)</a:t>
            </a:r>
          </a:p>
        </p:txBody>
      </p:sp>
      <p:cxnSp>
        <p:nvCxnSpPr>
          <p:cNvPr id="1220" name="Arrow"/>
          <p:cNvCxnSpPr/>
          <p:nvPr/>
        </p:nvCxnSpPr>
        <p:spPr>
          <a:xfrm>
            <a:off x="10814112" y="6760537"/>
            <a:ext cx="70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221" name="Badge"/>
          <p:cNvSpPr/>
          <p:nvPr/>
        </p:nvSpPr>
        <p:spPr>
          <a:xfrm>
            <a:off x="10954112" y="6550537"/>
            <a:ext cx="420000" cy="420000"/>
          </a:xfrm>
          <a:prstGeom prst="ellipse">
            <a:avLst/>
          </a:prstGeom>
          <a:solidFill>
            <a:srgbClr val="FFDD2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1222" name="Box"/>
          <p:cNvSpPr/>
          <p:nvPr/>
        </p:nvSpPr>
        <p:spPr>
          <a:xfrm>
            <a:off x="16314112" y="3160537"/>
            <a:ext cx="24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223" name="Text"/>
          <p:cNvSpPr txBox="1"/>
          <p:nvPr/>
        </p:nvSpPr>
        <p:spPr>
          <a:xfrm>
            <a:off x="16314112" y="3260537"/>
            <a:ext cx="2400000" cy="4726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7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Обработчики</a:t>
            </a:r>
          </a:p>
        </p:txBody>
      </p:sp>
      <p:sp>
        <p:nvSpPr>
          <p:cNvPr id="1224" name="Box"/>
          <p:cNvSpPr/>
          <p:nvPr/>
        </p:nvSpPr>
        <p:spPr>
          <a:xfrm>
            <a:off x="16464112" y="3960537"/>
            <a:ext cx="2100000" cy="8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25" name="Text"/>
          <p:cNvSpPr txBox="1"/>
          <p:nvPr/>
        </p:nvSpPr>
        <p:spPr>
          <a:xfrm>
            <a:off x="16464112" y="3960537"/>
            <a:ext cx="210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000" b="1" dirty="0">
                <a:solidFill>
                  <a:srgbClr val="333333"/>
                </a:solidFill>
                <a:latin typeface="T-Sans"/>
                <a:ea typeface="T-Sans"/>
              </a:rPr>
              <a:t>HTTP handler</a:t>
            </a:r>
          </a:p>
        </p:txBody>
      </p:sp>
      <p:sp>
        <p:nvSpPr>
          <p:cNvPr id="1226" name="Text"/>
          <p:cNvSpPr txBox="1"/>
          <p:nvPr/>
        </p:nvSpPr>
        <p:spPr>
          <a:xfrm>
            <a:off x="16314112" y="4860537"/>
            <a:ext cx="2400000" cy="824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4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+ БД, логи, ...</a:t>
            </a:r>
          </a:p>
        </p:txBody>
      </p:sp>
      <p:cxnSp>
        <p:nvCxnSpPr>
          <p:cNvPr id="1227" name="Arrow"/>
          <p:cNvCxnSpPr/>
          <p:nvPr/>
        </p:nvCxnSpPr>
        <p:spPr>
          <a:xfrm>
            <a:off x="15814112" y="4160537"/>
            <a:ext cx="50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228" name="Badge"/>
          <p:cNvSpPr/>
          <p:nvPr/>
        </p:nvSpPr>
        <p:spPr>
          <a:xfrm>
            <a:off x="15854112" y="3950537"/>
            <a:ext cx="420000" cy="420000"/>
          </a:xfrm>
          <a:prstGeom prst="ellipse">
            <a:avLst/>
          </a:prstGeom>
          <a:solidFill>
            <a:srgbClr val="FFDD2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229" name="Badge"/>
          <p:cNvSpPr/>
          <p:nvPr/>
        </p:nvSpPr>
        <p:spPr>
          <a:xfrm>
            <a:off x="18364112" y="3760537"/>
            <a:ext cx="400000" cy="400000"/>
          </a:xfrm>
          <a:prstGeom prst="ellipse">
            <a:avLst/>
          </a:prstGeom>
          <a:solidFill>
            <a:srgbClr val="E0E1E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6</a:t>
            </a:r>
          </a:p>
        </p:txBody>
      </p:sp>
      <p:sp>
        <p:nvSpPr>
          <p:cNvPr id="1230" name="Badge"/>
          <p:cNvSpPr/>
          <p:nvPr/>
        </p:nvSpPr>
        <p:spPr>
          <a:xfrm>
            <a:off x="8204112" y="8390537"/>
            <a:ext cx="440000" cy="440000"/>
          </a:xfrm>
          <a:prstGeom prst="ellipse">
            <a:avLst/>
          </a:prstGeom>
          <a:solidFill>
            <a:srgbClr val="E0E1E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231" name="Text"/>
          <p:cNvSpPr txBox="1"/>
          <p:nvPr/>
        </p:nvSpPr>
        <p:spPr>
          <a:xfrm>
            <a:off x="8814112" y="8380537"/>
            <a:ext cx="4550000" cy="4223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24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регистрирует обработчики</a:t>
            </a:r>
          </a:p>
        </p:txBody>
      </p:sp>
      <p:sp>
        <p:nvSpPr>
          <p:cNvPr id="1232" name="Badge"/>
          <p:cNvSpPr/>
          <p:nvPr/>
        </p:nvSpPr>
        <p:spPr>
          <a:xfrm>
            <a:off x="8204112" y="9030537"/>
            <a:ext cx="440000" cy="440000"/>
          </a:xfrm>
          <a:prstGeom prst="ellipse">
            <a:avLst/>
          </a:prstGeom>
          <a:solidFill>
            <a:srgbClr val="E0E1E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1233" name="Text"/>
          <p:cNvSpPr txBox="1"/>
          <p:nvPr/>
        </p:nvSpPr>
        <p:spPr>
          <a:xfrm>
            <a:off x="8814112" y="9020537"/>
            <a:ext cx="4550000" cy="4223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24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ждёт события</a:t>
            </a:r>
          </a:p>
        </p:txBody>
      </p:sp>
      <p:sp>
        <p:nvSpPr>
          <p:cNvPr id="1234" name="Badge"/>
          <p:cNvSpPr/>
          <p:nvPr/>
        </p:nvSpPr>
        <p:spPr>
          <a:xfrm>
            <a:off x="8204112" y="9670537"/>
            <a:ext cx="440000" cy="440000"/>
          </a:xfrm>
          <a:prstGeom prst="ellipse">
            <a:avLst/>
          </a:prstGeom>
          <a:solidFill>
            <a:srgbClr val="E0E1E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1235" name="Text"/>
          <p:cNvSpPr txBox="1"/>
          <p:nvPr/>
        </p:nvSpPr>
        <p:spPr>
          <a:xfrm>
            <a:off x="8814112" y="9660537"/>
            <a:ext cx="4550000" cy="4223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24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событие на ресурсе</a:t>
            </a:r>
          </a:p>
        </p:txBody>
      </p:sp>
      <p:sp>
        <p:nvSpPr>
          <p:cNvPr id="1236" name="Badge"/>
          <p:cNvSpPr/>
          <p:nvPr/>
        </p:nvSpPr>
        <p:spPr>
          <a:xfrm>
            <a:off x="13454112" y="8390537"/>
            <a:ext cx="440000" cy="440000"/>
          </a:xfrm>
          <a:prstGeom prst="ellipse">
            <a:avLst/>
          </a:prstGeom>
          <a:solidFill>
            <a:srgbClr val="E0E1E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4</a:t>
            </a:r>
          </a:p>
        </p:txBody>
      </p:sp>
      <p:sp>
        <p:nvSpPr>
          <p:cNvPr id="1237" name="Text"/>
          <p:cNvSpPr txBox="1"/>
          <p:nvPr/>
        </p:nvSpPr>
        <p:spPr>
          <a:xfrm>
            <a:off x="14064112" y="8380537"/>
            <a:ext cx="4550000" cy="4223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24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уведомляет реактор</a:t>
            </a:r>
          </a:p>
        </p:txBody>
      </p:sp>
      <p:sp>
        <p:nvSpPr>
          <p:cNvPr id="1238" name="Badge"/>
          <p:cNvSpPr/>
          <p:nvPr/>
        </p:nvSpPr>
        <p:spPr>
          <a:xfrm>
            <a:off x="13454112" y="9030537"/>
            <a:ext cx="440000" cy="440000"/>
          </a:xfrm>
          <a:prstGeom prst="ellipse">
            <a:avLst/>
          </a:prstGeom>
          <a:solidFill>
            <a:srgbClr val="E0E1E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5</a:t>
            </a:r>
          </a:p>
        </p:txBody>
      </p:sp>
      <p:sp>
        <p:nvSpPr>
          <p:cNvPr id="1239" name="Text"/>
          <p:cNvSpPr txBox="1"/>
          <p:nvPr/>
        </p:nvSpPr>
        <p:spPr>
          <a:xfrm>
            <a:off x="14064112" y="9020537"/>
            <a:ext cx="4550000" cy="4223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24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передаёт обработчику</a:t>
            </a:r>
          </a:p>
        </p:txBody>
      </p:sp>
      <p:sp>
        <p:nvSpPr>
          <p:cNvPr id="1240" name="Badge"/>
          <p:cNvSpPr/>
          <p:nvPr/>
        </p:nvSpPr>
        <p:spPr>
          <a:xfrm>
            <a:off x="13454112" y="9670537"/>
            <a:ext cx="440000" cy="440000"/>
          </a:xfrm>
          <a:prstGeom prst="ellipse">
            <a:avLst/>
          </a:prstGeom>
          <a:solidFill>
            <a:srgbClr val="E0E1E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6</a:t>
            </a:r>
          </a:p>
        </p:txBody>
      </p:sp>
      <p:sp>
        <p:nvSpPr>
          <p:cNvPr id="1241" name="Text"/>
          <p:cNvSpPr txBox="1"/>
          <p:nvPr/>
        </p:nvSpPr>
        <p:spPr>
          <a:xfrm>
            <a:off x="14064112" y="9660537"/>
            <a:ext cx="4550000" cy="4223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24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обрабатывает событие</a:t>
            </a:r>
          </a:p>
        </p:txBody>
      </p:sp>
    </p:spTree>
    <p:extLst>
      <p:ext uri="{BB962C8B-B14F-4D97-AF65-F5344CB8AC3E}">
        <p14:creationId xmlns:p14="http://schemas.microsoft.com/office/powerpoint/2010/main" val="169517662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AAD3592C-1734-4A67-9757-C003FDFF33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17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04850-51BC-4062-989F-3FCC7B9D536B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1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За счёт чего реализуется?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DABD87-E40D-4184-B8FC-8914E65BD11F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Селекторы на уровне ОС</a:t>
            </a:r>
          </a:p>
        </p:txBody>
      </p:sp>
    </p:spTree>
    <p:extLst>
      <p:ext uri="{BB962C8B-B14F-4D97-AF65-F5344CB8AC3E}">
        <p14:creationId xmlns:p14="http://schemas.microsoft.com/office/powerpoint/2010/main" val="194582927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18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242" name="Title"/>
          <p:cNvSpPr txBox="1"/>
          <p:nvPr/>
        </p:nvSpPr>
        <p:spPr>
          <a:xfrm>
            <a:off x="611188" y="700000"/>
            <a:ext cx="6488924" cy="2823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ОС умеет ждать на многих сокетах</a:t>
            </a:r>
          </a:p>
        </p:txBody>
      </p:sp>
      <p:pic>
        <p:nvPicPr>
          <p:cNvPr id="1243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904696"/>
            <a:ext cx="612000" cy="612000"/>
          </a:xfrm>
          <a:prstGeom prst="rect">
            <a:avLst/>
          </a:prstGeom>
        </p:spPr>
      </p:pic>
      <p:sp>
        <p:nvSpPr>
          <p:cNvPr id="1244" name="Text"/>
          <p:cNvSpPr txBox="1"/>
          <p:nvPr/>
        </p:nvSpPr>
        <p:spPr>
          <a:xfrm>
            <a:off x="1481188" y="2944696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Вместо «поток на сокет» - </a:t>
            </a: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один вызов ОС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.</a:t>
            </a:r>
          </a:p>
        </p:txBody>
      </p:sp>
      <p:pic>
        <p:nvPicPr>
          <p:cNvPr id="1245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4355128"/>
            <a:ext cx="612000" cy="612000"/>
          </a:xfrm>
          <a:prstGeom prst="rect">
            <a:avLst/>
          </a:prstGeom>
        </p:spPr>
      </p:pic>
      <p:sp>
        <p:nvSpPr>
          <p:cNvPr id="1246" name="Text"/>
          <p:cNvSpPr txBox="1"/>
          <p:nvPr/>
        </p:nvSpPr>
        <p:spPr>
          <a:xfrm>
            <a:off x="1495043" y="4408983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«Разбуди, когда хотя бы один из этих сокетов готов».</a:t>
            </a:r>
          </a:p>
        </p:txBody>
      </p:sp>
      <p:pic>
        <p:nvPicPr>
          <p:cNvPr id="1247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25188" y="5845560"/>
            <a:ext cx="612000" cy="612000"/>
          </a:xfrm>
          <a:prstGeom prst="rect">
            <a:avLst/>
          </a:prstGeom>
        </p:spPr>
      </p:pic>
      <p:sp>
        <p:nvSpPr>
          <p:cNvPr id="1248" name="Text"/>
          <p:cNvSpPr txBox="1"/>
          <p:nvPr/>
        </p:nvSpPr>
        <p:spPr>
          <a:xfrm>
            <a:off x="1495188" y="5885560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Какой именно вызов - зависит от ОС.</a:t>
            </a:r>
          </a:p>
        </p:txBody>
      </p:sp>
      <p:sp>
        <p:nvSpPr>
          <p:cNvPr id="1249" name="Box"/>
          <p:cNvSpPr/>
          <p:nvPr/>
        </p:nvSpPr>
        <p:spPr>
          <a:xfrm>
            <a:off x="8214112" y="5060696"/>
            <a:ext cx="2500000" cy="18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50" name="Text"/>
          <p:cNvSpPr txBox="1"/>
          <p:nvPr/>
        </p:nvSpPr>
        <p:spPr>
          <a:xfrm>
            <a:off x="8214112" y="5060696"/>
            <a:ext cx="2500000" cy="1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Процесс</a:t>
            </a:r>
          </a:p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(один поток)</a:t>
            </a:r>
          </a:p>
        </p:txBody>
      </p:sp>
      <p:sp>
        <p:nvSpPr>
          <p:cNvPr id="1251" name="Box"/>
          <p:cNvSpPr/>
          <p:nvPr/>
        </p:nvSpPr>
        <p:spPr>
          <a:xfrm>
            <a:off x="11814112" y="4460696"/>
            <a:ext cx="3900000" cy="300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52" name="Text"/>
          <p:cNvSpPr txBox="1"/>
          <p:nvPr/>
        </p:nvSpPr>
        <p:spPr>
          <a:xfrm>
            <a:off x="11814112" y="4460696"/>
            <a:ext cx="3900000" cy="3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/>
                <a:ea typeface="T-Sans"/>
              </a:rPr>
              <a:t>Операционная система</a:t>
            </a:r>
          </a:p>
          <a:p>
            <a:pPr algn="ctr">
              <a:lnSpc>
                <a:spcPct val="120000"/>
              </a:lnSpc>
            </a:pPr>
            <a:endParaRPr lang="ru-RU" sz="2400" b="1" dirty="0">
              <a:solidFill>
                <a:srgbClr val="333333"/>
              </a:solidFill>
              <a:latin typeface="T-Sans"/>
              <a:ea typeface="T-Sans"/>
            </a:endParaRPr>
          </a:p>
          <a:p>
            <a:pPr algn="ctr">
              <a:lnSpc>
                <a:spcPct val="12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/>
                <a:ea typeface="T-Sans"/>
              </a:rPr>
              <a:t>select / epoll / kqueue:</a:t>
            </a:r>
          </a:p>
          <a:p>
            <a:pPr algn="ctr">
              <a:lnSpc>
                <a:spcPct val="12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/>
                <a:ea typeface="T-Sans"/>
              </a:rPr>
              <a:t>один вызов на все</a:t>
            </a:r>
          </a:p>
          <a:p>
            <a:pPr algn="ctr">
              <a:lnSpc>
                <a:spcPct val="12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/>
                <a:ea typeface="T-Sans"/>
              </a:rPr>
              <a:t>сокеты сразу</a:t>
            </a:r>
          </a:p>
        </p:txBody>
      </p:sp>
      <p:cxnSp>
        <p:nvCxnSpPr>
          <p:cNvPr id="1253" name="Arrow"/>
          <p:cNvCxnSpPr/>
          <p:nvPr/>
        </p:nvCxnSpPr>
        <p:spPr>
          <a:xfrm>
            <a:off x="10714112" y="5960696"/>
            <a:ext cx="110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254" name="Box"/>
          <p:cNvSpPr/>
          <p:nvPr/>
        </p:nvSpPr>
        <p:spPr>
          <a:xfrm>
            <a:off x="16414112" y="3210696"/>
            <a:ext cx="2300000" cy="11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55" name="Text"/>
          <p:cNvSpPr txBox="1"/>
          <p:nvPr/>
        </p:nvSpPr>
        <p:spPr>
          <a:xfrm>
            <a:off x="16414112" y="3210696"/>
            <a:ext cx="2300000" cy="11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Сокет 1</a:t>
            </a:r>
          </a:p>
        </p:txBody>
      </p:sp>
      <p:cxnSp>
        <p:nvCxnSpPr>
          <p:cNvPr id="1256" name="Arrow"/>
          <p:cNvCxnSpPr/>
          <p:nvPr/>
        </p:nvCxnSpPr>
        <p:spPr>
          <a:xfrm flipV="1">
            <a:off x="15714112" y="3760696"/>
            <a:ext cx="700000" cy="220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257" name="Box"/>
          <p:cNvSpPr/>
          <p:nvPr/>
        </p:nvSpPr>
        <p:spPr>
          <a:xfrm>
            <a:off x="16414112" y="6110696"/>
            <a:ext cx="2300000" cy="11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58" name="Text"/>
          <p:cNvSpPr txBox="1"/>
          <p:nvPr/>
        </p:nvSpPr>
        <p:spPr>
          <a:xfrm>
            <a:off x="16414112" y="6110696"/>
            <a:ext cx="2300000" cy="11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Сокет 2</a:t>
            </a:r>
          </a:p>
        </p:txBody>
      </p:sp>
      <p:cxnSp>
        <p:nvCxnSpPr>
          <p:cNvPr id="1259" name="Arrow"/>
          <p:cNvCxnSpPr/>
          <p:nvPr/>
        </p:nvCxnSpPr>
        <p:spPr>
          <a:xfrm>
            <a:off x="15714112" y="5960696"/>
            <a:ext cx="700000" cy="70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260" name="Box"/>
          <p:cNvSpPr/>
          <p:nvPr/>
        </p:nvSpPr>
        <p:spPr>
          <a:xfrm>
            <a:off x="16414112" y="9010696"/>
            <a:ext cx="2300000" cy="11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61" name="Text"/>
          <p:cNvSpPr txBox="1"/>
          <p:nvPr/>
        </p:nvSpPr>
        <p:spPr>
          <a:xfrm>
            <a:off x="16414112" y="9010696"/>
            <a:ext cx="2300000" cy="11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Сокет 3</a:t>
            </a:r>
          </a:p>
        </p:txBody>
      </p:sp>
      <p:cxnSp>
        <p:nvCxnSpPr>
          <p:cNvPr id="1262" name="Arrow"/>
          <p:cNvCxnSpPr/>
          <p:nvPr/>
        </p:nvCxnSpPr>
        <p:spPr>
          <a:xfrm>
            <a:off x="15714112" y="5960696"/>
            <a:ext cx="700000" cy="360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</p:spTree>
    <p:extLst>
      <p:ext uri="{BB962C8B-B14F-4D97-AF65-F5344CB8AC3E}">
        <p14:creationId xmlns:p14="http://schemas.microsoft.com/office/powerpoint/2010/main" val="192327754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19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263" name="Title"/>
          <p:cNvSpPr txBox="1"/>
          <p:nvPr/>
        </p:nvSpPr>
        <p:spPr>
          <a:xfrm>
            <a:off x="611188" y="700000"/>
            <a:ext cx="6488924" cy="76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Механизмы ОС</a:t>
            </a:r>
          </a:p>
        </p:txBody>
      </p:sp>
      <p:pic>
        <p:nvPicPr>
          <p:cNvPr id="1264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075800"/>
            <a:ext cx="612000" cy="612000"/>
          </a:xfrm>
          <a:prstGeom prst="rect">
            <a:avLst/>
          </a:prstGeom>
        </p:spPr>
      </p:pic>
      <p:sp>
        <p:nvSpPr>
          <p:cNvPr id="1265" name="Text"/>
          <p:cNvSpPr txBox="1"/>
          <p:nvPr/>
        </p:nvSpPr>
        <p:spPr>
          <a:xfrm>
            <a:off x="1481188" y="2115800"/>
            <a:ext cx="5618924" cy="1795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select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и </a:t>
            </a: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poll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сканируют все сокеты при каждом вызове.</a:t>
            </a:r>
          </a:p>
        </p:txBody>
      </p:sp>
      <p:pic>
        <p:nvPicPr>
          <p:cNvPr id="1266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4111448"/>
            <a:ext cx="612000" cy="612000"/>
          </a:xfrm>
          <a:prstGeom prst="rect">
            <a:avLst/>
          </a:prstGeom>
        </p:spPr>
      </p:pic>
      <p:sp>
        <p:nvSpPr>
          <p:cNvPr id="1267" name="Text"/>
          <p:cNvSpPr txBox="1"/>
          <p:nvPr/>
        </p:nvSpPr>
        <p:spPr>
          <a:xfrm>
            <a:off x="1481188" y="4151448"/>
            <a:ext cx="5618924" cy="1795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epoll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и </a:t>
            </a: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kqueue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ядро само ведёт список готовых.</a:t>
            </a:r>
          </a:p>
        </p:txBody>
      </p:sp>
      <p:pic>
        <p:nvPicPr>
          <p:cNvPr id="1268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6147096"/>
            <a:ext cx="612000" cy="612000"/>
          </a:xfrm>
          <a:prstGeom prst="rect">
            <a:avLst/>
          </a:prstGeom>
        </p:spPr>
      </p:pic>
      <p:sp>
        <p:nvSpPr>
          <p:cNvPr id="1269" name="Text"/>
          <p:cNvSpPr txBox="1"/>
          <p:nvPr/>
        </p:nvSpPr>
        <p:spPr>
          <a:xfrm>
            <a:off x="1481188" y="6187096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Windows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IOCP - модель завершения операций.</a:t>
            </a:r>
          </a:p>
        </p:txBody>
      </p:sp>
      <p:graphicFrame>
        <p:nvGraphicFramePr>
          <p:cNvPr id="1270" name="Table"/>
          <p:cNvGraphicFramePr>
            <a:graphicFrameLocks noGrp="1"/>
          </p:cNvGraphicFramePr>
          <p:nvPr/>
        </p:nvGraphicFramePr>
        <p:xfrm>
          <a:off x="8214112" y="1510537"/>
          <a:ext cx="10500000" cy="7992864"/>
        </p:xfrm>
        <a:graphic>
          <a:graphicData uri="http://schemas.openxmlformats.org/drawingml/2006/table">
            <a:tbl>
              <a:tblPr firstRow="1"/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410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b="1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Механизм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 algn="ctr">
                      <a:solidFill>
                        <a:srgbClr val="33333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b="1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ОС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 algn="ctr">
                      <a:solidFill>
                        <a:srgbClr val="33333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b="1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Сложность на N сокетов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 algn="ctr">
                      <a:solidFill>
                        <a:srgbClr val="33333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b="1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Ограничения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 algn="ctr">
                      <a:solidFill>
                        <a:srgbClr val="33333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616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select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222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POSIX (везде)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222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O(N): ядро сканирует все сокеты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222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обычно ≤ 1024 (</a:t>
                      </a:r>
                      <a:r>
                        <a:rPr lang="ru-RU" sz="27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FD_SETSIZE</a:t>
                      </a: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)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222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821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poll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POSIX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O(N)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лимита нет, тот же линейный скан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616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epoll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Linux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O(готовых): ядро само ведёт список готовых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лимита нет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410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kqueue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BSD, macOS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как </a:t>
                      </a:r>
                      <a:r>
                        <a:rPr lang="ru-RU" sz="27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epoll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лимита нет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410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IOCP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Windows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модель завершения операций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27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-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63240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F3ED7696-86F8-4F24-9A73-9A8094F09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20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ECE0C-E44D-4DDC-9916-B9626569ACB7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1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Как это реализуется в Java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53933-62F5-4972-91C5-9866349B2083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Основные классы java.nio</a:t>
            </a:r>
          </a:p>
        </p:txBody>
      </p:sp>
    </p:spTree>
    <p:extLst>
      <p:ext uri="{BB962C8B-B14F-4D97-AF65-F5344CB8AC3E}">
        <p14:creationId xmlns:p14="http://schemas.microsoft.com/office/powerpoint/2010/main" val="156066584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21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271" name="Title"/>
          <p:cNvSpPr txBox="1"/>
          <p:nvPr/>
        </p:nvSpPr>
        <p:spPr>
          <a:xfrm>
            <a:off x="611188" y="700000"/>
            <a:ext cx="6488924" cy="2137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Классы java.nio для Reactor</a:t>
            </a:r>
          </a:p>
        </p:txBody>
      </p:sp>
      <p:pic>
        <p:nvPicPr>
          <p:cNvPr id="1272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837400"/>
            <a:ext cx="612000" cy="612000"/>
          </a:xfrm>
          <a:prstGeom prst="rect">
            <a:avLst/>
          </a:prstGeom>
        </p:spPr>
      </p:pic>
      <p:sp>
        <p:nvSpPr>
          <p:cNvPr id="1273" name="Text"/>
          <p:cNvSpPr txBox="1"/>
          <p:nvPr/>
        </p:nvSpPr>
        <p:spPr>
          <a:xfrm>
            <a:off x="1481188" y="2877400"/>
            <a:ext cx="5618924" cy="14231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 err="1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Selector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- демультиплексор: один поток ждёт готовности многих каналов.</a:t>
            </a:r>
          </a:p>
        </p:txBody>
      </p:sp>
      <p:pic>
        <p:nvPicPr>
          <p:cNvPr id="1274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4698537"/>
            <a:ext cx="612000" cy="612000"/>
          </a:xfrm>
          <a:prstGeom prst="rect">
            <a:avLst/>
          </a:prstGeom>
        </p:spPr>
      </p:pic>
      <p:sp>
        <p:nvSpPr>
          <p:cNvPr id="1275" name="Text"/>
          <p:cNvSpPr txBox="1"/>
          <p:nvPr/>
        </p:nvSpPr>
        <p:spPr>
          <a:xfrm>
            <a:off x="1481188" y="4738537"/>
            <a:ext cx="5618924" cy="99488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 err="1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SocketChannel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- ресурс; в неблокирующем режиме не ждёт.</a:t>
            </a:r>
          </a:p>
        </p:txBody>
      </p:sp>
      <p:pic>
        <p:nvPicPr>
          <p:cNvPr id="1276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6559674"/>
            <a:ext cx="612000" cy="612000"/>
          </a:xfrm>
          <a:prstGeom prst="rect">
            <a:avLst/>
          </a:prstGeom>
        </p:spPr>
      </p:pic>
      <p:sp>
        <p:nvSpPr>
          <p:cNvPr id="1277" name="Text"/>
          <p:cNvSpPr txBox="1"/>
          <p:nvPr/>
        </p:nvSpPr>
        <p:spPr>
          <a:xfrm>
            <a:off x="1481188" y="6599674"/>
            <a:ext cx="5618924" cy="99488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 err="1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SelectionKey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- регистрация канала: чего ждём и какое состояние.</a:t>
            </a:r>
          </a:p>
        </p:txBody>
      </p:sp>
      <p:pic>
        <p:nvPicPr>
          <p:cNvPr id="1278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8460811"/>
            <a:ext cx="612000" cy="612000"/>
          </a:xfrm>
          <a:prstGeom prst="rect">
            <a:avLst/>
          </a:prstGeom>
        </p:spPr>
      </p:pic>
      <p:sp>
        <p:nvSpPr>
          <p:cNvPr id="1279" name="Text"/>
          <p:cNvSpPr txBox="1"/>
          <p:nvPr/>
        </p:nvSpPr>
        <p:spPr>
          <a:xfrm>
            <a:off x="1481188" y="8500811"/>
            <a:ext cx="5618924" cy="106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 err="1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ByteBuffer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- контейнер данных канала.</a:t>
            </a:r>
          </a:p>
        </p:txBody>
      </p:sp>
      <p:sp>
        <p:nvSpPr>
          <p:cNvPr id="1280" name="Box"/>
          <p:cNvSpPr/>
          <p:nvPr/>
        </p:nvSpPr>
        <p:spPr>
          <a:xfrm>
            <a:off x="8214112" y="1510537"/>
            <a:ext cx="3500000" cy="15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81" name="Text"/>
          <p:cNvSpPr txBox="1"/>
          <p:nvPr/>
        </p:nvSpPr>
        <p:spPr>
          <a:xfrm>
            <a:off x="8214112" y="1510537"/>
            <a:ext cx="3500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700" b="1" dirty="0">
                <a:solidFill>
                  <a:srgbClr val="333333"/>
                </a:solidFill>
                <a:latin typeface="T-Sans"/>
                <a:ea typeface="T-Sans"/>
              </a:rPr>
              <a:t>SocketChannel</a:t>
            </a:r>
          </a:p>
          <a:p>
            <a:pPr algn="ctr">
              <a:lnSpc>
                <a:spcPct val="120000"/>
              </a:lnSpc>
            </a:pPr>
            <a:r>
              <a:rPr lang="ru-RU" sz="2700" b="1" dirty="0">
                <a:solidFill>
                  <a:srgbClr val="333333"/>
                </a:solidFill>
                <a:latin typeface="T-Sans"/>
                <a:ea typeface="T-Sans"/>
              </a:rPr>
              <a:t>+ ByteBuffer</a:t>
            </a:r>
          </a:p>
        </p:txBody>
      </p:sp>
      <p:sp>
        <p:nvSpPr>
          <p:cNvPr id="1282" name="Box"/>
          <p:cNvSpPr/>
          <p:nvPr/>
        </p:nvSpPr>
        <p:spPr>
          <a:xfrm>
            <a:off x="8214112" y="3410537"/>
            <a:ext cx="3500000" cy="15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83" name="Text"/>
          <p:cNvSpPr txBox="1"/>
          <p:nvPr/>
        </p:nvSpPr>
        <p:spPr>
          <a:xfrm>
            <a:off x="8214112" y="3410537"/>
            <a:ext cx="3500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700" b="1" dirty="0">
                <a:solidFill>
                  <a:srgbClr val="333333"/>
                </a:solidFill>
                <a:latin typeface="T-Sans"/>
                <a:ea typeface="T-Sans"/>
              </a:rPr>
              <a:t>SocketChannel</a:t>
            </a:r>
          </a:p>
          <a:p>
            <a:pPr algn="ctr">
              <a:lnSpc>
                <a:spcPct val="120000"/>
              </a:lnSpc>
            </a:pPr>
            <a:r>
              <a:rPr lang="ru-RU" sz="2700" b="1" dirty="0">
                <a:solidFill>
                  <a:srgbClr val="333333"/>
                </a:solidFill>
                <a:latin typeface="T-Sans"/>
                <a:ea typeface="T-Sans"/>
              </a:rPr>
              <a:t>+ ByteBuffer</a:t>
            </a:r>
          </a:p>
        </p:txBody>
      </p:sp>
      <p:sp>
        <p:nvSpPr>
          <p:cNvPr id="1284" name="Box"/>
          <p:cNvSpPr/>
          <p:nvPr/>
        </p:nvSpPr>
        <p:spPr>
          <a:xfrm>
            <a:off x="8214112" y="5310537"/>
            <a:ext cx="3500000" cy="15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85" name="Text"/>
          <p:cNvSpPr txBox="1"/>
          <p:nvPr/>
        </p:nvSpPr>
        <p:spPr>
          <a:xfrm>
            <a:off x="8214112" y="5310537"/>
            <a:ext cx="3500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700" b="1" dirty="0">
                <a:solidFill>
                  <a:srgbClr val="333333"/>
                </a:solidFill>
                <a:latin typeface="T-Sans"/>
                <a:ea typeface="T-Sans"/>
              </a:rPr>
              <a:t>SocketChannel</a:t>
            </a:r>
          </a:p>
          <a:p>
            <a:pPr algn="ctr">
              <a:lnSpc>
                <a:spcPct val="120000"/>
              </a:lnSpc>
            </a:pPr>
            <a:r>
              <a:rPr lang="ru-RU" sz="2700" b="1" dirty="0">
                <a:solidFill>
                  <a:srgbClr val="333333"/>
                </a:solidFill>
                <a:latin typeface="T-Sans"/>
                <a:ea typeface="T-Sans"/>
              </a:rPr>
              <a:t>+ ByteBuffer</a:t>
            </a:r>
          </a:p>
        </p:txBody>
      </p:sp>
      <p:sp>
        <p:nvSpPr>
          <p:cNvPr id="1286" name="Text"/>
          <p:cNvSpPr txBox="1"/>
          <p:nvPr/>
        </p:nvSpPr>
        <p:spPr>
          <a:xfrm>
            <a:off x="8214112" y="7010537"/>
            <a:ext cx="3500000" cy="4726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700" b="1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ресурсы</a:t>
            </a:r>
          </a:p>
        </p:txBody>
      </p:sp>
      <p:sp>
        <p:nvSpPr>
          <p:cNvPr id="1287" name="Box"/>
          <p:cNvSpPr/>
          <p:nvPr/>
        </p:nvSpPr>
        <p:spPr>
          <a:xfrm>
            <a:off x="12814112" y="2510537"/>
            <a:ext cx="2600000" cy="360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88" name="Text"/>
          <p:cNvSpPr txBox="1"/>
          <p:nvPr/>
        </p:nvSpPr>
        <p:spPr>
          <a:xfrm>
            <a:off x="12814112" y="2510537"/>
            <a:ext cx="2600000" cy="36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3200" b="1" dirty="0">
                <a:solidFill>
                  <a:srgbClr val="333333"/>
                </a:solidFill>
                <a:latin typeface="T-Sans"/>
                <a:ea typeface="T-Sans"/>
              </a:rPr>
              <a:t>Selector</a:t>
            </a:r>
          </a:p>
          <a:p>
            <a:pPr algn="ctr">
              <a:lnSpc>
                <a:spcPct val="120000"/>
              </a:lnSpc>
            </a:pPr>
            <a:r>
              <a:rPr lang="ru-RU" sz="3200" b="1" dirty="0">
                <a:solidFill>
                  <a:srgbClr val="333333"/>
                </a:solidFill>
                <a:latin typeface="T-Sans"/>
                <a:ea typeface="T-Sans"/>
              </a:rPr>
              <a:t>select()</a:t>
            </a:r>
          </a:p>
        </p:txBody>
      </p:sp>
      <p:sp>
        <p:nvSpPr>
          <p:cNvPr id="1289" name="Text"/>
          <p:cNvSpPr txBox="1"/>
          <p:nvPr/>
        </p:nvSpPr>
        <p:spPr>
          <a:xfrm>
            <a:off x="12814112" y="6260537"/>
            <a:ext cx="2600000" cy="8246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400" b="1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демультиплексор</a:t>
            </a:r>
          </a:p>
        </p:txBody>
      </p:sp>
      <p:cxnSp>
        <p:nvCxnSpPr>
          <p:cNvPr id="1290" name="Arrow"/>
          <p:cNvCxnSpPr/>
          <p:nvPr/>
        </p:nvCxnSpPr>
        <p:spPr>
          <a:xfrm>
            <a:off x="11714112" y="2260537"/>
            <a:ext cx="1100000" cy="205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cxnSp>
        <p:nvCxnSpPr>
          <p:cNvPr id="1291" name="Arrow"/>
          <p:cNvCxnSpPr/>
          <p:nvPr/>
        </p:nvCxnSpPr>
        <p:spPr>
          <a:xfrm>
            <a:off x="11714112" y="4160537"/>
            <a:ext cx="1100000" cy="15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cxnSp>
        <p:nvCxnSpPr>
          <p:cNvPr id="1292" name="Arrow"/>
          <p:cNvCxnSpPr/>
          <p:nvPr/>
        </p:nvCxnSpPr>
        <p:spPr>
          <a:xfrm flipV="1">
            <a:off x="11714112" y="4310537"/>
            <a:ext cx="1100000" cy="175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293" name="Box"/>
          <p:cNvSpPr/>
          <p:nvPr/>
        </p:nvSpPr>
        <p:spPr>
          <a:xfrm>
            <a:off x="16154112" y="2510537"/>
            <a:ext cx="2560000" cy="18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94" name="Text"/>
          <p:cNvSpPr txBox="1"/>
          <p:nvPr/>
        </p:nvSpPr>
        <p:spPr>
          <a:xfrm>
            <a:off x="16154112" y="2510537"/>
            <a:ext cx="2560000" cy="1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/>
                <a:ea typeface="T-Sans"/>
              </a:rPr>
              <a:t>SelectionKey:</a:t>
            </a:r>
          </a:p>
          <a:p>
            <a:pPr algn="ctr">
              <a:lnSpc>
                <a:spcPct val="12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/>
                <a:ea typeface="T-Sans"/>
              </a:rPr>
              <a:t>готовые каналы</a:t>
            </a:r>
          </a:p>
        </p:txBody>
      </p:sp>
      <p:cxnSp>
        <p:nvCxnSpPr>
          <p:cNvPr id="1295" name="Arrow"/>
          <p:cNvCxnSpPr/>
          <p:nvPr/>
        </p:nvCxnSpPr>
        <p:spPr>
          <a:xfrm flipV="1">
            <a:off x="15414112" y="3410537"/>
            <a:ext cx="740000" cy="40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296" name="Box"/>
          <p:cNvSpPr/>
          <p:nvPr/>
        </p:nvSpPr>
        <p:spPr>
          <a:xfrm>
            <a:off x="16154112" y="5510537"/>
            <a:ext cx="2560000" cy="180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97" name="Text"/>
          <p:cNvSpPr txBox="1"/>
          <p:nvPr/>
        </p:nvSpPr>
        <p:spPr>
          <a:xfrm>
            <a:off x="16154112" y="5510537"/>
            <a:ext cx="2560000" cy="1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500" b="1" dirty="0">
                <a:solidFill>
                  <a:srgbClr val="333333"/>
                </a:solidFill>
                <a:latin typeface="T-Sans"/>
                <a:ea typeface="T-Sans"/>
              </a:rPr>
              <a:t>Цикл событий</a:t>
            </a:r>
          </a:p>
          <a:p>
            <a:pPr algn="ctr">
              <a:lnSpc>
                <a:spcPct val="120000"/>
              </a:lnSpc>
            </a:pPr>
            <a:r>
              <a:rPr lang="ru-RU" sz="2500" b="1" dirty="0">
                <a:solidFill>
                  <a:srgbClr val="333333"/>
                </a:solidFill>
                <a:latin typeface="T-Sans"/>
                <a:ea typeface="T-Sans"/>
              </a:rPr>
              <a:t>+ обработчики</a:t>
            </a:r>
          </a:p>
        </p:txBody>
      </p:sp>
      <p:cxnSp>
        <p:nvCxnSpPr>
          <p:cNvPr id="1298" name="Arrow"/>
          <p:cNvCxnSpPr/>
          <p:nvPr/>
        </p:nvCxnSpPr>
        <p:spPr>
          <a:xfrm>
            <a:off x="17434112" y="4310537"/>
            <a:ext cx="1" cy="120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cxnSp>
        <p:nvCxnSpPr>
          <p:cNvPr id="1299" name="Arrow"/>
          <p:cNvCxnSpPr/>
          <p:nvPr/>
        </p:nvCxnSpPr>
        <p:spPr>
          <a:xfrm flipH="1" flipV="1">
            <a:off x="15414112" y="5610537"/>
            <a:ext cx="740000" cy="800000"/>
          </a:xfrm>
          <a:prstGeom prst="straightConnector1">
            <a:avLst/>
          </a:prstGeom>
          <a:ln w="25400">
            <a:solidFill>
              <a:srgbClr val="333333"/>
            </a:solidFill>
            <a:prstDash val="dash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300" name="Text"/>
          <p:cNvSpPr txBox="1"/>
          <p:nvPr/>
        </p:nvSpPr>
        <p:spPr>
          <a:xfrm>
            <a:off x="16154112" y="7460537"/>
            <a:ext cx="2560000" cy="4726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700" b="1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реактор</a:t>
            </a:r>
          </a:p>
        </p:txBody>
      </p:sp>
    </p:spTree>
    <p:extLst>
      <p:ext uri="{BB962C8B-B14F-4D97-AF65-F5344CB8AC3E}">
        <p14:creationId xmlns:p14="http://schemas.microsoft.com/office/powerpoint/2010/main" val="131302618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" name="Box"/>
          <p:cNvSpPr/>
          <p:nvPr/>
        </p:nvSpPr>
        <p:spPr>
          <a:xfrm>
            <a:off x="27710" y="332509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D6E79E-906A-45DD-9C23-ADAC28A79232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Цена Reactor</a:t>
            </a:r>
          </a:p>
        </p:txBody>
      </p:sp>
      <p:sp>
        <p:nvSpPr>
          <p:cNvPr id="1304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05" name="Скругленный прямоугольник 2">
            <a:extLst>
              <a:ext uri="{FF2B5EF4-FFF2-40B4-BE49-F238E27FC236}">
                <a16:creationId xmlns:a16="http://schemas.microsoft.com/office/drawing/2014/main" id="{F9B64A24-7E8C-4166-A749-D193ED2A86C8}"/>
              </a:ext>
            </a:extLst>
          </p:cNvPr>
          <p:cNvSpPr/>
          <p:nvPr/>
        </p:nvSpPr>
        <p:spPr>
          <a:xfrm>
            <a:off x="611187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06" name="TextBox 16">
            <a:extLst>
              <a:ext uri="{FF2B5EF4-FFF2-40B4-BE49-F238E27FC236}">
                <a16:creationId xmlns:a16="http://schemas.microsoft.com/office/drawing/2014/main" id="{5ADCC99F-E93E-47D2-B93F-9324F29DEF1A}"/>
              </a:ext>
            </a:extLst>
          </p:cNvPr>
          <p:cNvSpPr txBox="1"/>
          <p:nvPr/>
        </p:nvSpPr>
        <p:spPr>
          <a:xfrm>
            <a:off x="1175338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Код сложнее</a:t>
            </a:r>
          </a:p>
        </p:txBody>
      </p:sp>
      <p:sp>
        <p:nvSpPr>
          <p:cNvPr id="1307" name="TextBox 15">
            <a:extLst>
              <a:ext uri="{FF2B5EF4-FFF2-40B4-BE49-F238E27FC236}">
                <a16:creationId xmlns:a16="http://schemas.microsoft.com/office/drawing/2014/main" id="{6FDBED7D-460B-417E-B66E-F5C305B87C5D}"/>
              </a:ext>
            </a:extLst>
          </p:cNvPr>
          <p:cNvSpPr txBox="1"/>
          <p:nvPr/>
        </p:nvSpPr>
        <p:spPr>
          <a:xfrm>
            <a:off x="1175338" y="7725862"/>
            <a:ext cx="4889645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Асинхронную логику труднее читать и отлаживать.</a:t>
            </a:r>
          </a:p>
        </p:txBody>
      </p:sp>
      <p:sp>
        <p:nvSpPr>
          <p:cNvPr id="1308" name="Скругленный прямоугольник 3">
            <a:extLst>
              <a:ext uri="{FF2B5EF4-FFF2-40B4-BE49-F238E27FC236}">
                <a16:creationId xmlns:a16="http://schemas.microsoft.com/office/drawing/2014/main" id="{AB129F46-BE58-4430-968B-CD876A877F22}"/>
              </a:ext>
            </a:extLst>
          </p:cNvPr>
          <p:cNvSpPr/>
          <p:nvPr/>
        </p:nvSpPr>
        <p:spPr>
          <a:xfrm>
            <a:off x="6890676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09" name="TextBox 12">
            <a:extLst>
              <a:ext uri="{FF2B5EF4-FFF2-40B4-BE49-F238E27FC236}">
                <a16:creationId xmlns:a16="http://schemas.microsoft.com/office/drawing/2014/main" id="{EDA48874-5749-4D39-B43A-CB3D48BAFC54}"/>
              </a:ext>
            </a:extLst>
          </p:cNvPr>
          <p:cNvSpPr txBox="1"/>
          <p:nvPr/>
        </p:nvSpPr>
        <p:spPr>
          <a:xfrm>
            <a:off x="7454827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Цикл нельзя блокировать</a:t>
            </a:r>
          </a:p>
        </p:txBody>
      </p:sp>
      <p:sp>
        <p:nvSpPr>
          <p:cNvPr id="1310" name="TextBox 11">
            <a:extLst>
              <a:ext uri="{FF2B5EF4-FFF2-40B4-BE49-F238E27FC236}">
                <a16:creationId xmlns:a16="http://schemas.microsoft.com/office/drawing/2014/main" id="{53CE9EA5-BF3A-48D3-8B89-A8D82FD5540A}"/>
              </a:ext>
            </a:extLst>
          </p:cNvPr>
          <p:cNvSpPr txBox="1"/>
          <p:nvPr/>
        </p:nvSpPr>
        <p:spPr>
          <a:xfrm>
            <a:off x="7454827" y="7725862"/>
            <a:ext cx="4889645" cy="17070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Тяжёлую работу - в отдельный пул, иначе встанут все соединения.</a:t>
            </a:r>
          </a:p>
        </p:txBody>
      </p:sp>
      <p:sp>
        <p:nvSpPr>
          <p:cNvPr id="1311" name="Скругленный прямоугольник 3">
            <a:extLst>
              <a:ext uri="{FF2B5EF4-FFF2-40B4-BE49-F238E27FC236}">
                <a16:creationId xmlns:a16="http://schemas.microsoft.com/office/drawing/2014/main" id="{B005EDF0-9F64-4FC5-AFE1-AB23F6D1095C}"/>
              </a:ext>
            </a:extLst>
          </p:cNvPr>
          <p:cNvSpPr/>
          <p:nvPr/>
        </p:nvSpPr>
        <p:spPr>
          <a:xfrm>
            <a:off x="13170165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12" name="TextBox 12">
            <a:extLst>
              <a:ext uri="{FF2B5EF4-FFF2-40B4-BE49-F238E27FC236}">
                <a16:creationId xmlns:a16="http://schemas.microsoft.com/office/drawing/2014/main" id="{64CD5E8F-830C-4A79-808C-3DA6E1FCEF18}"/>
              </a:ext>
            </a:extLst>
          </p:cNvPr>
          <p:cNvSpPr txBox="1"/>
          <p:nvPr/>
        </p:nvSpPr>
        <p:spPr>
          <a:xfrm>
            <a:off x="13734316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Всё делаем сами</a:t>
            </a:r>
          </a:p>
        </p:txBody>
      </p:sp>
      <p:sp>
        <p:nvSpPr>
          <p:cNvPr id="1313" name="TextBox 11">
            <a:extLst>
              <a:ext uri="{FF2B5EF4-FFF2-40B4-BE49-F238E27FC236}">
                <a16:creationId xmlns:a16="http://schemas.microsoft.com/office/drawing/2014/main" id="{265F2C5D-A730-40D3-AD03-8DB2C44EB6B8}"/>
              </a:ext>
            </a:extLst>
          </p:cNvPr>
          <p:cNvSpPr txBox="1"/>
          <p:nvPr/>
        </p:nvSpPr>
        <p:spPr>
          <a:xfrm>
            <a:off x="13734316" y="7725862"/>
            <a:ext cx="4889645" cy="11268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Таймауты, keep-alive, TLS и граничные случаи - на нас.</a:t>
            </a:r>
          </a:p>
        </p:txBody>
      </p:sp>
      <p:pic>
        <p:nvPicPr>
          <p:cNvPr id="1314" name="Icon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75338" y="4414838"/>
            <a:ext cx="889000" cy="889000"/>
          </a:xfrm>
          <a:prstGeom prst="rect">
            <a:avLst/>
          </a:prstGeom>
        </p:spPr>
      </p:pic>
      <p:pic>
        <p:nvPicPr>
          <p:cNvPr id="1315" name="Icon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454827" y="4414838"/>
            <a:ext cx="889000" cy="889000"/>
          </a:xfrm>
          <a:prstGeom prst="rect">
            <a:avLst/>
          </a:prstGeom>
        </p:spPr>
      </p:pic>
      <p:pic>
        <p:nvPicPr>
          <p:cNvPr id="1316" name="Icon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3734316" y="4414838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99403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965DC001-6F88-400C-B203-4FAE4A1131B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3E9BCE-509D-44F4-835F-BB939A453908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1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Реализация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0AA52E-07BB-4412-AF61-585A44AAF646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Reactor на Selector: смотрим в IDE</a:t>
            </a:r>
          </a:p>
        </p:txBody>
      </p:sp>
    </p:spTree>
    <p:extLst>
      <p:ext uri="{BB962C8B-B14F-4D97-AF65-F5344CB8AC3E}">
        <p14:creationId xmlns:p14="http://schemas.microsoft.com/office/powerpoint/2010/main" val="204538903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607EA1AD-01E4-47D4-AEA9-E97DACAA06E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24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3AFB5-F708-4A7B-B3BA-4F3D360E835F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1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HttpClient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A71CDF-3E0E-4D60-9547-B47CA188DB1F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HttpClient и HttpURLConnection: такие близкие, но при этом такие разные!</a:t>
            </a:r>
          </a:p>
        </p:txBody>
      </p:sp>
    </p:spTree>
    <p:extLst>
      <p:ext uri="{BB962C8B-B14F-4D97-AF65-F5344CB8AC3E}">
        <p14:creationId xmlns:p14="http://schemas.microsoft.com/office/powerpoint/2010/main" val="73183922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25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317" name="Title"/>
          <p:cNvSpPr txBox="1"/>
          <p:nvPr/>
        </p:nvSpPr>
        <p:spPr>
          <a:xfrm>
            <a:off x="611188" y="700000"/>
            <a:ext cx="6488924" cy="2137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Самостоятельно реализовывать </a:t>
            </a:r>
            <a:r>
              <a:rPr lang="en-US" sz="5400" b="1" dirty="0">
                <a:solidFill>
                  <a:srgbClr val="333333"/>
                </a:solidFill>
                <a:latin typeface="T-Sans"/>
                <a:ea typeface="T-Sans"/>
              </a:rPr>
              <a:t>Reactor </a:t>
            </a:r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не нужно!</a:t>
            </a:r>
          </a:p>
        </p:txBody>
      </p:sp>
      <p:pic>
        <p:nvPicPr>
          <p:cNvPr id="1318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3710537"/>
            <a:ext cx="612000" cy="612000"/>
          </a:xfrm>
          <a:prstGeom prst="rect">
            <a:avLst/>
          </a:prstGeom>
        </p:spPr>
      </p:pic>
      <p:sp>
        <p:nvSpPr>
          <p:cNvPr id="1319" name="Text"/>
          <p:cNvSpPr txBox="1"/>
          <p:nvPr/>
        </p:nvSpPr>
        <p:spPr>
          <a:xfrm>
            <a:off x="1481188" y="3750537"/>
            <a:ext cx="5618924" cy="11563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Всё, что мы реализовали, </a:t>
            </a:r>
            <a:r>
              <a:rPr lang="ru-RU" sz="2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уже есть в JDK</a:t>
            </a: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</a:t>
            </a:r>
            <a:r>
              <a:rPr lang="ru-RU" sz="2800" dirty="0">
                <a:solidFill>
                  <a:srgbClr val="9B3D00"/>
                </a:solidFill>
                <a:latin typeface="JetBrains Mono Medium" pitchFamily="49" charset="0"/>
                <a:ea typeface="JetBrains Mono Medium" pitchFamily="49" charset="0"/>
              </a:rPr>
              <a:t>HttpClient</a:t>
            </a: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с версии 11.</a:t>
            </a:r>
          </a:p>
        </p:txBody>
      </p:sp>
      <p:pic>
        <p:nvPicPr>
          <p:cNvPr id="1320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5150870"/>
            <a:ext cx="612000" cy="612000"/>
          </a:xfrm>
          <a:prstGeom prst="rect">
            <a:avLst/>
          </a:prstGeom>
        </p:spPr>
      </p:pic>
      <p:sp>
        <p:nvSpPr>
          <p:cNvPr id="1321" name="Text"/>
          <p:cNvSpPr txBox="1"/>
          <p:nvPr/>
        </p:nvSpPr>
        <p:spPr>
          <a:xfrm>
            <a:off x="1481188" y="5190870"/>
            <a:ext cx="5618924" cy="1212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Под капотом - </a:t>
            </a:r>
            <a:r>
              <a:rPr lang="ru-RU" sz="28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цикл событий на Selector</a:t>
            </a: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, как в нашем Reactor.</a:t>
            </a:r>
          </a:p>
        </p:txBody>
      </p:sp>
      <p:pic>
        <p:nvPicPr>
          <p:cNvPr id="1324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6687700"/>
            <a:ext cx="612000" cy="612000"/>
          </a:xfrm>
          <a:prstGeom prst="rect">
            <a:avLst/>
          </a:prstGeom>
        </p:spPr>
      </p:pic>
      <p:sp>
        <p:nvSpPr>
          <p:cNvPr id="1325" name="Text"/>
          <p:cNvSpPr txBox="1"/>
          <p:nvPr/>
        </p:nvSpPr>
        <p:spPr>
          <a:xfrm>
            <a:off x="1481188" y="6727700"/>
            <a:ext cx="6114924" cy="1603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Из коробки умеет </a:t>
            </a:r>
            <a:r>
              <a:rPr lang="ru-RU" sz="2800" dirty="0" err="1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пулировать</a:t>
            </a: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соединения – как для </a:t>
            </a:r>
            <a:r>
              <a:rPr lang="en-US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HTTP/1.1, </a:t>
            </a: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так и для </a:t>
            </a:r>
            <a:r>
              <a:rPr lang="en-US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HTTP/2 </a:t>
            </a: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с его </a:t>
            </a:r>
            <a:r>
              <a:rPr lang="ru-RU" sz="2800" dirty="0" err="1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мультиплексировнаием</a:t>
            </a: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!</a:t>
            </a:r>
          </a:p>
        </p:txBody>
      </p:sp>
      <p:sp>
        <p:nvSpPr>
          <p:cNvPr id="1326" name="Box"/>
          <p:cNvSpPr/>
          <p:nvPr/>
        </p:nvSpPr>
        <p:spPr>
          <a:xfrm>
            <a:off x="8214112" y="2110537"/>
            <a:ext cx="2700000" cy="32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27" name="Text"/>
          <p:cNvSpPr txBox="1"/>
          <p:nvPr/>
        </p:nvSpPr>
        <p:spPr>
          <a:xfrm>
            <a:off x="8214112" y="2110537"/>
            <a:ext cx="2700000" cy="32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Ваш код</a:t>
            </a:r>
          </a:p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sendAsync(...)</a:t>
            </a:r>
          </a:p>
        </p:txBody>
      </p:sp>
      <p:sp>
        <p:nvSpPr>
          <p:cNvPr id="1328" name="Box"/>
          <p:cNvSpPr/>
          <p:nvPr/>
        </p:nvSpPr>
        <p:spPr>
          <a:xfrm>
            <a:off x="11614112" y="2110537"/>
            <a:ext cx="3900000" cy="320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29" name="Text"/>
          <p:cNvSpPr txBox="1"/>
          <p:nvPr/>
        </p:nvSpPr>
        <p:spPr>
          <a:xfrm>
            <a:off x="11614112" y="2110537"/>
            <a:ext cx="3900000" cy="32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HttpClient</a:t>
            </a:r>
          </a:p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цикл событий</a:t>
            </a:r>
          </a:p>
          <a:p>
            <a:pPr algn="ctr">
              <a:lnSpc>
                <a:spcPct val="12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/>
                <a:ea typeface="T-Sans"/>
              </a:rPr>
              <a:t>на Selector</a:t>
            </a:r>
          </a:p>
        </p:txBody>
      </p:sp>
      <p:sp>
        <p:nvSpPr>
          <p:cNvPr id="1330" name="Box"/>
          <p:cNvSpPr/>
          <p:nvPr/>
        </p:nvSpPr>
        <p:spPr>
          <a:xfrm>
            <a:off x="16214112" y="2110537"/>
            <a:ext cx="2500000" cy="320000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31" name="Text"/>
          <p:cNvSpPr txBox="1"/>
          <p:nvPr/>
        </p:nvSpPr>
        <p:spPr>
          <a:xfrm>
            <a:off x="16214112" y="2110537"/>
            <a:ext cx="2500000" cy="32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Соединения</a:t>
            </a:r>
          </a:p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(сокеты)</a:t>
            </a:r>
          </a:p>
        </p:txBody>
      </p:sp>
      <p:cxnSp>
        <p:nvCxnSpPr>
          <p:cNvPr id="1332" name="Arrow"/>
          <p:cNvCxnSpPr/>
          <p:nvPr/>
        </p:nvCxnSpPr>
        <p:spPr>
          <a:xfrm>
            <a:off x="10914112" y="3310537"/>
            <a:ext cx="70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cxnSp>
        <p:nvCxnSpPr>
          <p:cNvPr id="1333" name="Arrow"/>
          <p:cNvCxnSpPr/>
          <p:nvPr/>
        </p:nvCxnSpPr>
        <p:spPr>
          <a:xfrm>
            <a:off x="15514112" y="3710537"/>
            <a:ext cx="70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dash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cxnSp>
        <p:nvCxnSpPr>
          <p:cNvPr id="1334" name="Arrow"/>
          <p:cNvCxnSpPr/>
          <p:nvPr/>
        </p:nvCxnSpPr>
        <p:spPr>
          <a:xfrm flipH="1">
            <a:off x="10914112" y="4310537"/>
            <a:ext cx="70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dash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335" name="Text"/>
          <p:cNvSpPr txBox="1"/>
          <p:nvPr/>
        </p:nvSpPr>
        <p:spPr>
          <a:xfrm>
            <a:off x="8214112" y="5810537"/>
            <a:ext cx="10500000" cy="5061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Ровно то, что мы только что писали руками</a:t>
            </a:r>
          </a:p>
        </p:txBody>
      </p:sp>
      <p:sp>
        <p:nvSpPr>
          <p:cNvPr id="1336" name="Box"/>
          <p:cNvSpPr/>
          <p:nvPr/>
        </p:nvSpPr>
        <p:spPr>
          <a:xfrm>
            <a:off x="8214112" y="7610855"/>
            <a:ext cx="10500000" cy="11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37" name="Text"/>
          <p:cNvSpPr txBox="1"/>
          <p:nvPr/>
        </p:nvSpPr>
        <p:spPr>
          <a:xfrm>
            <a:off x="8214112" y="7610855"/>
            <a:ext cx="10500000" cy="11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/>
                <a:ea typeface="T-Sans"/>
              </a:rPr>
              <a:t>send() - блокирующая обёртка для вызывающего потока, sendAsync() - результат придёт в CompletableFuture</a:t>
            </a:r>
          </a:p>
        </p:txBody>
      </p:sp>
      <p:sp>
        <p:nvSpPr>
          <p:cNvPr id="1338" name="Box"/>
          <p:cNvSpPr/>
          <p:nvPr/>
        </p:nvSpPr>
        <p:spPr>
          <a:xfrm>
            <a:off x="8214112" y="8910855"/>
            <a:ext cx="10500000" cy="130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39" name="Text"/>
          <p:cNvSpPr txBox="1"/>
          <p:nvPr/>
        </p:nvSpPr>
        <p:spPr>
          <a:xfrm>
            <a:off x="8214112" y="8910855"/>
            <a:ext cx="10500000" cy="13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Совместим с виртуальными потоками!</a:t>
            </a:r>
          </a:p>
        </p:txBody>
      </p:sp>
      <p:pic>
        <p:nvPicPr>
          <p:cNvPr id="6" name="Check">
            <a:extLst>
              <a:ext uri="{FF2B5EF4-FFF2-40B4-BE49-F238E27FC236}">
                <a16:creationId xmlns:a16="http://schemas.microsoft.com/office/drawing/2014/main" id="{70CF6387-FAA5-1AA2-DE16-F35C34E19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11188" y="8655387"/>
            <a:ext cx="612000" cy="612000"/>
          </a:xfrm>
          <a:prstGeom prst="rect">
            <a:avLst/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ABA564A7-C78C-B403-7014-10D65EF71B18}"/>
              </a:ext>
            </a:extLst>
          </p:cNvPr>
          <p:cNvSpPr txBox="1"/>
          <p:nvPr/>
        </p:nvSpPr>
        <p:spPr bwMode="auto">
          <a:xfrm>
            <a:off x="1481188" y="8695387"/>
            <a:ext cx="5618924" cy="10197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8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Дружит с виртуальными потоками, но про это – позже!</a:t>
            </a:r>
          </a:p>
        </p:txBody>
      </p:sp>
    </p:spTree>
    <p:extLst>
      <p:ext uri="{BB962C8B-B14F-4D97-AF65-F5344CB8AC3E}">
        <p14:creationId xmlns:p14="http://schemas.microsoft.com/office/powerpoint/2010/main" val="123275544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26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340" name="Title"/>
          <p:cNvSpPr txBox="1"/>
          <p:nvPr/>
        </p:nvSpPr>
        <p:spPr>
          <a:xfrm>
            <a:off x="611188" y="700000"/>
            <a:ext cx="6488924" cy="1451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Создание и настройка</a:t>
            </a:r>
          </a:p>
        </p:txBody>
      </p:sp>
      <p:pic>
        <p:nvPicPr>
          <p:cNvPr id="1341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761600"/>
            <a:ext cx="612000" cy="612000"/>
          </a:xfrm>
          <a:prstGeom prst="rect">
            <a:avLst/>
          </a:prstGeom>
        </p:spPr>
      </p:pic>
      <p:sp>
        <p:nvSpPr>
          <p:cNvPr id="1342" name="Text"/>
          <p:cNvSpPr txBox="1"/>
          <p:nvPr/>
        </p:nvSpPr>
        <p:spPr>
          <a:xfrm>
            <a:off x="1481188" y="2801600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Клиент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- один на приложение</a:t>
            </a:r>
            <a:r>
              <a:rPr lang="en-US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*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, потокобезопасный.</a:t>
            </a:r>
          </a:p>
        </p:txBody>
      </p:sp>
      <p:pic>
        <p:nvPicPr>
          <p:cNvPr id="1343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4178640"/>
            <a:ext cx="612000" cy="612000"/>
          </a:xfrm>
          <a:prstGeom prst="rect">
            <a:avLst/>
          </a:prstGeom>
        </p:spPr>
      </p:pic>
      <p:sp>
        <p:nvSpPr>
          <p:cNvPr id="1344" name="Text"/>
          <p:cNvSpPr txBox="1"/>
          <p:nvPr/>
        </p:nvSpPr>
        <p:spPr>
          <a:xfrm>
            <a:off x="1481188" y="4218640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Запрос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- неизменяемый, собирается билдером.</a:t>
            </a:r>
          </a:p>
        </p:txBody>
      </p:sp>
      <p:pic>
        <p:nvPicPr>
          <p:cNvPr id="1345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5635680"/>
            <a:ext cx="612000" cy="612000"/>
          </a:xfrm>
          <a:prstGeom prst="rect">
            <a:avLst/>
          </a:prstGeom>
        </p:spPr>
      </p:pic>
      <p:sp>
        <p:nvSpPr>
          <p:cNvPr id="1346" name="Text"/>
          <p:cNvSpPr txBox="1"/>
          <p:nvPr/>
        </p:nvSpPr>
        <p:spPr>
          <a:xfrm>
            <a:off x="1481188" y="5675680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Таймауты - на соединение и на запрос.</a:t>
            </a:r>
          </a:p>
        </p:txBody>
      </p:sp>
      <p:sp>
        <p:nvSpPr>
          <p:cNvPr id="1347" name="Code"/>
          <p:cNvSpPr txBox="1"/>
          <p:nvPr/>
        </p:nvSpPr>
        <p:spPr>
          <a:xfrm>
            <a:off x="8214112" y="1510537"/>
            <a:ext cx="10500000" cy="644372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HttpClient client = HttpClient</a:t>
            </a:r>
          </a:p>
          <a:p>
            <a:pPr algn="l">
              <a:lnSpc>
                <a:spcPct val="112000"/>
              </a:lnSpc>
            </a:pP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       .</a:t>
            </a:r>
            <a:r>
              <a:rPr lang="ru-RU" sz="34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newBuilder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()</a:t>
            </a:r>
          </a:p>
          <a:p>
            <a:pPr algn="l">
              <a:lnSpc>
                <a:spcPct val="112000"/>
              </a:lnSpc>
            </a:pP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       .</a:t>
            </a:r>
            <a:r>
              <a:rPr lang="ru-RU" sz="34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connectTimeout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</a:t>
            </a:r>
            <a:r>
              <a:rPr lang="ru-RU" sz="34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ofSeconds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</a:t>
            </a:r>
            <a:r>
              <a:rPr lang="ru-RU" sz="3400" dirty="0">
                <a:solidFill>
                  <a:srgbClr val="1750EB"/>
                </a:solidFill>
                <a:latin typeface="JetBrains Mono Medium" pitchFamily="49" charset="0"/>
                <a:ea typeface="JetBrains Mono Medium" pitchFamily="49" charset="0"/>
              </a:rPr>
              <a:t>2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))</a:t>
            </a:r>
          </a:p>
          <a:p>
            <a:pPr algn="l">
              <a:lnSpc>
                <a:spcPct val="112000"/>
              </a:lnSpc>
            </a:pP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       .</a:t>
            </a:r>
            <a:r>
              <a:rPr lang="ru-RU" sz="34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build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();</a:t>
            </a:r>
          </a:p>
          <a:p>
            <a:pPr algn="l">
              <a:lnSpc>
                <a:spcPct val="112000"/>
              </a:lnSpc>
            </a:pPr>
            <a:endParaRPr lang="en-US" sz="3400"/>
          </a:p>
          <a:p>
            <a:pPr algn="l">
              <a:lnSpc>
                <a:spcPct val="112000"/>
              </a:lnSpc>
            </a:pP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HttpRequest request = HttpRequest</a:t>
            </a:r>
          </a:p>
          <a:p>
            <a:pPr algn="l">
              <a:lnSpc>
                <a:spcPct val="112000"/>
              </a:lnSpc>
            </a:pP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       .</a:t>
            </a:r>
            <a:r>
              <a:rPr lang="ru-RU" sz="34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newBuilder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(URI.</a:t>
            </a:r>
            <a:r>
              <a:rPr lang="ru-RU" sz="34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create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(fullUrl))</a:t>
            </a:r>
          </a:p>
          <a:p>
            <a:pPr algn="l">
              <a:lnSpc>
                <a:spcPct val="112000"/>
              </a:lnSpc>
            </a:pP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       .</a:t>
            </a:r>
            <a:r>
              <a:rPr lang="ru-RU" sz="34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timeout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</a:t>
            </a:r>
            <a:r>
              <a:rPr lang="ru-RU" sz="34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ofSeconds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</a:t>
            </a:r>
            <a:r>
              <a:rPr lang="ru-RU" sz="3400" dirty="0">
                <a:solidFill>
                  <a:srgbClr val="1750EB"/>
                </a:solidFill>
                <a:latin typeface="JetBrains Mono Medium" pitchFamily="49" charset="0"/>
                <a:ea typeface="JetBrains Mono Medium" pitchFamily="49" charset="0"/>
              </a:rPr>
              <a:t>5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))</a:t>
            </a:r>
          </a:p>
          <a:p>
            <a:pPr algn="l">
              <a:lnSpc>
                <a:spcPct val="112000"/>
              </a:lnSpc>
            </a:pP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       .</a:t>
            </a:r>
            <a:r>
              <a:rPr lang="ru-RU" sz="34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header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</a:t>
            </a:r>
            <a:r>
              <a:rPr lang="ru-RU" sz="3400" dirty="0">
                <a:solidFill>
                  <a:srgbClr val="067D17"/>
                </a:solidFill>
                <a:latin typeface="JetBrains Mono Medium" pitchFamily="49" charset="0"/>
                <a:ea typeface="JetBrains Mono Medium" pitchFamily="49" charset="0"/>
              </a:rPr>
              <a:t>"Accept"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, </a:t>
            </a:r>
            <a:r>
              <a:rPr lang="ru-RU" sz="3400" dirty="0">
                <a:solidFill>
                  <a:srgbClr val="067D17"/>
                </a:solidFill>
                <a:latin typeface="JetBrains Mono Medium" pitchFamily="49" charset="0"/>
                <a:ea typeface="JetBrains Mono Medium" pitchFamily="49" charset="0"/>
              </a:rPr>
              <a:t>"text/json"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       .</a:t>
            </a:r>
            <a:r>
              <a:rPr lang="ru-RU" sz="34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GET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()</a:t>
            </a:r>
          </a:p>
          <a:p>
            <a:pPr algn="l">
              <a:lnSpc>
                <a:spcPct val="112000"/>
              </a:lnSpc>
            </a:pP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       .</a:t>
            </a:r>
            <a:r>
              <a:rPr lang="ru-RU" sz="34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build</a:t>
            </a:r>
            <a:r>
              <a:rPr lang="ru-RU" sz="34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91689783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27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53967" y="569366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348" name="Title"/>
          <p:cNvSpPr txBox="1"/>
          <p:nvPr/>
        </p:nvSpPr>
        <p:spPr>
          <a:xfrm>
            <a:off x="611187" y="700000"/>
            <a:ext cx="6668153" cy="1451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Отправка запросов и ожидание ответов</a:t>
            </a:r>
          </a:p>
        </p:txBody>
      </p:sp>
      <p:pic>
        <p:nvPicPr>
          <p:cNvPr id="1349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761600"/>
            <a:ext cx="612000" cy="612000"/>
          </a:xfrm>
          <a:prstGeom prst="rect">
            <a:avLst/>
          </a:prstGeom>
        </p:spPr>
      </p:pic>
      <p:sp>
        <p:nvSpPr>
          <p:cNvPr id="1350" name="Text"/>
          <p:cNvSpPr txBox="1"/>
          <p:nvPr/>
        </p:nvSpPr>
        <p:spPr>
          <a:xfrm>
            <a:off x="1481188" y="2801600"/>
            <a:ext cx="5618924" cy="12504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 err="1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send</a:t>
            </a:r>
            <a:r>
              <a:rPr lang="en-US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()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блокирует вызывающий поток до ответа.</a:t>
            </a:r>
          </a:p>
        </p:txBody>
      </p:sp>
      <p:pic>
        <p:nvPicPr>
          <p:cNvPr id="1351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25188" y="4185424"/>
            <a:ext cx="612000" cy="612000"/>
          </a:xfrm>
          <a:prstGeom prst="rect">
            <a:avLst/>
          </a:prstGeom>
        </p:spPr>
      </p:pic>
      <p:sp>
        <p:nvSpPr>
          <p:cNvPr id="1352" name="Text"/>
          <p:cNvSpPr txBox="1"/>
          <p:nvPr/>
        </p:nvSpPr>
        <p:spPr>
          <a:xfrm>
            <a:off x="1495187" y="4225424"/>
            <a:ext cx="6024621" cy="2380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 err="1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sendAsync</a:t>
            </a:r>
            <a:r>
              <a:rPr lang="en-US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()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возвращает управление сразу: результат придёт в </a:t>
            </a:r>
            <a:r>
              <a:rPr lang="ru-RU" sz="3200" dirty="0">
                <a:solidFill>
                  <a:srgbClr val="9B3D00"/>
                </a:solidFill>
                <a:latin typeface="JetBrains Mono Medium" pitchFamily="49" charset="0"/>
                <a:ea typeface="JetBrains Mono Medium" pitchFamily="49" charset="0"/>
              </a:rPr>
              <a:t>CompletableFuture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.</a:t>
            </a:r>
          </a:p>
        </p:txBody>
      </p:sp>
      <p:sp>
        <p:nvSpPr>
          <p:cNvPr id="1355" name="Code"/>
          <p:cNvSpPr txBox="1"/>
          <p:nvPr/>
        </p:nvSpPr>
        <p:spPr>
          <a:xfrm>
            <a:off x="8214112" y="1510537"/>
            <a:ext cx="10500000" cy="48392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lang="ru-RU" sz="2800" i="1" dirty="0">
                <a:solidFill>
                  <a:srgbClr val="8C8C8C"/>
                </a:solidFill>
                <a:latin typeface="JetBrains Mono Medium" pitchFamily="49" charset="0"/>
                <a:ea typeface="JetBrains Mono Medium" pitchFamily="49" charset="0"/>
              </a:rPr>
              <a:t>// ждём ответ в этом же потоке</a:t>
            </a:r>
          </a:p>
          <a:p>
            <a:pPr algn="l">
              <a:lnSpc>
                <a:spcPct val="112000"/>
              </a:lnSpc>
            </a:pPr>
            <a:r>
              <a:rPr lang="ru-RU" sz="28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HttpResponse&lt;String&gt; response = client</a:t>
            </a:r>
          </a:p>
          <a:p>
            <a:pPr algn="l">
              <a:lnSpc>
                <a:spcPct val="112000"/>
              </a:lnSpc>
            </a:pPr>
            <a:r>
              <a:rPr lang="ru-RU" sz="28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       .</a:t>
            </a:r>
            <a:r>
              <a:rPr lang="ru-RU" sz="28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send</a:t>
            </a:r>
            <a:r>
              <a:rPr lang="ru-RU" sz="28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(request, </a:t>
            </a:r>
            <a:r>
              <a:rPr lang="ru-RU" sz="28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ofString</a:t>
            </a:r>
            <a:r>
              <a:rPr lang="ru-RU" sz="28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());</a:t>
            </a:r>
          </a:p>
          <a:p>
            <a:pPr algn="l">
              <a:lnSpc>
                <a:spcPct val="112000"/>
              </a:lnSpc>
            </a:pPr>
            <a:endParaRPr lang="en-US" sz="2800" dirty="0"/>
          </a:p>
          <a:p>
            <a:pPr algn="l">
              <a:lnSpc>
                <a:spcPct val="112000"/>
              </a:lnSpc>
            </a:pPr>
            <a:r>
              <a:rPr lang="ru-RU" sz="2800" i="1" dirty="0">
                <a:solidFill>
                  <a:srgbClr val="8C8C8C"/>
                </a:solidFill>
                <a:latin typeface="JetBrains Mono Medium" pitchFamily="49" charset="0"/>
                <a:ea typeface="JetBrains Mono Medium" pitchFamily="49" charset="0"/>
              </a:rPr>
              <a:t>// управление возвращается сразу</a:t>
            </a:r>
          </a:p>
          <a:p>
            <a:pPr algn="l">
              <a:lnSpc>
                <a:spcPct val="112000"/>
              </a:lnSpc>
            </a:pPr>
            <a:r>
              <a:rPr lang="ru-RU" sz="28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CompletableFuture&lt;HttpResponse&lt;String&gt;&gt; f</a:t>
            </a:r>
          </a:p>
          <a:p>
            <a:pPr algn="l">
              <a:lnSpc>
                <a:spcPct val="112000"/>
              </a:lnSpc>
            </a:pPr>
            <a:r>
              <a:rPr lang="ru-RU" sz="28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       = client.</a:t>
            </a:r>
            <a:r>
              <a:rPr lang="ru-RU" sz="28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sendAsync</a:t>
            </a:r>
            <a:r>
              <a:rPr lang="ru-RU" sz="28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(request, </a:t>
            </a:r>
            <a:r>
              <a:rPr lang="ru-RU" sz="28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ofString</a:t>
            </a:r>
            <a:r>
              <a:rPr lang="ru-RU" sz="28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());</a:t>
            </a:r>
          </a:p>
          <a:p>
            <a:pPr algn="l">
              <a:lnSpc>
                <a:spcPct val="112000"/>
              </a:lnSpc>
            </a:pPr>
            <a:endParaRPr lang="en-US" sz="2800" dirty="0"/>
          </a:p>
          <a:p>
            <a:pPr algn="l">
              <a:lnSpc>
                <a:spcPct val="112000"/>
              </a:lnSpc>
            </a:pPr>
            <a:r>
              <a:rPr lang="ru-RU" sz="28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f.</a:t>
            </a:r>
            <a:r>
              <a:rPr lang="ru-RU" sz="28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thenApply</a:t>
            </a:r>
            <a:r>
              <a:rPr lang="ru-RU" sz="28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(HttpResponse::body)</a:t>
            </a:r>
          </a:p>
          <a:p>
            <a:pPr algn="l">
              <a:lnSpc>
                <a:spcPct val="112000"/>
              </a:lnSpc>
            </a:pPr>
            <a:r>
              <a:rPr lang="ru-RU" sz="28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        .</a:t>
            </a:r>
            <a:r>
              <a:rPr lang="ru-RU" sz="2800" dirty="0">
                <a:solidFill>
                  <a:srgbClr val="00627A"/>
                </a:solidFill>
                <a:latin typeface="JetBrains Mono Medium" pitchFamily="49" charset="0"/>
                <a:ea typeface="JetBrains Mono Medium" pitchFamily="49" charset="0"/>
              </a:rPr>
              <a:t>thenAccept</a:t>
            </a:r>
            <a:r>
              <a:rPr lang="ru-RU" sz="2800" dirty="0">
                <a:solidFill>
                  <a:srgbClr val="1F1F1F"/>
                </a:solidFill>
                <a:latin typeface="JetBrains Mono Medium" pitchFamily="49" charset="0"/>
                <a:ea typeface="JetBrains Mono Medium" pitchFamily="49" charset="0"/>
              </a:rPr>
              <a:t>(System.out::println);</a:t>
            </a:r>
          </a:p>
        </p:txBody>
      </p:sp>
    </p:spTree>
    <p:extLst>
      <p:ext uri="{BB962C8B-B14F-4D97-AF65-F5344CB8AC3E}">
        <p14:creationId xmlns:p14="http://schemas.microsoft.com/office/powerpoint/2010/main" val="101773205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28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356" name="Title"/>
          <p:cNvSpPr txBox="1"/>
          <p:nvPr/>
        </p:nvSpPr>
        <p:spPr>
          <a:xfrm>
            <a:off x="611187" y="700000"/>
            <a:ext cx="6908621" cy="1451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Рекомендации по настройке HttpClient</a:t>
            </a:r>
          </a:p>
        </p:txBody>
      </p:sp>
      <p:pic>
        <p:nvPicPr>
          <p:cNvPr id="1357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761600"/>
            <a:ext cx="612000" cy="612000"/>
          </a:xfrm>
          <a:prstGeom prst="rect">
            <a:avLst/>
          </a:prstGeom>
        </p:spPr>
      </p:pic>
      <p:sp>
        <p:nvSpPr>
          <p:cNvPr id="1358" name="Text"/>
          <p:cNvSpPr txBox="1"/>
          <p:nvPr/>
        </p:nvSpPr>
        <p:spPr>
          <a:xfrm>
            <a:off x="1481188" y="2801600"/>
            <a:ext cx="6038620" cy="17524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1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Один клиент</a:t>
            </a:r>
            <a:r>
              <a:rPr lang="ru-RU" sz="31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на приложение: создаём один раз и переиспользуем.</a:t>
            </a:r>
          </a:p>
        </p:txBody>
      </p:sp>
      <p:pic>
        <p:nvPicPr>
          <p:cNvPr id="1359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4130381"/>
            <a:ext cx="612000" cy="612000"/>
          </a:xfrm>
          <a:prstGeom prst="rect">
            <a:avLst/>
          </a:prstGeom>
        </p:spPr>
      </p:pic>
      <p:sp>
        <p:nvSpPr>
          <p:cNvPr id="1360" name="Text"/>
          <p:cNvSpPr txBox="1"/>
          <p:nvPr/>
        </p:nvSpPr>
        <p:spPr>
          <a:xfrm>
            <a:off x="1481188" y="4170381"/>
            <a:ext cx="6038620" cy="11738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1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Всегда задаём таймауты</a:t>
            </a:r>
            <a:r>
              <a:rPr lang="ru-RU" sz="31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по умолчанию их нет.</a:t>
            </a:r>
          </a:p>
        </p:txBody>
      </p:sp>
      <p:pic>
        <p:nvPicPr>
          <p:cNvPr id="1361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7" y="5499162"/>
            <a:ext cx="612000" cy="612000"/>
          </a:xfrm>
          <a:prstGeom prst="rect">
            <a:avLst/>
          </a:prstGeom>
        </p:spPr>
      </p:pic>
      <p:sp>
        <p:nvSpPr>
          <p:cNvPr id="1362" name="Text"/>
          <p:cNvSpPr txBox="1"/>
          <p:nvPr/>
        </p:nvSpPr>
        <p:spPr>
          <a:xfrm>
            <a:off x="1481187" y="5539162"/>
            <a:ext cx="6038620" cy="174078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1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Статус проверяем сами</a:t>
            </a:r>
            <a:r>
              <a:rPr lang="ru-RU" sz="31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4xx и 5xx 0 не исключение.</a:t>
            </a:r>
          </a:p>
        </p:txBody>
      </p:sp>
      <p:pic>
        <p:nvPicPr>
          <p:cNvPr id="1363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7" y="6911016"/>
            <a:ext cx="612000" cy="612000"/>
          </a:xfrm>
          <a:prstGeom prst="rect">
            <a:avLst/>
          </a:prstGeom>
        </p:spPr>
      </p:pic>
      <p:sp>
        <p:nvSpPr>
          <p:cNvPr id="1364" name="Text"/>
          <p:cNvSpPr txBox="1"/>
          <p:nvPr/>
        </p:nvSpPr>
        <p:spPr>
          <a:xfrm>
            <a:off x="1481187" y="6951017"/>
            <a:ext cx="6038620" cy="13140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1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Не блокируем</a:t>
            </a:r>
            <a:r>
              <a:rPr lang="ru-RU" sz="31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продолжения </a:t>
            </a:r>
            <a:r>
              <a:rPr lang="ru-RU" sz="3100" dirty="0" err="1">
                <a:solidFill>
                  <a:srgbClr val="9B3D00"/>
                </a:solidFill>
                <a:latin typeface="JetBrains Mono Medium" pitchFamily="49" charset="0"/>
                <a:ea typeface="JetBrains Mono Medium" pitchFamily="49" charset="0"/>
              </a:rPr>
              <a:t>sendAsync</a:t>
            </a:r>
            <a:r>
              <a:rPr lang="ru-RU" sz="31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тяжёлое в свой пул.</a:t>
            </a:r>
          </a:p>
        </p:txBody>
      </p:sp>
      <p:graphicFrame>
        <p:nvGraphicFramePr>
          <p:cNvPr id="1365" name="Table"/>
          <p:cNvGraphicFramePr>
            <a:graphicFrameLocks noGrp="1"/>
          </p:cNvGraphicFramePr>
          <p:nvPr/>
        </p:nvGraphicFramePr>
        <p:xfrm>
          <a:off x="8214112" y="1510537"/>
          <a:ext cx="10500000" cy="7800826"/>
        </p:xfrm>
        <a:graphic>
          <a:graphicData uri="http://schemas.openxmlformats.org/drawingml/2006/table">
            <a:tbl>
              <a:tblPr firstRow="1"/>
              <a:tblGrid>
                <a:gridCol w="409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05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3000" b="1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Настройка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 algn="ctr">
                      <a:solidFill>
                        <a:srgbClr val="33333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3000" b="1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Зачем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2225" cap="flat" cmpd="sng" algn="ctr">
                      <a:solidFill>
                        <a:srgbClr val="33333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017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30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connectTimeout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222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30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ограничить установку соединения (по умолчанию без лимита)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222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011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30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request.timeout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30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ограничить ожидание ответа (по умолчанию без лимита)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011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30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followRedirects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30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по умолчанию редиректы не выполняются (</a:t>
                      </a:r>
                      <a:r>
                        <a:rPr lang="ru-RU" sz="30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NEVER</a:t>
                      </a:r>
                      <a:r>
                        <a:rPr lang="ru-RU" sz="30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)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17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30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executor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30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свой пул для продолжений </a:t>
                      </a:r>
                      <a:r>
                        <a:rPr lang="ru-RU" sz="30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sendAsync</a:t>
                      </a:r>
                      <a:r>
                        <a:rPr lang="ru-RU" sz="30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, чтобы не блокировать потоки клиента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17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30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BodyHandlers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ru-RU" sz="30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ofString</a:t>
                      </a:r>
                      <a:r>
                        <a:rPr lang="ru-RU" sz="30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 для небольших ответов, </a:t>
                      </a:r>
                      <a:r>
                        <a:rPr lang="ru-RU" sz="30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ofInputStream</a:t>
                      </a:r>
                      <a:r>
                        <a:rPr lang="ru-RU" sz="30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 и </a:t>
                      </a:r>
                      <a:r>
                        <a:rPr lang="ru-RU" sz="3000" dirty="0">
                          <a:solidFill>
                            <a:srgbClr val="9B3D00"/>
                          </a:solidFill>
                          <a:latin typeface="JetBrains Mono Medium" pitchFamily="49" charset="0"/>
                          <a:ea typeface="JetBrains Mono Medium" pitchFamily="49" charset="0"/>
                        </a:rPr>
                        <a:t>ofFile</a:t>
                      </a:r>
                      <a:r>
                        <a:rPr lang="ru-RU" sz="3000" dirty="0">
                          <a:solidFill>
                            <a:srgbClr val="333333"/>
                          </a:solidFill>
                          <a:latin typeface="T-Sans" pitchFamily="2" charset="0"/>
                          <a:ea typeface="T-Sans" pitchFamily="2" charset="0"/>
                        </a:rPr>
                        <a:t> для больших</a:t>
                      </a:r>
                    </a:p>
                  </a:txBody>
                  <a:tcPr marL="90000" marR="90000" marT="70000" marB="7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9CB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D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76816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F401C782-5AFE-4214-8277-4369D01ED65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29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0886A-B8A5-4D74-8EE6-CC10A6FE65CC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1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Живой замер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F7CF18-2482-4E32-8606-1D65F2717E1F}"/>
              </a:ext>
            </a:extLst>
          </p:cNvPr>
          <p:cNvSpPr txBox="1"/>
          <p:nvPr/>
        </p:nvSpPr>
        <p:spPr>
          <a:xfrm>
            <a:off x="1366838" y="2391734"/>
            <a:ext cx="14543323" cy="503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Четыре подхода - одна задача</a:t>
            </a:r>
          </a:p>
        </p:txBody>
      </p:sp>
    </p:spTree>
    <p:extLst>
      <p:ext uri="{BB962C8B-B14F-4D97-AF65-F5344CB8AC3E}">
        <p14:creationId xmlns:p14="http://schemas.microsoft.com/office/powerpoint/2010/main" val="163251756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33E605-5943-49E5-9DE3-5E8CCCC27DB9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Четыре кейса</a:t>
            </a:r>
          </a:p>
        </p:txBody>
      </p:sp>
      <p:sp>
        <p:nvSpPr>
          <p:cNvPr id="1357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58" name="Скругленный прямоугольник 2">
            <a:extLst>
              <a:ext uri="{FF2B5EF4-FFF2-40B4-BE49-F238E27FC236}">
                <a16:creationId xmlns:a16="http://schemas.microsoft.com/office/drawing/2014/main" id="{BF1AB5CD-BE63-4A9A-97FA-AF71A13E1F36}"/>
              </a:ext>
            </a:extLst>
          </p:cNvPr>
          <p:cNvSpPr/>
          <p:nvPr/>
        </p:nvSpPr>
        <p:spPr>
          <a:xfrm>
            <a:off x="611187" y="4013963"/>
            <a:ext cx="4448075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59" name="TextBox 16">
            <a:extLst>
              <a:ext uri="{FF2B5EF4-FFF2-40B4-BE49-F238E27FC236}">
                <a16:creationId xmlns:a16="http://schemas.microsoft.com/office/drawing/2014/main" id="{3744874A-390B-4941-BCA5-EDA218FF03E3}"/>
              </a:ext>
            </a:extLst>
          </p:cNvPr>
          <p:cNvSpPr txBox="1"/>
          <p:nvPr/>
        </p:nvSpPr>
        <p:spPr>
          <a:xfrm>
            <a:off x="1175338" y="6300788"/>
            <a:ext cx="3319773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27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HttpURLConnection</a:t>
            </a:r>
          </a:p>
        </p:txBody>
      </p:sp>
      <p:sp>
        <p:nvSpPr>
          <p:cNvPr id="1360" name="TextBox 15">
            <a:extLst>
              <a:ext uri="{FF2B5EF4-FFF2-40B4-BE49-F238E27FC236}">
                <a16:creationId xmlns:a16="http://schemas.microsoft.com/office/drawing/2014/main" id="{C76F800E-B446-43FB-A3AD-4BE8BEE0E27F}"/>
              </a:ext>
            </a:extLst>
          </p:cNvPr>
          <p:cNvSpPr txBox="1"/>
          <p:nvPr/>
        </p:nvSpPr>
        <p:spPr>
          <a:xfrm>
            <a:off x="1175338" y="7725862"/>
            <a:ext cx="3319773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5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N запросов подряд в одном потоке.</a:t>
            </a:r>
          </a:p>
        </p:txBody>
      </p:sp>
      <p:sp>
        <p:nvSpPr>
          <p:cNvPr id="1361" name="Скругленный прямоугольник 3">
            <a:extLst>
              <a:ext uri="{FF2B5EF4-FFF2-40B4-BE49-F238E27FC236}">
                <a16:creationId xmlns:a16="http://schemas.microsoft.com/office/drawing/2014/main" id="{0C84B40B-85D7-4FBD-B779-0FB5D35D83BF}"/>
              </a:ext>
            </a:extLst>
          </p:cNvPr>
          <p:cNvSpPr/>
          <p:nvPr/>
        </p:nvSpPr>
        <p:spPr>
          <a:xfrm>
            <a:off x="5320804" y="4013963"/>
            <a:ext cx="4448075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62" name="TextBox 12">
            <a:extLst>
              <a:ext uri="{FF2B5EF4-FFF2-40B4-BE49-F238E27FC236}">
                <a16:creationId xmlns:a16="http://schemas.microsoft.com/office/drawing/2014/main" id="{78CE9F2C-A8FC-47C8-8E08-AD04D8055656}"/>
              </a:ext>
            </a:extLst>
          </p:cNvPr>
          <p:cNvSpPr txBox="1"/>
          <p:nvPr/>
        </p:nvSpPr>
        <p:spPr>
          <a:xfrm>
            <a:off x="5884955" y="6300788"/>
            <a:ext cx="3319773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27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Пул потоков</a:t>
            </a:r>
          </a:p>
        </p:txBody>
      </p:sp>
      <p:sp>
        <p:nvSpPr>
          <p:cNvPr id="1363" name="TextBox 11">
            <a:extLst>
              <a:ext uri="{FF2B5EF4-FFF2-40B4-BE49-F238E27FC236}">
                <a16:creationId xmlns:a16="http://schemas.microsoft.com/office/drawing/2014/main" id="{C606173B-5FE5-4BDF-B436-5F731EEF2424}"/>
              </a:ext>
            </a:extLst>
          </p:cNvPr>
          <p:cNvSpPr txBox="1"/>
          <p:nvPr/>
        </p:nvSpPr>
        <p:spPr>
          <a:xfrm>
            <a:off x="5884955" y="7725862"/>
            <a:ext cx="3319773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5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N запросов через пул: поток на запрос.</a:t>
            </a:r>
          </a:p>
        </p:txBody>
      </p:sp>
      <p:sp>
        <p:nvSpPr>
          <p:cNvPr id="1364" name="Скругленный прямоугольник 3">
            <a:extLst>
              <a:ext uri="{FF2B5EF4-FFF2-40B4-BE49-F238E27FC236}">
                <a16:creationId xmlns:a16="http://schemas.microsoft.com/office/drawing/2014/main" id="{529BDEB8-A5E4-4772-86D5-0A6CE7DC81FC}"/>
              </a:ext>
            </a:extLst>
          </p:cNvPr>
          <p:cNvSpPr/>
          <p:nvPr/>
        </p:nvSpPr>
        <p:spPr>
          <a:xfrm>
            <a:off x="10030421" y="4013963"/>
            <a:ext cx="4448075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65" name="TextBox 12">
            <a:extLst>
              <a:ext uri="{FF2B5EF4-FFF2-40B4-BE49-F238E27FC236}">
                <a16:creationId xmlns:a16="http://schemas.microsoft.com/office/drawing/2014/main" id="{17B6701E-7004-43E6-82CA-509BCC4A05BE}"/>
              </a:ext>
            </a:extLst>
          </p:cNvPr>
          <p:cNvSpPr txBox="1"/>
          <p:nvPr/>
        </p:nvSpPr>
        <p:spPr>
          <a:xfrm>
            <a:off x="10594572" y="6300788"/>
            <a:ext cx="3319773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27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Reactor</a:t>
            </a:r>
          </a:p>
        </p:txBody>
      </p:sp>
      <p:sp>
        <p:nvSpPr>
          <p:cNvPr id="1366" name="TextBox 11">
            <a:extLst>
              <a:ext uri="{FF2B5EF4-FFF2-40B4-BE49-F238E27FC236}">
                <a16:creationId xmlns:a16="http://schemas.microsoft.com/office/drawing/2014/main" id="{4B423624-95DC-4602-A788-12686C86705A}"/>
              </a:ext>
            </a:extLst>
          </p:cNvPr>
          <p:cNvSpPr txBox="1"/>
          <p:nvPr/>
        </p:nvSpPr>
        <p:spPr>
          <a:xfrm>
            <a:off x="10594572" y="7725862"/>
            <a:ext cx="3319773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5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N запросов сразу: один поток событийного цикла.</a:t>
            </a:r>
          </a:p>
        </p:txBody>
      </p:sp>
      <p:sp>
        <p:nvSpPr>
          <p:cNvPr id="1367" name="Скругленный прямоугольник 3">
            <a:extLst>
              <a:ext uri="{FF2B5EF4-FFF2-40B4-BE49-F238E27FC236}">
                <a16:creationId xmlns:a16="http://schemas.microsoft.com/office/drawing/2014/main" id="{80F0DCCA-9F96-4979-B638-40D7A30B6930}"/>
              </a:ext>
            </a:extLst>
          </p:cNvPr>
          <p:cNvSpPr/>
          <p:nvPr/>
        </p:nvSpPr>
        <p:spPr>
          <a:xfrm>
            <a:off x="14740038" y="4013963"/>
            <a:ext cx="4448075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68" name="TextBox 12">
            <a:extLst>
              <a:ext uri="{FF2B5EF4-FFF2-40B4-BE49-F238E27FC236}">
                <a16:creationId xmlns:a16="http://schemas.microsoft.com/office/drawing/2014/main" id="{48373FF3-2F7D-497D-9BA7-FF3AA25F7F09}"/>
              </a:ext>
            </a:extLst>
          </p:cNvPr>
          <p:cNvSpPr txBox="1"/>
          <p:nvPr/>
        </p:nvSpPr>
        <p:spPr>
          <a:xfrm>
            <a:off x="15304189" y="6300788"/>
            <a:ext cx="3319773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27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HttpClient</a:t>
            </a:r>
          </a:p>
        </p:txBody>
      </p:sp>
      <p:sp>
        <p:nvSpPr>
          <p:cNvPr id="1369" name="TextBox 11">
            <a:extLst>
              <a:ext uri="{FF2B5EF4-FFF2-40B4-BE49-F238E27FC236}">
                <a16:creationId xmlns:a16="http://schemas.microsoft.com/office/drawing/2014/main" id="{0328C678-D704-4152-838F-7BEBCACC4222}"/>
              </a:ext>
            </a:extLst>
          </p:cNvPr>
          <p:cNvSpPr txBox="1"/>
          <p:nvPr/>
        </p:nvSpPr>
        <p:spPr>
          <a:xfrm>
            <a:off x="15304189" y="7725862"/>
            <a:ext cx="3319773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5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sendAsync: N запросов сразу, готовый клиент из JDK.</a:t>
            </a:r>
          </a:p>
        </p:txBody>
      </p:sp>
      <p:pic>
        <p:nvPicPr>
          <p:cNvPr id="1370" name="Icon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75338" y="4414838"/>
            <a:ext cx="889000" cy="889000"/>
          </a:xfrm>
          <a:prstGeom prst="rect">
            <a:avLst/>
          </a:prstGeom>
        </p:spPr>
      </p:pic>
      <p:pic>
        <p:nvPicPr>
          <p:cNvPr id="1371" name="Icon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884955" y="4414838"/>
            <a:ext cx="889000" cy="889000"/>
          </a:xfrm>
          <a:prstGeom prst="rect">
            <a:avLst/>
          </a:prstGeom>
        </p:spPr>
      </p:pic>
      <p:pic>
        <p:nvPicPr>
          <p:cNvPr id="1372" name="Icon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0594572" y="4414838"/>
            <a:ext cx="889000" cy="889000"/>
          </a:xfrm>
          <a:prstGeom prst="rect">
            <a:avLst/>
          </a:prstGeom>
        </p:spPr>
      </p:pic>
      <p:pic>
        <p:nvPicPr>
          <p:cNvPr id="1373" name="Icon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5304189" y="4414838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93831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31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384" name="Title"/>
          <p:cNvSpPr txBox="1"/>
          <p:nvPr/>
        </p:nvSpPr>
        <p:spPr>
          <a:xfrm>
            <a:off x="611188" y="700000"/>
            <a:ext cx="6488924" cy="1451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Результаты замеров</a:t>
            </a:r>
          </a:p>
        </p:txBody>
      </p:sp>
      <p:pic>
        <p:nvPicPr>
          <p:cNvPr id="1385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761600"/>
            <a:ext cx="612000" cy="612000"/>
          </a:xfrm>
          <a:prstGeom prst="rect">
            <a:avLst/>
          </a:prstGeom>
        </p:spPr>
      </p:pic>
      <p:sp>
        <p:nvSpPr>
          <p:cNvPr id="1386" name="Text"/>
          <p:cNvSpPr txBox="1"/>
          <p:nvPr/>
        </p:nvSpPr>
        <p:spPr>
          <a:xfrm>
            <a:off x="1481188" y="2801600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Один поток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время ≈ N × задержка сервера.</a:t>
            </a:r>
          </a:p>
        </p:txBody>
      </p:sp>
      <p:pic>
        <p:nvPicPr>
          <p:cNvPr id="1387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4212032"/>
            <a:ext cx="612000" cy="612000"/>
          </a:xfrm>
          <a:prstGeom prst="rect">
            <a:avLst/>
          </a:prstGeom>
        </p:spPr>
      </p:pic>
      <p:sp>
        <p:nvSpPr>
          <p:cNvPr id="1388" name="Text"/>
          <p:cNvSpPr txBox="1"/>
          <p:nvPr/>
        </p:nvSpPr>
        <p:spPr>
          <a:xfrm>
            <a:off x="1481188" y="4252032"/>
            <a:ext cx="5618924" cy="121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Пул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ускоряет примерно в размер пула.</a:t>
            </a:r>
          </a:p>
        </p:txBody>
      </p:sp>
      <p:pic>
        <p:nvPicPr>
          <p:cNvPr id="1389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5662464"/>
            <a:ext cx="612000" cy="612000"/>
          </a:xfrm>
          <a:prstGeom prst="rect">
            <a:avLst/>
          </a:prstGeom>
        </p:spPr>
      </p:pic>
      <p:sp>
        <p:nvSpPr>
          <p:cNvPr id="1390" name="Text"/>
          <p:cNvSpPr txBox="1"/>
          <p:nvPr/>
        </p:nvSpPr>
        <p:spPr>
          <a:xfrm>
            <a:off x="1481188" y="5702464"/>
            <a:ext cx="5618924" cy="1795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Reactor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и </a:t>
            </a: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sendAsync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укладываются в</a:t>
            </a:r>
            <a:r>
              <a:rPr lang="en-US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450 - 500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≈ одну задержку.</a:t>
            </a:r>
          </a:p>
        </p:txBody>
      </p:sp>
      <p:pic>
        <p:nvPicPr>
          <p:cNvPr id="1391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7698112"/>
            <a:ext cx="612000" cy="612000"/>
          </a:xfrm>
          <a:prstGeom prst="rect">
            <a:avLst/>
          </a:prstGeom>
        </p:spPr>
      </p:pic>
      <p:sp>
        <p:nvSpPr>
          <p:cNvPr id="1392" name="Text"/>
          <p:cNvSpPr txBox="1"/>
          <p:nvPr/>
        </p:nvSpPr>
        <p:spPr>
          <a:xfrm>
            <a:off x="1481188" y="7738112"/>
            <a:ext cx="5618924" cy="1795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 err="1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sendAsync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en-US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-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то же, что наш Reactor, но готовое.</a:t>
            </a:r>
          </a:p>
        </p:txBody>
      </p:sp>
      <p:sp>
        <p:nvSpPr>
          <p:cNvPr id="1393" name="Text"/>
          <p:cNvSpPr txBox="1"/>
          <p:nvPr/>
        </p:nvSpPr>
        <p:spPr>
          <a:xfrm>
            <a:off x="8214112" y="1510537"/>
            <a:ext cx="10500000" cy="5061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29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Время на 30 запросов</a:t>
            </a:r>
          </a:p>
        </p:txBody>
      </p:sp>
      <p:sp>
        <p:nvSpPr>
          <p:cNvPr id="1394" name="Text"/>
          <p:cNvSpPr txBox="1"/>
          <p:nvPr/>
        </p:nvSpPr>
        <p:spPr>
          <a:xfrm>
            <a:off x="8214112" y="2370537"/>
            <a:ext cx="3300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HttpURLConnection,</a:t>
            </a:r>
          </a:p>
          <a:p>
            <a:pPr algn="r">
              <a:lnSpc>
                <a:spcPct val="11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один поток</a:t>
            </a:r>
          </a:p>
        </p:txBody>
      </p:sp>
      <p:sp>
        <p:nvSpPr>
          <p:cNvPr id="1395" name="Box"/>
          <p:cNvSpPr/>
          <p:nvPr/>
        </p:nvSpPr>
        <p:spPr>
          <a:xfrm>
            <a:off x="11714112" y="2310537"/>
            <a:ext cx="5500000" cy="10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96" name="Text"/>
          <p:cNvSpPr txBox="1"/>
          <p:nvPr/>
        </p:nvSpPr>
        <p:spPr>
          <a:xfrm>
            <a:off x="11714112" y="2310537"/>
            <a:ext cx="55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endParaRPr/>
          </a:p>
        </p:txBody>
      </p:sp>
      <p:sp>
        <p:nvSpPr>
          <p:cNvPr id="1397" name="Text"/>
          <p:cNvSpPr txBox="1"/>
          <p:nvPr/>
        </p:nvSpPr>
        <p:spPr>
          <a:xfrm>
            <a:off x="17314112" y="2590537"/>
            <a:ext cx="1450000" cy="85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25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9 216 мс</a:t>
            </a:r>
          </a:p>
        </p:txBody>
      </p:sp>
      <p:sp>
        <p:nvSpPr>
          <p:cNvPr id="1398" name="Text"/>
          <p:cNvSpPr txBox="1"/>
          <p:nvPr/>
        </p:nvSpPr>
        <p:spPr>
          <a:xfrm>
            <a:off x="8214112" y="3820537"/>
            <a:ext cx="3300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HttpURLConnection,</a:t>
            </a:r>
          </a:p>
          <a:p>
            <a:pPr algn="r">
              <a:lnSpc>
                <a:spcPct val="11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пул из 10 потоков</a:t>
            </a:r>
          </a:p>
        </p:txBody>
      </p:sp>
      <p:sp>
        <p:nvSpPr>
          <p:cNvPr id="1399" name="Box"/>
          <p:cNvSpPr/>
          <p:nvPr/>
        </p:nvSpPr>
        <p:spPr>
          <a:xfrm>
            <a:off x="11714112" y="3760537"/>
            <a:ext cx="646321" cy="10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00" name="Text"/>
          <p:cNvSpPr txBox="1"/>
          <p:nvPr/>
        </p:nvSpPr>
        <p:spPr>
          <a:xfrm>
            <a:off x="11714112" y="3760537"/>
            <a:ext cx="646321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endParaRPr/>
          </a:p>
        </p:txBody>
      </p:sp>
      <p:sp>
        <p:nvSpPr>
          <p:cNvPr id="1401" name="Text"/>
          <p:cNvSpPr txBox="1"/>
          <p:nvPr/>
        </p:nvSpPr>
        <p:spPr>
          <a:xfrm>
            <a:off x="12460433" y="4040537"/>
            <a:ext cx="1450000" cy="85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25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1 083 мс</a:t>
            </a:r>
          </a:p>
        </p:txBody>
      </p:sp>
      <p:sp>
        <p:nvSpPr>
          <p:cNvPr id="1402" name="Text"/>
          <p:cNvSpPr txBox="1"/>
          <p:nvPr/>
        </p:nvSpPr>
        <p:spPr>
          <a:xfrm>
            <a:off x="8214112" y="5270537"/>
            <a:ext cx="3300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Reactor</a:t>
            </a:r>
          </a:p>
        </p:txBody>
      </p:sp>
      <p:sp>
        <p:nvSpPr>
          <p:cNvPr id="1403" name="Box"/>
          <p:cNvSpPr/>
          <p:nvPr/>
        </p:nvSpPr>
        <p:spPr>
          <a:xfrm>
            <a:off x="11714112" y="5210537"/>
            <a:ext cx="300781" cy="100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04" name="Text"/>
          <p:cNvSpPr txBox="1"/>
          <p:nvPr/>
        </p:nvSpPr>
        <p:spPr>
          <a:xfrm>
            <a:off x="11714112" y="5210537"/>
            <a:ext cx="300781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endParaRPr/>
          </a:p>
        </p:txBody>
      </p:sp>
      <p:sp>
        <p:nvSpPr>
          <p:cNvPr id="1405" name="Text"/>
          <p:cNvSpPr txBox="1"/>
          <p:nvPr/>
        </p:nvSpPr>
        <p:spPr>
          <a:xfrm>
            <a:off x="12114893" y="5490537"/>
            <a:ext cx="1450000" cy="43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25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504 мс</a:t>
            </a:r>
          </a:p>
        </p:txBody>
      </p:sp>
      <p:sp>
        <p:nvSpPr>
          <p:cNvPr id="1406" name="Text"/>
          <p:cNvSpPr txBox="1"/>
          <p:nvPr/>
        </p:nvSpPr>
        <p:spPr>
          <a:xfrm>
            <a:off x="8214112" y="6720537"/>
            <a:ext cx="3300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lang="ru-RU" sz="24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HttpClient.sendAsync</a:t>
            </a:r>
          </a:p>
        </p:txBody>
      </p:sp>
      <p:sp>
        <p:nvSpPr>
          <p:cNvPr id="1407" name="Box"/>
          <p:cNvSpPr/>
          <p:nvPr/>
        </p:nvSpPr>
        <p:spPr>
          <a:xfrm>
            <a:off x="11714112" y="6660537"/>
            <a:ext cx="273328" cy="100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08" name="Text"/>
          <p:cNvSpPr txBox="1"/>
          <p:nvPr/>
        </p:nvSpPr>
        <p:spPr>
          <a:xfrm>
            <a:off x="11714112" y="6660537"/>
            <a:ext cx="273328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endParaRPr/>
          </a:p>
        </p:txBody>
      </p:sp>
      <p:sp>
        <p:nvSpPr>
          <p:cNvPr id="1409" name="Text"/>
          <p:cNvSpPr txBox="1"/>
          <p:nvPr/>
        </p:nvSpPr>
        <p:spPr>
          <a:xfrm>
            <a:off x="12087440" y="6940537"/>
            <a:ext cx="1450000" cy="43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25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458 мс</a:t>
            </a:r>
          </a:p>
        </p:txBody>
      </p:sp>
      <p:sp>
        <p:nvSpPr>
          <p:cNvPr id="1410" name="Box"/>
          <p:cNvSpPr/>
          <p:nvPr/>
        </p:nvSpPr>
        <p:spPr>
          <a:xfrm>
            <a:off x="8214112" y="8110855"/>
            <a:ext cx="10500000" cy="100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11" name="Text"/>
          <p:cNvSpPr txBox="1"/>
          <p:nvPr/>
        </p:nvSpPr>
        <p:spPr>
          <a:xfrm>
            <a:off x="8214112" y="8110855"/>
            <a:ext cx="105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600" b="1" dirty="0">
                <a:solidFill>
                  <a:srgbClr val="333333"/>
                </a:solidFill>
                <a:latin typeface="T-Sans"/>
                <a:ea typeface="T-Sans"/>
              </a:rPr>
              <a:t>Reactor и sendAsync: разница в пределах погрешности</a:t>
            </a:r>
          </a:p>
        </p:txBody>
      </p:sp>
      <p:sp>
        <p:nvSpPr>
          <p:cNvPr id="1412" name="Box"/>
          <p:cNvSpPr/>
          <p:nvPr/>
        </p:nvSpPr>
        <p:spPr>
          <a:xfrm>
            <a:off x="8214112" y="9260855"/>
            <a:ext cx="10500000" cy="105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13" name="Text"/>
          <p:cNvSpPr txBox="1"/>
          <p:nvPr/>
        </p:nvSpPr>
        <p:spPr>
          <a:xfrm>
            <a:off x="8214112" y="9260855"/>
            <a:ext cx="10500000" cy="10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200" b="1" dirty="0">
                <a:solidFill>
                  <a:srgbClr val="333333"/>
                </a:solidFill>
                <a:latin typeface="T-Sans"/>
                <a:ea typeface="T-Sans"/>
              </a:rPr>
              <a:t>30 запросов · задержка ≈ 300 мс · пул 10 потоков · локальный мок, цифры примерные</a:t>
            </a:r>
          </a:p>
        </p:txBody>
      </p:sp>
    </p:spTree>
    <p:extLst>
      <p:ext uri="{BB962C8B-B14F-4D97-AF65-F5344CB8AC3E}">
        <p14:creationId xmlns:p14="http://schemas.microsoft.com/office/powerpoint/2010/main" val="1432569871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1E3D5F-C103-497A-834C-F56A0BC1E053}"/>
              </a:ext>
            </a:extLst>
          </p:cNvPr>
          <p:cNvSpPr txBox="1"/>
          <p:nvPr/>
        </p:nvSpPr>
        <p:spPr>
          <a:xfrm>
            <a:off x="2348971" y="4447831"/>
            <a:ext cx="8644611" cy="22644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5400" b="1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Откуда прирост, если потоков не стало больше?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D05A221-0F92-41F9-9DB6-9F10F58A82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32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06E5D2A-2747-41E4-8659-536346CF5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4106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33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740112" y="555511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 dirty="0">
                <a:latin typeface="T-Sans"/>
                <a:ea typeface="T-Sans"/>
              </a:endParaRPr>
            </a:p>
          </p:txBody>
        </p:sp>
      </p:grpSp>
      <p:sp>
        <p:nvSpPr>
          <p:cNvPr id="1374" name="Title"/>
          <p:cNvSpPr txBox="1"/>
          <p:nvPr/>
        </p:nvSpPr>
        <p:spPr>
          <a:xfrm>
            <a:off x="611188" y="700000"/>
            <a:ext cx="6488924" cy="76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ru-RU" sz="5400" b="1" dirty="0">
                <a:solidFill>
                  <a:srgbClr val="333333"/>
                </a:solidFill>
                <a:latin typeface="T-Sans"/>
                <a:ea typeface="T-Sans"/>
              </a:rPr>
              <a:t>Итоги</a:t>
            </a:r>
          </a:p>
        </p:txBody>
      </p:sp>
      <p:pic>
        <p:nvPicPr>
          <p:cNvPr id="1375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2075800"/>
            <a:ext cx="612000" cy="612000"/>
          </a:xfrm>
          <a:prstGeom prst="rect">
            <a:avLst/>
          </a:prstGeom>
        </p:spPr>
      </p:pic>
      <p:sp>
        <p:nvSpPr>
          <p:cNvPr id="1376" name="Text"/>
          <p:cNvSpPr txBox="1"/>
          <p:nvPr/>
        </p:nvSpPr>
        <p:spPr>
          <a:xfrm>
            <a:off x="1481188" y="2115800"/>
            <a:ext cx="5618924" cy="1795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Блокирующий клиент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держит поток всё время ожидания.</a:t>
            </a:r>
          </a:p>
        </p:txBody>
      </p:sp>
      <p:pic>
        <p:nvPicPr>
          <p:cNvPr id="1377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4111448"/>
            <a:ext cx="612000" cy="612000"/>
          </a:xfrm>
          <a:prstGeom prst="rect">
            <a:avLst/>
          </a:prstGeom>
        </p:spPr>
      </p:pic>
      <p:sp>
        <p:nvSpPr>
          <p:cNvPr id="1378" name="Text"/>
          <p:cNvSpPr txBox="1"/>
          <p:nvPr/>
        </p:nvSpPr>
        <p:spPr>
          <a:xfrm>
            <a:off x="1481188" y="4151448"/>
            <a:ext cx="5618924" cy="1795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Больше потоков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отодвигает потолок, но не убирает: C10K.</a:t>
            </a:r>
          </a:p>
        </p:txBody>
      </p:sp>
      <p:pic>
        <p:nvPicPr>
          <p:cNvPr id="1379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6147096"/>
            <a:ext cx="612000" cy="612000"/>
          </a:xfrm>
          <a:prstGeom prst="rect">
            <a:avLst/>
          </a:prstGeom>
        </p:spPr>
      </p:pic>
      <p:sp>
        <p:nvSpPr>
          <p:cNvPr id="1380" name="Text"/>
          <p:cNvSpPr txBox="1"/>
          <p:nvPr/>
        </p:nvSpPr>
        <p:spPr>
          <a:xfrm>
            <a:off x="1481188" y="6187096"/>
            <a:ext cx="5618924" cy="1795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Reactor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: один поток реагирует на готовность многих соединений.</a:t>
            </a:r>
          </a:p>
        </p:txBody>
      </p:sp>
      <p:pic>
        <p:nvPicPr>
          <p:cNvPr id="1381" name="Check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1188" y="8182744"/>
            <a:ext cx="612000" cy="612000"/>
          </a:xfrm>
          <a:prstGeom prst="rect">
            <a:avLst/>
          </a:prstGeom>
        </p:spPr>
      </p:pic>
      <p:sp>
        <p:nvSpPr>
          <p:cNvPr id="1382" name="Text"/>
          <p:cNvSpPr txBox="1"/>
          <p:nvPr/>
        </p:nvSpPr>
        <p:spPr>
          <a:xfrm>
            <a:off x="1481188" y="8222744"/>
            <a:ext cx="5618924" cy="1795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3200" b="1" dirty="0" err="1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HttpClient.sendAsync</a:t>
            </a:r>
            <a:r>
              <a:rPr lang="ru-RU" sz="3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 - готовый Reactor, писать самим не нужно.</a:t>
            </a:r>
          </a:p>
        </p:txBody>
      </p:sp>
      <p:sp>
        <p:nvSpPr>
          <p:cNvPr id="1383" name="Text"/>
          <p:cNvSpPr txBox="1"/>
          <p:nvPr/>
        </p:nvSpPr>
        <p:spPr>
          <a:xfrm>
            <a:off x="8214112" y="1510537"/>
            <a:ext cx="10500000" cy="53968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31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Блокирующий: поток на каждое соединение</a:t>
            </a:r>
          </a:p>
        </p:txBody>
      </p:sp>
      <p:sp>
        <p:nvSpPr>
          <p:cNvPr id="1384" name="Box"/>
          <p:cNvSpPr/>
          <p:nvPr/>
        </p:nvSpPr>
        <p:spPr>
          <a:xfrm>
            <a:off x="8214112" y="2310537"/>
            <a:ext cx="2800000" cy="8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85" name="Text"/>
          <p:cNvSpPr txBox="1"/>
          <p:nvPr/>
        </p:nvSpPr>
        <p:spPr>
          <a:xfrm>
            <a:off x="8214112" y="2310537"/>
            <a:ext cx="280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Поток</a:t>
            </a:r>
          </a:p>
        </p:txBody>
      </p:sp>
      <p:sp>
        <p:nvSpPr>
          <p:cNvPr id="1386" name="Box"/>
          <p:cNvSpPr/>
          <p:nvPr/>
        </p:nvSpPr>
        <p:spPr>
          <a:xfrm>
            <a:off x="13014112" y="2310537"/>
            <a:ext cx="5700000" cy="80000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87" name="Text"/>
          <p:cNvSpPr txBox="1"/>
          <p:nvPr/>
        </p:nvSpPr>
        <p:spPr>
          <a:xfrm>
            <a:off x="13014112" y="2310537"/>
            <a:ext cx="570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Соединение 1</a:t>
            </a:r>
          </a:p>
        </p:txBody>
      </p:sp>
      <p:cxnSp>
        <p:nvCxnSpPr>
          <p:cNvPr id="1388" name="Arrow"/>
          <p:cNvCxnSpPr/>
          <p:nvPr/>
        </p:nvCxnSpPr>
        <p:spPr>
          <a:xfrm>
            <a:off x="11014112" y="2710537"/>
            <a:ext cx="200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389" name="Box"/>
          <p:cNvSpPr/>
          <p:nvPr/>
        </p:nvSpPr>
        <p:spPr>
          <a:xfrm>
            <a:off x="8214112" y="3510537"/>
            <a:ext cx="2800000" cy="8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90" name="Text"/>
          <p:cNvSpPr txBox="1"/>
          <p:nvPr/>
        </p:nvSpPr>
        <p:spPr>
          <a:xfrm>
            <a:off x="8214112" y="3510537"/>
            <a:ext cx="280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Поток</a:t>
            </a:r>
          </a:p>
        </p:txBody>
      </p:sp>
      <p:sp>
        <p:nvSpPr>
          <p:cNvPr id="1391" name="Box"/>
          <p:cNvSpPr/>
          <p:nvPr/>
        </p:nvSpPr>
        <p:spPr>
          <a:xfrm>
            <a:off x="13014112" y="3510537"/>
            <a:ext cx="5700000" cy="80000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92" name="Text"/>
          <p:cNvSpPr txBox="1"/>
          <p:nvPr/>
        </p:nvSpPr>
        <p:spPr>
          <a:xfrm>
            <a:off x="13014112" y="3510537"/>
            <a:ext cx="570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Соединение 2</a:t>
            </a:r>
          </a:p>
        </p:txBody>
      </p:sp>
      <p:cxnSp>
        <p:nvCxnSpPr>
          <p:cNvPr id="1393" name="Arrow"/>
          <p:cNvCxnSpPr/>
          <p:nvPr/>
        </p:nvCxnSpPr>
        <p:spPr>
          <a:xfrm>
            <a:off x="11014112" y="3910537"/>
            <a:ext cx="200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394" name="Box"/>
          <p:cNvSpPr/>
          <p:nvPr/>
        </p:nvSpPr>
        <p:spPr>
          <a:xfrm>
            <a:off x="8214112" y="4710537"/>
            <a:ext cx="2800000" cy="8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95" name="Text"/>
          <p:cNvSpPr txBox="1"/>
          <p:nvPr/>
        </p:nvSpPr>
        <p:spPr>
          <a:xfrm>
            <a:off x="8214112" y="4710537"/>
            <a:ext cx="280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Поток</a:t>
            </a:r>
          </a:p>
        </p:txBody>
      </p:sp>
      <p:sp>
        <p:nvSpPr>
          <p:cNvPr id="1396" name="Box"/>
          <p:cNvSpPr/>
          <p:nvPr/>
        </p:nvSpPr>
        <p:spPr>
          <a:xfrm>
            <a:off x="13014112" y="4710537"/>
            <a:ext cx="5700000" cy="80000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97" name="Text"/>
          <p:cNvSpPr txBox="1"/>
          <p:nvPr/>
        </p:nvSpPr>
        <p:spPr>
          <a:xfrm>
            <a:off x="13014112" y="4710537"/>
            <a:ext cx="570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Соединение 3</a:t>
            </a:r>
          </a:p>
        </p:txBody>
      </p:sp>
      <p:cxnSp>
        <p:nvCxnSpPr>
          <p:cNvPr id="1398" name="Arrow"/>
          <p:cNvCxnSpPr/>
          <p:nvPr/>
        </p:nvCxnSpPr>
        <p:spPr>
          <a:xfrm>
            <a:off x="11014112" y="5110537"/>
            <a:ext cx="200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399" name="Text"/>
          <p:cNvSpPr txBox="1"/>
          <p:nvPr/>
        </p:nvSpPr>
        <p:spPr>
          <a:xfrm>
            <a:off x="8214112" y="6410537"/>
            <a:ext cx="10500000" cy="53968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ru-RU" sz="31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Reactor: один поток на все соединения</a:t>
            </a:r>
          </a:p>
        </p:txBody>
      </p:sp>
      <p:sp>
        <p:nvSpPr>
          <p:cNvPr id="1400" name="Box"/>
          <p:cNvSpPr/>
          <p:nvPr/>
        </p:nvSpPr>
        <p:spPr>
          <a:xfrm>
            <a:off x="8214112" y="8410537"/>
            <a:ext cx="2800000" cy="80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01" name="Text"/>
          <p:cNvSpPr txBox="1"/>
          <p:nvPr/>
        </p:nvSpPr>
        <p:spPr>
          <a:xfrm>
            <a:off x="8214112" y="8410537"/>
            <a:ext cx="280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000" b="1" dirty="0">
                <a:solidFill>
                  <a:srgbClr val="333333"/>
                </a:solidFill>
                <a:latin typeface="T-Sans"/>
                <a:ea typeface="T-Sans"/>
              </a:rPr>
              <a:t>Поток</a:t>
            </a:r>
          </a:p>
          <a:p>
            <a:pPr algn="ctr">
              <a:lnSpc>
                <a:spcPct val="120000"/>
              </a:lnSpc>
            </a:pPr>
            <a:r>
              <a:rPr lang="ru-RU" sz="2000" b="1" dirty="0">
                <a:solidFill>
                  <a:srgbClr val="333333"/>
                </a:solidFill>
                <a:latin typeface="T-Sans"/>
                <a:ea typeface="T-Sans"/>
              </a:rPr>
              <a:t>(селектор)</a:t>
            </a:r>
          </a:p>
        </p:txBody>
      </p:sp>
      <p:sp>
        <p:nvSpPr>
          <p:cNvPr id="1402" name="Box"/>
          <p:cNvSpPr/>
          <p:nvPr/>
        </p:nvSpPr>
        <p:spPr>
          <a:xfrm>
            <a:off x="13014112" y="7210537"/>
            <a:ext cx="5700000" cy="80000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03" name="Text"/>
          <p:cNvSpPr txBox="1"/>
          <p:nvPr/>
        </p:nvSpPr>
        <p:spPr>
          <a:xfrm>
            <a:off x="13014112" y="7210537"/>
            <a:ext cx="570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Соединение 1</a:t>
            </a:r>
          </a:p>
        </p:txBody>
      </p:sp>
      <p:cxnSp>
        <p:nvCxnSpPr>
          <p:cNvPr id="1404" name="Arrow"/>
          <p:cNvCxnSpPr/>
          <p:nvPr/>
        </p:nvCxnSpPr>
        <p:spPr>
          <a:xfrm flipV="1">
            <a:off x="11014112" y="7610537"/>
            <a:ext cx="2000000" cy="1200000"/>
          </a:xfrm>
          <a:prstGeom prst="straightConnector1">
            <a:avLst/>
          </a:prstGeom>
          <a:ln w="25400">
            <a:solidFill>
              <a:srgbClr val="333333"/>
            </a:solidFill>
            <a:prstDash val="dash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405" name="Box"/>
          <p:cNvSpPr/>
          <p:nvPr/>
        </p:nvSpPr>
        <p:spPr>
          <a:xfrm>
            <a:off x="13014112" y="8410537"/>
            <a:ext cx="5700000" cy="80000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06" name="Text"/>
          <p:cNvSpPr txBox="1"/>
          <p:nvPr/>
        </p:nvSpPr>
        <p:spPr>
          <a:xfrm>
            <a:off x="13014112" y="8410537"/>
            <a:ext cx="570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Соединение 2</a:t>
            </a:r>
          </a:p>
        </p:txBody>
      </p:sp>
      <p:cxnSp>
        <p:nvCxnSpPr>
          <p:cNvPr id="1407" name="Arrow"/>
          <p:cNvCxnSpPr/>
          <p:nvPr/>
        </p:nvCxnSpPr>
        <p:spPr>
          <a:xfrm>
            <a:off x="11014112" y="8810537"/>
            <a:ext cx="2000000" cy="1"/>
          </a:xfrm>
          <a:prstGeom prst="straightConnector1">
            <a:avLst/>
          </a:prstGeom>
          <a:ln w="25400">
            <a:solidFill>
              <a:srgbClr val="333333"/>
            </a:solidFill>
            <a:prstDash val="dash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408" name="Box"/>
          <p:cNvSpPr/>
          <p:nvPr/>
        </p:nvSpPr>
        <p:spPr>
          <a:xfrm>
            <a:off x="13014112" y="9610537"/>
            <a:ext cx="5700000" cy="80000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09" name="Text"/>
          <p:cNvSpPr txBox="1"/>
          <p:nvPr/>
        </p:nvSpPr>
        <p:spPr>
          <a:xfrm>
            <a:off x="13014112" y="9610537"/>
            <a:ext cx="570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800" b="1" dirty="0">
                <a:solidFill>
                  <a:srgbClr val="333333"/>
                </a:solidFill>
                <a:latin typeface="T-Sans"/>
                <a:ea typeface="T-Sans"/>
              </a:rPr>
              <a:t>Соединение 3</a:t>
            </a:r>
          </a:p>
        </p:txBody>
      </p:sp>
      <p:cxnSp>
        <p:nvCxnSpPr>
          <p:cNvPr id="1410" name="Arrow"/>
          <p:cNvCxnSpPr/>
          <p:nvPr/>
        </p:nvCxnSpPr>
        <p:spPr>
          <a:xfrm>
            <a:off x="11014112" y="8810537"/>
            <a:ext cx="2000000" cy="1200000"/>
          </a:xfrm>
          <a:prstGeom prst="straightConnector1">
            <a:avLst/>
          </a:prstGeom>
          <a:ln w="25400">
            <a:solidFill>
              <a:srgbClr val="333333"/>
            </a:solidFill>
            <a:prstDash val="dash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</p:spTree>
    <p:extLst>
      <p:ext uri="{BB962C8B-B14F-4D97-AF65-F5344CB8AC3E}">
        <p14:creationId xmlns:p14="http://schemas.microsoft.com/office/powerpoint/2010/main" val="195182195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629898F-42BF-495D-93D0-CE0DB76265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34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6D6B8-5054-4A83-A923-DBD7BEBAED08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b="1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На этом NIO не заканчивается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DEB72-4403-4B23-8E1D-4A046308958A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Для самостоятельного изучения</a:t>
            </a:r>
          </a:p>
        </p:txBody>
      </p:sp>
    </p:spTree>
    <p:extLst>
      <p:ext uri="{BB962C8B-B14F-4D97-AF65-F5344CB8AC3E}">
        <p14:creationId xmlns:p14="http://schemas.microsoft.com/office/powerpoint/2010/main" val="1208030351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71065" name="Полилиния 42"/>
          <p:cNvSpPr/>
          <p:nvPr/>
        </p:nvSpPr>
        <p:spPr bwMode="auto">
          <a:xfrm>
            <a:off x="395287" y="401594"/>
            <a:ext cx="6240961" cy="5107687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42000">
                <a:schemeClr val="accent1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 b="1">
              <a:latin typeface="T-Sans" pitchFamily="2" charset="77"/>
              <a:ea typeface="T-Sans" pitchFamily="2" charset="77"/>
            </a:endParaRPr>
          </a:p>
        </p:txBody>
      </p:sp>
      <p:sp>
        <p:nvSpPr>
          <p:cNvPr id="2088647592" name="Овал 43"/>
          <p:cNvSpPr/>
          <p:nvPr/>
        </p:nvSpPr>
        <p:spPr bwMode="auto">
          <a:xfrm>
            <a:off x="5617544" y="4487020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endParaRPr lang="ru-RU" sz="3600" b="1">
              <a:solidFill>
                <a:schemeClr val="accent2"/>
              </a:solidFill>
              <a:latin typeface="T-Sans" pitchFamily="2" charset="77"/>
              <a:ea typeface="T-Sans" pitchFamily="2" charset="77"/>
            </a:endParaRPr>
          </a:p>
        </p:txBody>
      </p:sp>
      <p:sp>
        <p:nvSpPr>
          <p:cNvPr id="1814233239" name="TextBox 44"/>
          <p:cNvSpPr txBox="1"/>
          <p:nvPr/>
        </p:nvSpPr>
        <p:spPr bwMode="auto">
          <a:xfrm>
            <a:off x="611186" y="1085445"/>
            <a:ext cx="5824023" cy="1426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44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Что осталось за кадром</a:t>
            </a:r>
          </a:p>
        </p:txBody>
      </p:sp>
      <p:pic>
        <p:nvPicPr>
          <p:cNvPr id="574235381" name="Рисунок 3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849049" y="4718526"/>
            <a:ext cx="571762" cy="571762"/>
          </a:xfrm>
          <a:prstGeom prst="rect">
            <a:avLst/>
          </a:prstGeom>
        </p:spPr>
      </p:pic>
      <p:sp>
        <p:nvSpPr>
          <p:cNvPr id="1411" name="Text"/>
          <p:cNvSpPr txBox="1"/>
          <p:nvPr/>
        </p:nvSpPr>
        <p:spPr>
          <a:xfrm>
            <a:off x="611186" y="2650000"/>
            <a:ext cx="5500000" cy="1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200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Мы разобрали только то, что нужно для Reactor. Остальное - для самостоятельного изучения.</a:t>
            </a:r>
          </a:p>
        </p:txBody>
      </p:sp>
      <p:sp>
        <p:nvSpPr>
          <p:cNvPr id="1412" name="Полилиния 24"/>
          <p:cNvSpPr/>
          <p:nvPr/>
        </p:nvSpPr>
        <p:spPr bwMode="auto">
          <a:xfrm>
            <a:off x="6767511" y="408493"/>
            <a:ext cx="6240961" cy="5107687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 b="1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413" name="Овал 28"/>
          <p:cNvSpPr/>
          <p:nvPr/>
        </p:nvSpPr>
        <p:spPr bwMode="auto">
          <a:xfrm>
            <a:off x="12006645" y="4480706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 dirty="0">
                <a:solidFill>
                  <a:schemeClr val="accent2"/>
                </a:solidFill>
                <a:latin typeface="T-Sans" pitchFamily="2" charset="77"/>
                <a:ea typeface="T-Sans" pitchFamily="2" charset="77"/>
              </a:rPr>
              <a:t>1</a:t>
            </a:r>
            <a:endParaRPr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414" name="TextBox 40"/>
          <p:cNvSpPr txBox="1"/>
          <p:nvPr/>
        </p:nvSpPr>
        <p:spPr bwMode="auto">
          <a:xfrm>
            <a:off x="7324795" y="958783"/>
            <a:ext cx="4880610" cy="626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34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ByteBuffer</a:t>
            </a:r>
          </a:p>
        </p:txBody>
      </p:sp>
      <p:sp>
        <p:nvSpPr>
          <p:cNvPr id="1415" name="TextBox 2">
            <a:extLst>
              <a:ext uri="{FF2B5EF4-FFF2-40B4-BE49-F238E27FC236}">
                <a16:creationId xmlns:a16="http://schemas.microsoft.com/office/drawing/2014/main" id="{7DBC0E75-10E2-4AC2-ABEC-3CBBB3F1F759}"/>
              </a:ext>
            </a:extLst>
          </p:cNvPr>
          <p:cNvSpPr txBox="1"/>
          <p:nvPr/>
        </p:nvSpPr>
        <p:spPr>
          <a:xfrm>
            <a:off x="7324795" y="1798905"/>
            <a:ext cx="4880000" cy="12607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600" dirty="0">
                <a:solidFill>
                  <a:srgbClr val="555555"/>
                </a:solidFill>
                <a:latin typeface="T-Sans" pitchFamily="2" charset="0"/>
                <a:ea typeface="T-Sans" pitchFamily="2" charset="0"/>
              </a:rPr>
              <a:t>position, limit, flip, compact; порядок байт и представления.</a:t>
            </a:r>
          </a:p>
        </p:txBody>
      </p:sp>
      <p:sp>
        <p:nvSpPr>
          <p:cNvPr id="1416" name="Полилиния 27"/>
          <p:cNvSpPr/>
          <p:nvPr/>
        </p:nvSpPr>
        <p:spPr bwMode="auto">
          <a:xfrm>
            <a:off x="13176248" y="408493"/>
            <a:ext cx="6240962" cy="5107687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 b="1">
              <a:latin typeface="T-Sans" pitchFamily="2" charset="77"/>
              <a:ea typeface="T-Sans" pitchFamily="2" charset="77"/>
            </a:endParaRPr>
          </a:p>
        </p:txBody>
      </p:sp>
      <p:sp>
        <p:nvSpPr>
          <p:cNvPr id="1417" name="Овал 29"/>
          <p:cNvSpPr/>
          <p:nvPr/>
        </p:nvSpPr>
        <p:spPr bwMode="auto">
          <a:xfrm>
            <a:off x="18373771" y="4480706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" pitchFamily="2" charset="77"/>
                <a:ea typeface="T-Sans" pitchFamily="2" charset="77"/>
              </a:rPr>
              <a:t>2</a:t>
            </a:r>
            <a:endParaRPr>
              <a:latin typeface="T-Sans" pitchFamily="2" charset="77"/>
              <a:ea typeface="T-Sans" pitchFamily="2" charset="77"/>
            </a:endParaRPr>
          </a:p>
        </p:txBody>
      </p:sp>
      <p:sp>
        <p:nvSpPr>
          <p:cNvPr id="1418" name="TextBox 38"/>
          <p:cNvSpPr txBox="1"/>
          <p:nvPr/>
        </p:nvSpPr>
        <p:spPr bwMode="auto">
          <a:xfrm>
            <a:off x="13724507" y="958783"/>
            <a:ext cx="4883490" cy="626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34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Виды буферов</a:t>
            </a:r>
          </a:p>
        </p:txBody>
      </p:sp>
      <p:sp>
        <p:nvSpPr>
          <p:cNvPr id="1419" name="TextBox 1">
            <a:extLst>
              <a:ext uri="{FF2B5EF4-FFF2-40B4-BE49-F238E27FC236}">
                <a16:creationId xmlns:a16="http://schemas.microsoft.com/office/drawing/2014/main" id="{4C566ED8-34CD-42AE-914B-031FBC45EA14}"/>
              </a:ext>
            </a:extLst>
          </p:cNvPr>
          <p:cNvSpPr txBox="1"/>
          <p:nvPr/>
        </p:nvSpPr>
        <p:spPr bwMode="auto">
          <a:xfrm>
            <a:off x="13724507" y="1720276"/>
            <a:ext cx="4880000" cy="12607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600" dirty="0">
                <a:solidFill>
                  <a:srgbClr val="555555"/>
                </a:solidFill>
                <a:latin typeface="T-Sans" pitchFamily="2" charset="0"/>
                <a:ea typeface="T-Sans" pitchFamily="2" charset="0"/>
              </a:rPr>
              <a:t>Heap, direct и MappedByteBuffer: где живёт память и сколько стоит.</a:t>
            </a:r>
          </a:p>
        </p:txBody>
      </p:sp>
      <p:sp>
        <p:nvSpPr>
          <p:cNvPr id="1420" name="Полилиния 21"/>
          <p:cNvSpPr/>
          <p:nvPr/>
        </p:nvSpPr>
        <p:spPr bwMode="auto">
          <a:xfrm>
            <a:off x="395287" y="5686826"/>
            <a:ext cx="6240961" cy="5107687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 b="1">
              <a:latin typeface="T-Sans" pitchFamily="2" charset="77"/>
              <a:ea typeface="T-Sans" pitchFamily="2" charset="77"/>
            </a:endParaRPr>
          </a:p>
        </p:txBody>
      </p:sp>
      <p:sp>
        <p:nvSpPr>
          <p:cNvPr id="1421" name="Овал 2"/>
          <p:cNvSpPr/>
          <p:nvPr/>
        </p:nvSpPr>
        <p:spPr bwMode="auto">
          <a:xfrm>
            <a:off x="5617544" y="9772252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" pitchFamily="2" charset="77"/>
                <a:ea typeface="T-Sans" pitchFamily="2" charset="77"/>
              </a:rPr>
              <a:t>3</a:t>
            </a:r>
            <a:endParaRPr>
              <a:latin typeface="T-Sans" pitchFamily="2" charset="77"/>
              <a:ea typeface="T-Sans" pitchFamily="2" charset="77"/>
            </a:endParaRPr>
          </a:p>
        </p:txBody>
      </p:sp>
      <p:sp>
        <p:nvSpPr>
          <p:cNvPr id="1422" name="TextBox 5"/>
          <p:cNvSpPr txBox="1"/>
          <p:nvPr/>
        </p:nvSpPr>
        <p:spPr bwMode="auto">
          <a:xfrm>
            <a:off x="925083" y="6257898"/>
            <a:ext cx="4879170" cy="626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34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Файлы</a:t>
            </a:r>
          </a:p>
        </p:txBody>
      </p:sp>
      <p:sp>
        <p:nvSpPr>
          <p:cNvPr id="1423" name="TextBox 3">
            <a:extLst>
              <a:ext uri="{FF2B5EF4-FFF2-40B4-BE49-F238E27FC236}">
                <a16:creationId xmlns:a16="http://schemas.microsoft.com/office/drawing/2014/main" id="{8D7F6C74-1474-45C2-B1B7-2F1961D23E61}"/>
              </a:ext>
            </a:extLst>
          </p:cNvPr>
          <p:cNvSpPr txBox="1"/>
          <p:nvPr/>
        </p:nvSpPr>
        <p:spPr bwMode="auto">
          <a:xfrm>
            <a:off x="906031" y="7106418"/>
            <a:ext cx="4880000" cy="12607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600" dirty="0">
                <a:solidFill>
                  <a:srgbClr val="555555"/>
                </a:solidFill>
                <a:latin typeface="T-Sans" pitchFamily="2" charset="0"/>
                <a:ea typeface="T-Sans" pitchFamily="2" charset="0"/>
              </a:rPr>
              <a:t>FileChannel, transferTo, Path, Files, WatchService.</a:t>
            </a:r>
          </a:p>
        </p:txBody>
      </p:sp>
      <p:sp>
        <p:nvSpPr>
          <p:cNvPr id="1424" name="Полилиния 22"/>
          <p:cNvSpPr/>
          <p:nvPr/>
        </p:nvSpPr>
        <p:spPr bwMode="auto">
          <a:xfrm>
            <a:off x="6767511" y="5675437"/>
            <a:ext cx="6240961" cy="5107687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 b="1">
              <a:latin typeface="T-Sans" pitchFamily="2" charset="77"/>
              <a:ea typeface="T-Sans" pitchFamily="2" charset="77"/>
            </a:endParaRPr>
          </a:p>
        </p:txBody>
      </p:sp>
      <p:sp>
        <p:nvSpPr>
          <p:cNvPr id="1425" name="Овал 8"/>
          <p:cNvSpPr/>
          <p:nvPr/>
        </p:nvSpPr>
        <p:spPr bwMode="auto">
          <a:xfrm>
            <a:off x="12006645" y="9747650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" pitchFamily="2" charset="77"/>
                <a:ea typeface="T-Sans" pitchFamily="2" charset="77"/>
              </a:rPr>
              <a:t>4</a:t>
            </a:r>
            <a:endParaRPr>
              <a:latin typeface="T-Sans" pitchFamily="2" charset="77"/>
              <a:ea typeface="T-Sans" pitchFamily="2" charset="77"/>
            </a:endParaRPr>
          </a:p>
        </p:txBody>
      </p:sp>
      <p:sp>
        <p:nvSpPr>
          <p:cNvPr id="1426" name="TextBox 15"/>
          <p:cNvSpPr txBox="1"/>
          <p:nvPr/>
        </p:nvSpPr>
        <p:spPr bwMode="auto">
          <a:xfrm>
            <a:off x="7324795" y="6225727"/>
            <a:ext cx="4883490" cy="626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34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Асинхронность</a:t>
            </a:r>
          </a:p>
        </p:txBody>
      </p:sp>
      <p:sp>
        <p:nvSpPr>
          <p:cNvPr id="1427" name="TextBox 4">
            <a:extLst>
              <a:ext uri="{FF2B5EF4-FFF2-40B4-BE49-F238E27FC236}">
                <a16:creationId xmlns:a16="http://schemas.microsoft.com/office/drawing/2014/main" id="{05EE27E7-0535-4EF1-8849-663B71CBC421}"/>
              </a:ext>
            </a:extLst>
          </p:cNvPr>
          <p:cNvSpPr txBox="1"/>
          <p:nvPr/>
        </p:nvSpPr>
        <p:spPr bwMode="auto">
          <a:xfrm>
            <a:off x="7324795" y="7106418"/>
            <a:ext cx="4880000" cy="864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600" dirty="0">
                <a:solidFill>
                  <a:srgbClr val="555555"/>
                </a:solidFill>
                <a:latin typeface="T-Sans" pitchFamily="2" charset="0"/>
                <a:ea typeface="T-Sans" pitchFamily="2" charset="0"/>
              </a:rPr>
              <a:t>Асинхронные каналы NIO.2 и модель Proactor.</a:t>
            </a:r>
          </a:p>
        </p:txBody>
      </p:sp>
      <p:sp>
        <p:nvSpPr>
          <p:cNvPr id="1428" name="Полилиния 23"/>
          <p:cNvSpPr/>
          <p:nvPr/>
        </p:nvSpPr>
        <p:spPr bwMode="auto">
          <a:xfrm>
            <a:off x="13176248" y="5675437"/>
            <a:ext cx="6240962" cy="5107687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FDB2B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 b="1">
              <a:latin typeface="T-Sans" pitchFamily="2" charset="77"/>
              <a:ea typeface="T-Sans" pitchFamily="2" charset="77"/>
            </a:endParaRPr>
          </a:p>
        </p:txBody>
      </p:sp>
      <p:sp>
        <p:nvSpPr>
          <p:cNvPr id="1429" name="Овал 10"/>
          <p:cNvSpPr/>
          <p:nvPr/>
        </p:nvSpPr>
        <p:spPr bwMode="auto">
          <a:xfrm>
            <a:off x="18373771" y="9747650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" pitchFamily="2" charset="77"/>
                <a:ea typeface="T-Sans" pitchFamily="2" charset="77"/>
              </a:rPr>
              <a:t>5</a:t>
            </a:r>
            <a:endParaRPr>
              <a:latin typeface="T-Sans" pitchFamily="2" charset="77"/>
              <a:ea typeface="T-Sans" pitchFamily="2" charset="77"/>
            </a:endParaRPr>
          </a:p>
        </p:txBody>
      </p:sp>
      <p:sp>
        <p:nvSpPr>
          <p:cNvPr id="1430" name="TextBox 13"/>
          <p:cNvSpPr txBox="1"/>
          <p:nvPr/>
        </p:nvSpPr>
        <p:spPr bwMode="auto">
          <a:xfrm>
            <a:off x="13724507" y="6225727"/>
            <a:ext cx="4879890" cy="626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34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Экосистема</a:t>
            </a:r>
          </a:p>
        </p:txBody>
      </p:sp>
      <p:sp>
        <p:nvSpPr>
          <p:cNvPr id="1431" name="TextBox 5">
            <a:extLst>
              <a:ext uri="{FF2B5EF4-FFF2-40B4-BE49-F238E27FC236}">
                <a16:creationId xmlns:a16="http://schemas.microsoft.com/office/drawing/2014/main" id="{AAF91DF0-1E5D-4AC8-BE02-968721E133C9}"/>
              </a:ext>
            </a:extLst>
          </p:cNvPr>
          <p:cNvSpPr txBox="1"/>
          <p:nvPr/>
        </p:nvSpPr>
        <p:spPr bwMode="auto">
          <a:xfrm>
            <a:off x="13724507" y="7106418"/>
            <a:ext cx="4880000" cy="16569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600" dirty="0">
                <a:solidFill>
                  <a:srgbClr val="555555"/>
                </a:solidFill>
                <a:latin typeface="T-Sans" pitchFamily="2" charset="0"/>
                <a:ea typeface="T-Sans" pitchFamily="2" charset="0"/>
              </a:rPr>
              <a:t>Netty, Vert.x, Spring WebFlux. Виртуальные потоки - отдельный семинар.</a:t>
            </a:r>
          </a:p>
        </p:txBody>
      </p:sp>
    </p:spTree>
    <p:extLst>
      <p:ext uri="{BB962C8B-B14F-4D97-AF65-F5344CB8AC3E}">
        <p14:creationId xmlns:p14="http://schemas.microsoft.com/office/powerpoint/2010/main" val="78308913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13036B3-80E0-4378-42AA-E09684F42BE9}"/>
              </a:ext>
            </a:extLst>
          </p:cNvPr>
          <p:cNvGrpSpPr/>
          <p:nvPr/>
        </p:nvGrpSpPr>
        <p:grpSpPr>
          <a:xfrm>
            <a:off x="1943100" y="3075009"/>
            <a:ext cx="7302500" cy="4529976"/>
            <a:chOff x="1943100" y="2934186"/>
            <a:chExt cx="7302500" cy="45299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16822C-1161-C64B-5143-FB1B67D9D1BA}"/>
                </a:ext>
              </a:extLst>
            </p:cNvPr>
            <p:cNvSpPr txBox="1"/>
            <p:nvPr/>
          </p:nvSpPr>
          <p:spPr>
            <a:xfrm>
              <a:off x="1946564" y="2934186"/>
              <a:ext cx="7299036" cy="3019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r>
                <a:rPr lang="ru-RU" sz="7200" b="1" dirty="0">
                  <a:latin typeface="T-Sans" pitchFamily="2" charset="0"/>
                  <a:ea typeface="T-Sans" pitchFamily="2" charset="0"/>
                </a:rPr>
                <a:t>Оставьте, пожалуйста, обратную связь!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5D8327-AB0B-6ED6-BC38-664C67DF128C}"/>
                </a:ext>
              </a:extLst>
            </p:cNvPr>
            <p:cNvSpPr txBox="1"/>
            <p:nvPr/>
          </p:nvSpPr>
          <p:spPr>
            <a:xfrm>
              <a:off x="1943100" y="6531599"/>
              <a:ext cx="7302500" cy="932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Обратная связь позволяет нам самосовершенствоваться и делать курс лучше!</a:t>
              </a:r>
            </a:p>
          </p:txBody>
        </p:sp>
      </p:grp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31F5F82-6E5A-CBC1-4863-FF922E508BE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" r="206"/>
          <a:stretch>
            <a:fillRect/>
          </a:stretch>
        </p:blipFill>
        <p:spPr/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82FE40B-D930-B8C8-967E-4D55B74CFB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906448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2230F0-CF79-107D-8823-9E107D8A6CF9}"/>
              </a:ext>
            </a:extLst>
          </p:cNvPr>
          <p:cNvSpPr txBox="1"/>
          <p:nvPr/>
        </p:nvSpPr>
        <p:spPr>
          <a:xfrm>
            <a:off x="1520526" y="6644006"/>
            <a:ext cx="10023773" cy="2920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5400" b="1">
                <a:solidFill>
                  <a:srgbClr val="ADB0B4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115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Спасибо </a:t>
            </a:r>
            <a:b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</a:br>
            <a: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за внимание! 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D588F52-4DD6-A73F-50AE-C643A67752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39738" y="647700"/>
            <a:ext cx="6045749" cy="9864725"/>
          </a:xfr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</p:spPr>
      </p:pic>
    </p:spTree>
    <p:extLst>
      <p:ext uri="{BB962C8B-B14F-4D97-AF65-F5344CB8AC3E}">
        <p14:creationId xmlns:p14="http://schemas.microsoft.com/office/powerpoint/2010/main" val="1551361192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algn="l" defTabSz="457200">
          <a:defRPr sz="1800" dirty="0">
            <a:latin typeface="T-Sans" pitchFamily="2" charset="0"/>
            <a:ea typeface="T-Sans" pitchFamily="2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61094</TotalTime>
  <Words>1942</Words>
  <Application>Microsoft Macintosh PowerPoint</Application>
  <PresentationFormat>Custom</PresentationFormat>
  <Paragraphs>404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Wingdings</vt:lpstr>
      <vt:lpstr>Tinkoff Sans</vt:lpstr>
      <vt:lpstr>T-Sans</vt:lpstr>
      <vt:lpstr>Arial</vt:lpstr>
      <vt:lpstr>JetBrains Mono Medium</vt:lpstr>
      <vt:lpstr>T-Sans Medium</vt:lpstr>
      <vt:lpstr>Cambria Math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an khasanov</cp:lastModifiedBy>
  <cp:revision>1315</cp:revision>
  <dcterms:modified xsi:type="dcterms:W3CDTF">2026-10-23T07:11:57Z</dcterms:modified>
</cp:coreProperties>
</file>