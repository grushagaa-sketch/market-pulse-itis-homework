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9799300" cy="11160125"/>
  <p:notesSz cx="19799300" cy="11160125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T-Sans" pitchFamily="2" charset="77"/>
      <p:regular r:id="rId28"/>
      <p:bold r:id="rId29"/>
    </p:embeddedFont>
    <p:embeddedFont>
      <p:font typeface="T-Sans Medium" pitchFamily="2" charset="77"/>
      <p:regular r:id="rId30"/>
    </p:embeddedFont>
    <p:embeddedFont>
      <p:font typeface="Tinkoff Sans" panose="02000506050000020004" pitchFamily="2" charset="77"/>
      <p:regular r:id="rId31"/>
    </p:embeddedFont>
  </p:embeddedFontLst>
  <p:defaultTextStyle>
    <a:defPPr marL="0" marR="0" indent="0" algn="l" defTabSz="90006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9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6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20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6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7" algn="l" defTabSz="45002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>
          <p15:clr>
            <a:srgbClr val="A4A3A4"/>
          </p15:clr>
        </p15:guide>
        <p15:guide id="2" orient="horz" pos="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74"/>
  </p:normalViewPr>
  <p:slideViewPr>
    <p:cSldViewPr snapToGrid="0" snapToObjects="1" showGuides="1">
      <p:cViewPr varScale="1">
        <p:scale>
          <a:sx n="76" d="100"/>
          <a:sy n="76" d="100"/>
        </p:scale>
        <p:origin x="712" y="208"/>
      </p:cViewPr>
      <p:guideLst>
        <p:guide pos="861"/>
        <p:guide orient="horz" pos="8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580438" cy="558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215688" y="0"/>
            <a:ext cx="8578850" cy="558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66096-1D7D-E34A-976A-F90817962559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59550" y="1395413"/>
            <a:ext cx="6680200" cy="3765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979613" y="5370513"/>
            <a:ext cx="15840075" cy="43942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601325"/>
            <a:ext cx="8580438" cy="558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215688" y="10601325"/>
            <a:ext cx="8578850" cy="558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DAB2D-3255-7C4B-9C54-B6B603CAE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7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CF8E6D"/>
                </a:solidFill>
                <a:effectLst/>
              </a:rPr>
              <a:t># </a:t>
            </a:r>
            <a:r>
              <a:rPr lang="ru-RU" dirty="0">
                <a:solidFill>
                  <a:srgbClr val="BCBEC4"/>
                </a:solidFill>
                <a:effectLst/>
              </a:rPr>
              <a:t>Продвинутый трек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 </a:t>
            </a:r>
            <a:r>
              <a:rPr lang="ru-RU" dirty="0">
                <a:solidFill>
                  <a:srgbClr val="BCBEC4"/>
                </a:solidFill>
                <a:effectLst/>
              </a:rPr>
              <a:t>Семинар 4. Обработка ошибок и исключительных ситуаций (продвинутый трек)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Тема модуля: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Корректная обработка ошибок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Тема семинара: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Собственные исключения, 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try-with-resources, </a:t>
            </a:r>
            <a:r>
              <a:rPr lang="en-US" dirty="0" err="1">
                <a:solidFill>
                  <a:srgbClr val="BCBEC4"/>
                </a:solidFill>
                <a:effectLst/>
              </a:rPr>
              <a:t>vavr.Try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стоимость исключений и её замер через </a:t>
            </a:r>
            <a:r>
              <a:rPr lang="en-US" dirty="0">
                <a:solidFill>
                  <a:srgbClr val="BCBEC4"/>
                </a:solidFill>
                <a:effectLst/>
              </a:rPr>
              <a:t>JMH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---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## </a:t>
            </a:r>
            <a:r>
              <a:rPr lang="ru-RU" dirty="0" err="1">
                <a:solidFill>
                  <a:srgbClr val="BCBEC4"/>
                </a:solidFill>
                <a:effectLst/>
              </a:rPr>
              <a:t>Пререквизиты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Семинар 1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Семинар 2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Семинар 3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Установленный </a:t>
            </a:r>
            <a:r>
              <a:rPr lang="en-US" dirty="0">
                <a:solidFill>
                  <a:srgbClr val="BCBEC4"/>
                </a:solidFill>
                <a:effectLst/>
              </a:rPr>
              <a:t>JDK 21+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Установленный </a:t>
            </a:r>
            <a:r>
              <a:rPr lang="en-US" dirty="0">
                <a:solidFill>
                  <a:srgbClr val="BCBEC4"/>
                </a:solidFill>
                <a:effectLst/>
              </a:rPr>
              <a:t>IntelliJ IDEA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en-US" dirty="0">
                <a:solidFill>
                  <a:srgbClr val="BCBEC4"/>
                </a:solidFill>
                <a:effectLst/>
              </a:rPr>
              <a:t>Maven (</a:t>
            </a:r>
            <a:r>
              <a:rPr lang="ru-RU" dirty="0">
                <a:solidFill>
                  <a:srgbClr val="BCBEC4"/>
                </a:solidFill>
                <a:effectLst/>
              </a:rPr>
              <a:t>базовый уровень)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JMH (</a:t>
            </a:r>
            <a:r>
              <a:rPr lang="ru-RU" dirty="0">
                <a:solidFill>
                  <a:srgbClr val="BCBEC4"/>
                </a:solidFill>
                <a:effectLst/>
              </a:rPr>
              <a:t>подключается по ходу семинара)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 </a:t>
            </a:r>
            <a:r>
              <a:rPr lang="ru-RU" dirty="0">
                <a:solidFill>
                  <a:srgbClr val="BCBEC4"/>
                </a:solidFill>
                <a:effectLst/>
              </a:rPr>
              <a:t>План семинара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 **</a:t>
            </a:r>
            <a:r>
              <a:rPr lang="ru-RU" dirty="0">
                <a:solidFill>
                  <a:srgbClr val="BCBEC4"/>
                </a:solidFill>
                <a:effectLst/>
              </a:rPr>
              <a:t>#</a:t>
            </a:r>
            <a:r>
              <a:rPr lang="ru-RU" dirty="0">
                <a:solidFill>
                  <a:srgbClr val="CF8E6D"/>
                </a:solidFill>
                <a:effectLst/>
              </a:rPr>
              <a:t>** | **</a:t>
            </a:r>
            <a:r>
              <a:rPr lang="ru-RU" dirty="0">
                <a:solidFill>
                  <a:srgbClr val="BCBEC4"/>
                </a:solidFill>
                <a:effectLst/>
              </a:rPr>
              <a:t>Этап</a:t>
            </a:r>
            <a:r>
              <a:rPr lang="ru-RU" dirty="0">
                <a:solidFill>
                  <a:srgbClr val="CF8E6D"/>
                </a:solidFill>
                <a:effectLst/>
              </a:rPr>
              <a:t>**                                          | **</a:t>
            </a:r>
            <a:r>
              <a:rPr lang="ru-RU" dirty="0">
                <a:solidFill>
                  <a:srgbClr val="BCBEC4"/>
                </a:solidFill>
                <a:effectLst/>
              </a:rPr>
              <a:t>Время</a:t>
            </a:r>
            <a:r>
              <a:rPr lang="ru-RU" dirty="0">
                <a:solidFill>
                  <a:srgbClr val="CF8E6D"/>
                </a:solidFill>
                <a:effectLst/>
              </a:rPr>
              <a:t>** 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|-------|---------------------------------------------------|-----------|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1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Мотивация: два способа сломаться           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~15 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2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Теория: коды возврата, исключения, спор о </a:t>
            </a:r>
            <a:r>
              <a:rPr lang="en-US" dirty="0">
                <a:solidFill>
                  <a:srgbClr val="BCBEC4"/>
                </a:solidFill>
                <a:effectLst/>
              </a:rPr>
              <a:t>checked </a:t>
            </a:r>
            <a:r>
              <a:rPr lang="en-US" dirty="0">
                <a:solidFill>
                  <a:srgbClr val="CF8E6D"/>
                </a:solidFill>
                <a:effectLst/>
              </a:rPr>
              <a:t>|</a:t>
            </a:r>
            <a:r>
              <a:rPr lang="en-US" dirty="0">
                <a:solidFill>
                  <a:srgbClr val="BCBEC4"/>
                </a:solidFill>
                <a:effectLst/>
              </a:rPr>
              <a:t> ~20 </a:t>
            </a:r>
            <a:r>
              <a:rPr lang="ru-RU" dirty="0">
                <a:solidFill>
                  <a:srgbClr val="BCBEC4"/>
                </a:solidFill>
                <a:effectLst/>
              </a:rPr>
              <a:t>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3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</a:t>
            </a:r>
            <a:r>
              <a:rPr lang="en-US" dirty="0">
                <a:solidFill>
                  <a:srgbClr val="BCBEC4"/>
                </a:solidFill>
                <a:effectLst/>
              </a:rPr>
              <a:t>C</a:t>
            </a:r>
            <a:r>
              <a:rPr lang="ru-RU" dirty="0" err="1">
                <a:solidFill>
                  <a:srgbClr val="BCBEC4"/>
                </a:solidFill>
                <a:effectLst/>
              </a:rPr>
              <a:t>обственные</a:t>
            </a:r>
            <a:r>
              <a:rPr lang="ru-RU" dirty="0">
                <a:solidFill>
                  <a:srgbClr val="BCBEC4"/>
                </a:solidFill>
                <a:effectLst/>
              </a:rPr>
              <a:t> исключения и их обработка      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~10 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4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 </a:t>
            </a:r>
            <a:r>
              <a:rPr lang="ru-RU" dirty="0">
                <a:solidFill>
                  <a:srgbClr val="BCBEC4"/>
                </a:solidFill>
                <a:effectLst/>
              </a:rPr>
              <a:t>и подавленные исключения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~10 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5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Библиотеки: </a:t>
            </a:r>
            <a:r>
              <a:rPr lang="en-US" dirty="0" err="1">
                <a:solidFill>
                  <a:srgbClr val="BCBEC4"/>
                </a:solidFill>
                <a:effectLst/>
              </a:rPr>
              <a:t>Vavr</a:t>
            </a:r>
            <a:r>
              <a:rPr lang="en-US" dirty="0">
                <a:solidFill>
                  <a:srgbClr val="BCBEC4"/>
                </a:solidFill>
                <a:effectLst/>
              </a:rPr>
              <a:t> Try </a:t>
            </a:r>
            <a:r>
              <a:rPr lang="ru-RU" dirty="0">
                <a:solidFill>
                  <a:srgbClr val="BCBEC4"/>
                </a:solidFill>
                <a:effectLst/>
              </a:rPr>
              <a:t>как альтернатива      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~10 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6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</a:t>
            </a:r>
            <a:r>
              <a:rPr lang="en-US" dirty="0">
                <a:solidFill>
                  <a:srgbClr val="BCBEC4"/>
                </a:solidFill>
                <a:effectLst/>
              </a:rPr>
              <a:t>JMH: </a:t>
            </a:r>
            <a:r>
              <a:rPr lang="ru-RU" dirty="0">
                <a:solidFill>
                  <a:srgbClr val="BCBEC4"/>
                </a:solidFill>
                <a:effectLst/>
              </a:rPr>
              <a:t>замеряем стоимость исключений         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~20 мин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7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Итоги                                         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r>
              <a:rPr lang="ru-RU" dirty="0">
                <a:solidFill>
                  <a:srgbClr val="BCBEC4"/>
                </a:solidFill>
                <a:effectLst/>
              </a:rPr>
              <a:t> ~5 мин    </a:t>
            </a:r>
            <a:r>
              <a:rPr lang="ru-RU" dirty="0">
                <a:solidFill>
                  <a:srgbClr val="CF8E6D"/>
                </a:solidFill>
                <a:effectLst/>
              </a:rPr>
              <a:t>|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1. Мотивация: два способа сломаться (~15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Самостоятельное исследование (~5 мин).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Прежде чем показывать заготовленные примеры, даём студентам открыть проект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 состоянии семинара 3 и самим попробовать его сломать — задание группе: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Поэкспериментируйте с командами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add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Попробуйте ввести то, чего программа не ожидает: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несуществующий тип инструмента, уже занятый тикер или что угодно ещё. Что удалось сломать? Как именно это выглядит —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программа падает с ошибкой, зависает, или просто делает что-то не то и молчит?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Через 5 минут — короткое обсуждение находок: кто что сломал и чем один способ сломать отличался от другого. Дальше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разбираем два характерных случая — скорее всего, оба уже прозвучали в находках группы.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market-pulse add CRYPTO BTC Bitcoin RUB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роняет необработанный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прямо в консоль пользователя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сырым </a:t>
            </a:r>
            <a:r>
              <a:rPr lang="ru-RU" dirty="0" err="1">
                <a:solidFill>
                  <a:srgbClr val="BCBEC4"/>
                </a:solidFill>
                <a:effectLst/>
              </a:rPr>
              <a:t>стектрейсом</a:t>
            </a:r>
            <a:r>
              <a:rPr lang="ru-RU" dirty="0">
                <a:solidFill>
                  <a:srgbClr val="BCBEC4"/>
                </a:solidFill>
                <a:effectLst/>
              </a:rPr>
              <a:t> — с семинара 3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InstrumentFactories.create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уже не падает с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NullPointerException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Registry.get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возвращает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Optional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create()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сам бросает осмысленный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через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orElseThrow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), </a:t>
            </a:r>
            <a:r>
              <a:rPr lang="ru-RU" dirty="0">
                <a:solidFill>
                  <a:srgbClr val="BCBEC4"/>
                </a:solidFill>
                <a:effectLst/>
              </a:rPr>
              <a:t>но в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AddCommand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это исключение по-прежнему никто не ловит. Повторный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add STOCK SBER </a:t>
            </a:r>
            <a:r>
              <a:rPr lang="ru-RU" dirty="0">
                <a:solidFill>
                  <a:srgbClr val="BCBEC4"/>
                </a:solidFill>
                <a:effectLst/>
              </a:rPr>
              <a:t>Сбербанк </a:t>
            </a:r>
            <a:r>
              <a:rPr lang="en-US" dirty="0">
                <a:solidFill>
                  <a:srgbClr val="BCBEC4"/>
                </a:solidFill>
                <a:effectLst/>
              </a:rPr>
              <a:t>RUB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с уже существующим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тикером не выдаёт вообще никакой ошибки, просто молча портит данные. Обсуждаем, почему тихая поломка опаснее громкой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(и почему хорошо типизированное, но необработанное исключение — тоже, по сути, форма «тихой» поломки: тип ошибки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правильный, но диалога с пользователем нет), и переходим к системной работе с обеими.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2. Теория: коды возврата, исключения, спор о </a:t>
            </a:r>
            <a:r>
              <a:rPr lang="en-US" dirty="0">
                <a:solidFill>
                  <a:srgbClr val="BCBEC4"/>
                </a:solidFill>
                <a:effectLst/>
              </a:rPr>
              <a:t>checked (~20 </a:t>
            </a:r>
            <a:r>
              <a:rPr lang="ru-RU" dirty="0">
                <a:solidFill>
                  <a:srgbClr val="BCBEC4"/>
                </a:solidFill>
                <a:effectLst/>
              </a:rPr>
              <a:t>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Коды возврата и </a:t>
            </a:r>
            <a:r>
              <a:rPr lang="en-US" dirty="0">
                <a:solidFill>
                  <a:srgbClr val="BCBEC4"/>
                </a:solidFill>
                <a:effectLst/>
              </a:rPr>
              <a:t>sentinel values.</a:t>
            </a:r>
            <a:r>
              <a:rPr lang="en-US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До исключений — единственный доступный инструмент: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-1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null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errno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findByTicker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возвращавший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null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до семинара 3, — тот же паттерн. Проверку легко забыть, компилятор не заставит,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несколько причин ошибки трудно закодировать одним значением.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Исключения.</a:t>
            </a:r>
            <a:r>
              <a:rPr lang="ru-RU" dirty="0">
                <a:solidFill>
                  <a:srgbClr val="CF8E6D"/>
                </a:solidFill>
                <a:effectLst/>
              </a:rPr>
              <a:t>** `</a:t>
            </a:r>
            <a:r>
              <a:rPr lang="en-US" dirty="0">
                <a:solidFill>
                  <a:srgbClr val="BCBEC4"/>
                </a:solidFill>
                <a:effectLst/>
              </a:rPr>
              <a:t>throw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прерывает нормальный поток и передаёт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Throwable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вверх по стеку до ближайшего подходящего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catch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В отличие от кода возврата, необработанное исключение не может быть молча проигнорировано — оно завершит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поток явно.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Иерархия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Throwable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:</a:t>
            </a:r>
            <a:r>
              <a:rPr lang="en-US" dirty="0">
                <a:solidFill>
                  <a:srgbClr val="CF8E6D"/>
                </a:solidFill>
                <a:effectLst/>
              </a:rPr>
              <a:t>** `</a:t>
            </a:r>
            <a:r>
              <a:rPr lang="en-US" dirty="0">
                <a:solidFill>
                  <a:srgbClr val="BCBEC4"/>
                </a:solidFill>
                <a:effectLst/>
              </a:rPr>
              <a:t>Error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ru-RU" dirty="0">
                <a:solidFill>
                  <a:srgbClr val="BCBEC4"/>
                </a:solidFill>
                <a:effectLst/>
              </a:rPr>
              <a:t>уровень </a:t>
            </a:r>
            <a:r>
              <a:rPr lang="en-US" dirty="0">
                <a:solidFill>
                  <a:srgbClr val="BCBEC4"/>
                </a:solidFill>
                <a:effectLst/>
              </a:rPr>
              <a:t>JVM, </a:t>
            </a:r>
            <a:r>
              <a:rPr lang="ru-RU" dirty="0">
                <a:solidFill>
                  <a:srgbClr val="BCBEC4"/>
                </a:solidFill>
                <a:effectLst/>
              </a:rPr>
              <a:t>не для приложения) 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внутри которого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(unchecked) </a:t>
            </a:r>
            <a:r>
              <a:rPr lang="ru-RU" dirty="0">
                <a:solidFill>
                  <a:srgbClr val="BCBEC4"/>
                </a:solidFill>
                <a:effectLst/>
              </a:rPr>
              <a:t>и всё остальное (</a:t>
            </a:r>
            <a:r>
              <a:rPr lang="en-US" dirty="0">
                <a:solidFill>
                  <a:srgbClr val="BCBEC4"/>
                </a:solidFill>
                <a:effectLst/>
              </a:rPr>
              <a:t>checked). 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компилятор обязывает объявить 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или обработать;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такого требования не несут.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Спор о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исключениях.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Идея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исключений — заставить разработчика осознанно обработать восстановимую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ошибку. У этой идеи есть реальные плюсы и минусы, и практика </a:t>
            </a:r>
            <a:r>
              <a:rPr lang="en-US" dirty="0">
                <a:solidFill>
                  <a:srgbClr val="BCBEC4"/>
                </a:solidFill>
                <a:effectLst/>
              </a:rPr>
              <a:t>Java-</a:t>
            </a:r>
            <a:r>
              <a:rPr lang="ru-RU" dirty="0">
                <a:solidFill>
                  <a:srgbClr val="BCBEC4"/>
                </a:solidFill>
                <a:effectLst/>
              </a:rPr>
              <a:t>экосистемы наглядно показывает оба.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Плюс: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документирует прямо в сигнатуре метода, какие ошибки от него ожидать, и не даёт забыть 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них на этапе компиляции — в отличие от </a:t>
            </a:r>
            <a:r>
              <a:rPr lang="en-US" dirty="0">
                <a:solidFill>
                  <a:srgbClr val="BCBEC4"/>
                </a:solidFill>
                <a:effectLst/>
              </a:rPr>
              <a:t>unchecked, </a:t>
            </a:r>
            <a:r>
              <a:rPr lang="ru-RU" dirty="0">
                <a:solidFill>
                  <a:srgbClr val="BCBEC4"/>
                </a:solidFill>
                <a:effectLst/>
              </a:rPr>
              <a:t>о существовании которых можно узнать только из документации или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исходного кода.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Минус: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плохо масштабируются по глубине вызовов. Если метод на пятом уровне вложенности бросает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исключение, а обработать его осмысленно способен только вызывающий код на первом уровне, все промежуточные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методы вынуждены либо ловить и немедленно перебрасывать, либо просто транзитом тащить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дальше по цепочке, не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имея возможности с ошибкой ничего сделать.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Хуже того, семантика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исключений способна незаметно сработать против разработчика даже там, где, казалось бы,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всё сделано «по правилам». Показательный пример — управление транзакциями в </a:t>
            </a:r>
            <a:r>
              <a:rPr lang="en-US" dirty="0">
                <a:solidFill>
                  <a:srgbClr val="BCBEC4"/>
                </a:solidFill>
                <a:effectLst/>
              </a:rPr>
              <a:t>Spring: </a:t>
            </a:r>
            <a:r>
              <a:rPr lang="ru-RU" dirty="0">
                <a:solidFill>
                  <a:srgbClr val="BCBEC4"/>
                </a:solidFill>
                <a:effectLst/>
              </a:rPr>
              <a:t>по умолчанию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@</a:t>
            </a:r>
            <a:r>
              <a:rPr lang="en-US" dirty="0">
                <a:solidFill>
                  <a:srgbClr val="BCBEC4"/>
                </a:solidFill>
                <a:effectLst/>
              </a:rPr>
              <a:t>Transactional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откатывает транзакцию только при </a:t>
            </a:r>
            <a:r>
              <a:rPr lang="en-US" dirty="0">
                <a:solidFill>
                  <a:srgbClr val="BCBEC4"/>
                </a:solidFill>
                <a:effectLst/>
              </a:rPr>
              <a:t>unchecked-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исключении (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или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Error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). </a:t>
            </a:r>
            <a:r>
              <a:rPr lang="ru-RU" dirty="0">
                <a:solidFill>
                  <a:srgbClr val="BCBEC4"/>
                </a:solidFill>
                <a:effectLst/>
              </a:rPr>
              <a:t>Если метод бросает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— даже объявленное прямо в сигнатуре через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 Spring </a:t>
            </a:r>
            <a:r>
              <a:rPr lang="ru-RU" dirty="0">
                <a:solidFill>
                  <a:srgbClr val="BCBEC4"/>
                </a:solidFill>
                <a:effectLst/>
              </a:rPr>
              <a:t>по умолчанию транзакцию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 err="1">
                <a:solidFill>
                  <a:srgbClr val="BCBEC4"/>
                </a:solidFill>
                <a:effectLst/>
              </a:rPr>
              <a:t>закоммитит</a:t>
            </a: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, а не откатит, если явно не указать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@</a:t>
            </a:r>
            <a:r>
              <a:rPr lang="en-US" dirty="0">
                <a:solidFill>
                  <a:srgbClr val="BCBEC4"/>
                </a:solidFill>
                <a:effectLst/>
              </a:rPr>
              <a:t>Transactional(</a:t>
            </a:r>
            <a:r>
              <a:rPr lang="en-US" dirty="0" err="1">
                <a:solidFill>
                  <a:srgbClr val="BCBEC4"/>
                </a:solidFill>
                <a:effectLst/>
              </a:rPr>
              <a:t>rollbackFor</a:t>
            </a:r>
            <a:r>
              <a:rPr lang="en-US" dirty="0">
                <a:solidFill>
                  <a:srgbClr val="BCBEC4"/>
                </a:solidFill>
                <a:effectLst/>
              </a:rPr>
              <a:t> = </a:t>
            </a:r>
            <a:r>
              <a:rPr lang="en-US" dirty="0" err="1">
                <a:solidFill>
                  <a:srgbClr val="BCBEC4"/>
                </a:solidFill>
                <a:effectLst/>
              </a:rPr>
              <a:t>MyCheckedException.class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Ошибка,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которая по всем формальным признакам «правильно объявлена и обработана», тихо проходит мимо механизма отката — ровно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тот класс тихих поломок, с которым разбирались на этапе 1, только спрятанный на уровне фреймворка, а не собственного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кода.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Тем же путём пошли и другие языки: ни </a:t>
            </a:r>
            <a:r>
              <a:rPr lang="en-US" dirty="0">
                <a:solidFill>
                  <a:srgbClr val="BCBEC4"/>
                </a:solidFill>
                <a:effectLst/>
              </a:rPr>
              <a:t>C#, </a:t>
            </a:r>
            <a:r>
              <a:rPr lang="ru-RU" dirty="0">
                <a:solidFill>
                  <a:srgbClr val="BCBEC4"/>
                </a:solidFill>
                <a:effectLst/>
              </a:rPr>
              <a:t>ни </a:t>
            </a:r>
            <a:r>
              <a:rPr lang="en-US" dirty="0">
                <a:solidFill>
                  <a:srgbClr val="BCBEC4"/>
                </a:solidFill>
                <a:effectLst/>
              </a:rPr>
              <a:t>Kotlin </a:t>
            </a:r>
            <a:r>
              <a:rPr lang="ru-RU" dirty="0">
                <a:solidFill>
                  <a:srgbClr val="BCBEC4"/>
                </a:solidFill>
                <a:effectLst/>
              </a:rPr>
              <a:t>не реализуют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вовсе, а многие </a:t>
            </a:r>
            <a:r>
              <a:rPr lang="en-US" dirty="0">
                <a:solidFill>
                  <a:srgbClr val="BCBEC4"/>
                </a:solidFill>
                <a:effectLst/>
              </a:rPr>
              <a:t>Java-</a:t>
            </a:r>
            <a:r>
              <a:rPr lang="ru-RU" dirty="0">
                <a:solidFill>
                  <a:srgbClr val="BCBEC4"/>
                </a:solidFill>
                <a:effectLst/>
              </a:rPr>
              <a:t>фреймворки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сознательно оборачивают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нижних слоёв в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на границе своего </a:t>
            </a:r>
            <a:r>
              <a:rPr lang="en-US" dirty="0">
                <a:solidFill>
                  <a:srgbClr val="BCBEC4"/>
                </a:solidFill>
                <a:effectLst/>
              </a:rPr>
              <a:t>API (</a:t>
            </a:r>
            <a:r>
              <a:rPr lang="ru-RU" dirty="0">
                <a:solidFill>
                  <a:srgbClr val="BCBEC4"/>
                </a:solidFill>
                <a:effectLst/>
              </a:rPr>
              <a:t>например, доступ к данным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 </a:t>
            </a:r>
            <a:r>
              <a:rPr lang="en-US" dirty="0">
                <a:solidFill>
                  <a:srgbClr val="BCBEC4"/>
                </a:solidFill>
                <a:effectLst/>
              </a:rPr>
              <a:t>Spring </a:t>
            </a:r>
            <a:r>
              <a:rPr lang="ru-RU" dirty="0">
                <a:solidFill>
                  <a:srgbClr val="BCBEC4"/>
                </a:solidFill>
                <a:effectLst/>
              </a:rPr>
              <a:t>выбрасывает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DataAccessException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хотя под капотом обычно лежит </a:t>
            </a:r>
            <a:r>
              <a:rPr lang="en-US" dirty="0">
                <a:solidFill>
                  <a:srgbClr val="BCBEC4"/>
                </a:solidFill>
                <a:effectLst/>
              </a:rPr>
              <a:t>checked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SQLException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 — </a:t>
            </a:r>
            <a:r>
              <a:rPr lang="ru-RU" dirty="0">
                <a:solidFill>
                  <a:srgbClr val="BCBEC4"/>
                </a:solidFill>
                <a:effectLst/>
              </a:rPr>
              <a:t>именно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чтобы не навязывать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через все промежуточные слои вызовов, которым сама ошибка не интересна, и не создавать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почву для ловушек вроде транзакционной выше.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Особенно остро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конфликтуют с материалом семинара 3 — функциональными интерфейсами. Ни один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стандартный интерфейс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java.util.function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не объявляет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поэтому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внутри лямбды,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нацеленной на такой интерфейс, попросту не компилируется: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Function&lt;String, </a:t>
            </a:r>
            <a:r>
              <a:rPr lang="en-US" dirty="0" err="1">
                <a:solidFill>
                  <a:srgbClr val="6AAB73"/>
                </a:solidFill>
                <a:effectLst/>
              </a:rPr>
              <a:t>BigDecimal</a:t>
            </a:r>
            <a:r>
              <a:rPr lang="en-US" dirty="0">
                <a:solidFill>
                  <a:srgbClr val="6AAB73"/>
                </a:solidFill>
                <a:effectLst/>
              </a:rPr>
              <a:t>&gt; parser = s -&gt;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BigDecimal</a:t>
            </a:r>
            <a:r>
              <a:rPr lang="en-US" dirty="0">
                <a:solidFill>
                  <a:srgbClr val="6AAB73"/>
                </a:solidFill>
                <a:effectLst/>
              </a:rPr>
              <a:t>(s); // OK: </a:t>
            </a:r>
            <a:r>
              <a:rPr lang="en-US" dirty="0" err="1">
                <a:solidFill>
                  <a:srgbClr val="6AAB73"/>
                </a:solidFill>
                <a:effectLst/>
              </a:rPr>
              <a:t>NumberFormatException</a:t>
            </a:r>
            <a:r>
              <a:rPr lang="en-US" dirty="0">
                <a:solidFill>
                  <a:srgbClr val="6AAB73"/>
                </a:solidFill>
                <a:effectLst/>
              </a:rPr>
              <a:t> — unchecked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Function&lt;String, byte[]&gt; reader = path -&gt; </a:t>
            </a:r>
            <a:r>
              <a:rPr lang="en-US" dirty="0" err="1">
                <a:solidFill>
                  <a:srgbClr val="6AAB73"/>
                </a:solidFill>
                <a:effectLst/>
              </a:rPr>
              <a:t>Files.readAllBytes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Path.of</a:t>
            </a:r>
            <a:r>
              <a:rPr lang="en-US" dirty="0">
                <a:solidFill>
                  <a:srgbClr val="6AAB73"/>
                </a:solidFill>
                <a:effectLst/>
              </a:rPr>
              <a:t>(path)); // </a:t>
            </a:r>
            <a:r>
              <a:rPr lang="ru-RU" dirty="0">
                <a:solidFill>
                  <a:srgbClr val="6AAB73"/>
                </a:solidFill>
                <a:effectLst/>
              </a:rPr>
              <a:t>ошибка компиляции: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// </a:t>
            </a:r>
            <a:r>
              <a:rPr lang="en-US" dirty="0" err="1">
                <a:solidFill>
                  <a:srgbClr val="6AAB73"/>
                </a:solidFill>
                <a:effectLst/>
              </a:rPr>
              <a:t>IOException</a:t>
            </a:r>
            <a:r>
              <a:rPr lang="en-US" dirty="0">
                <a:solidFill>
                  <a:srgbClr val="6AAB73"/>
                </a:solidFill>
                <a:effectLst/>
              </a:rPr>
              <a:t> — checked, </a:t>
            </a:r>
            <a:r>
              <a:rPr lang="ru-RU" dirty="0">
                <a:solidFill>
                  <a:srgbClr val="6AAB73"/>
                </a:solidFill>
                <a:effectLst/>
              </a:rPr>
              <a:t>а </a:t>
            </a:r>
            <a:r>
              <a:rPr lang="en-US" dirty="0" err="1">
                <a:solidFill>
                  <a:srgbClr val="6AAB73"/>
                </a:solidFill>
                <a:effectLst/>
              </a:rPr>
              <a:t>Function.apply</a:t>
            </a:r>
            <a:r>
              <a:rPr lang="en-US" dirty="0">
                <a:solidFill>
                  <a:srgbClr val="6AAB73"/>
                </a:solidFill>
                <a:effectLst/>
              </a:rPr>
              <a:t> </a:t>
            </a:r>
            <a:r>
              <a:rPr lang="ru-RU" dirty="0">
                <a:solidFill>
                  <a:srgbClr val="6AAB73"/>
                </a:solidFill>
                <a:effectLst/>
              </a:rPr>
              <a:t>не объявляет </a:t>
            </a:r>
            <a:r>
              <a:rPr lang="en-US" dirty="0">
                <a:solidFill>
                  <a:srgbClr val="6AAB73"/>
                </a:solidFill>
                <a:effectLst/>
              </a:rPr>
              <a:t>throws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Единственный выход — обернуть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в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прямо внутри лямбды: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Function&lt;String, byte[]&gt; reader = path -&gt;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try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</a:t>
            </a:r>
            <a:r>
              <a:rPr lang="en-US" dirty="0" err="1">
                <a:solidFill>
                  <a:srgbClr val="6AAB73"/>
                </a:solidFill>
                <a:effectLst/>
              </a:rPr>
              <a:t>Files.readAllBytes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Path.of</a:t>
            </a:r>
            <a:r>
              <a:rPr lang="en-US" dirty="0">
                <a:solidFill>
                  <a:srgbClr val="6AAB73"/>
                </a:solidFill>
                <a:effectLst/>
              </a:rPr>
              <a:t>(path));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 catch (</a:t>
            </a:r>
            <a:r>
              <a:rPr lang="en-US" dirty="0" err="1">
                <a:solidFill>
                  <a:srgbClr val="6AAB73"/>
                </a:solidFill>
                <a:effectLst/>
              </a:rPr>
              <a:t>IOException</a:t>
            </a:r>
            <a:r>
              <a:rPr lang="en-US" dirty="0">
                <a:solidFill>
                  <a:srgbClr val="6AAB73"/>
                </a:solidFill>
                <a:effectLst/>
              </a:rPr>
              <a:t> 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UncheckedIOException</a:t>
            </a:r>
            <a:r>
              <a:rPr lang="en-US" dirty="0">
                <a:solidFill>
                  <a:srgbClr val="6AAB73"/>
                </a:solidFill>
                <a:effectLst/>
              </a:rPr>
              <a:t>(e); // </a:t>
            </a:r>
            <a:r>
              <a:rPr lang="ru-RU" dirty="0">
                <a:solidFill>
                  <a:srgbClr val="6AAB73"/>
                </a:solidFill>
                <a:effectLst/>
              </a:rPr>
              <a:t>стандартный </a:t>
            </a:r>
            <a:r>
              <a:rPr lang="en-US" dirty="0">
                <a:solidFill>
                  <a:srgbClr val="6AAB73"/>
                </a:solidFill>
                <a:effectLst/>
              </a:rPr>
              <a:t>unchecked-</a:t>
            </a:r>
            <a:r>
              <a:rPr lang="ru-RU" dirty="0">
                <a:solidFill>
                  <a:srgbClr val="6AAB73"/>
                </a:solidFill>
                <a:effectLst/>
              </a:rPr>
              <a:t>обёртка из </a:t>
            </a:r>
            <a:r>
              <a:rPr lang="en-US" dirty="0" err="1">
                <a:solidFill>
                  <a:srgbClr val="6AAB73"/>
                </a:solidFill>
                <a:effectLst/>
              </a:rPr>
              <a:t>java.io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Когда заводить собственное исключение.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Оправдано, когда вызывающему коду важно </a:t>
            </a:r>
            <a:r>
              <a:rPr lang="ru-RU" dirty="0" err="1">
                <a:solidFill>
                  <a:srgbClr val="BCBEC4"/>
                </a:solidFill>
                <a:effectLst/>
              </a:rPr>
              <a:t>программно</a:t>
            </a:r>
            <a:r>
              <a:rPr lang="ru-RU" dirty="0">
                <a:solidFill>
                  <a:srgbClr val="BCBEC4"/>
                </a:solidFill>
                <a:effectLst/>
              </a:rPr>
              <a:t> отличить эту ошибку от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прочих или когда нужен дополнительный контекст. Иначе — достаточно стандартного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/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IllegalStateException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*</a:t>
            </a:r>
            <a:r>
              <a:rPr lang="ru-RU" dirty="0">
                <a:solidFill>
                  <a:srgbClr val="BCBEC4"/>
                </a:solidFill>
                <a:effectLst/>
              </a:rPr>
              <a:t>Подробнее о происхождении исключений, критике </a:t>
            </a:r>
            <a:r>
              <a:rPr lang="en-US" dirty="0">
                <a:solidFill>
                  <a:srgbClr val="BCBEC4"/>
                </a:solidFill>
                <a:effectLst/>
              </a:rPr>
              <a:t>checked </a:t>
            </a:r>
            <a:r>
              <a:rPr lang="ru-RU" dirty="0">
                <a:solidFill>
                  <a:srgbClr val="BCBEC4"/>
                </a:solidFill>
                <a:effectLst/>
              </a:rPr>
              <a:t>и о том, когда исключения — не тот инструмент, — в материале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56A8F5"/>
                </a:solidFill>
                <a:effectLst/>
              </a:rPr>
              <a:t>[«Исключения в </a:t>
            </a:r>
            <a:r>
              <a:rPr lang="en-US" dirty="0">
                <a:solidFill>
                  <a:srgbClr val="56A8F5"/>
                </a:solidFill>
                <a:effectLst/>
              </a:rPr>
              <a:t>Java»]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ru-RU" i="1" dirty="0">
                <a:solidFill>
                  <a:srgbClr val="57AAF7"/>
                </a:solidFill>
                <a:effectLst/>
              </a:rPr>
              <a:t>Исключения%20в%20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Java.md</a:t>
            </a:r>
            <a:r>
              <a:rPr lang="en-US" dirty="0">
                <a:solidFill>
                  <a:srgbClr val="BCBEC4"/>
                </a:solidFill>
                <a:effectLst/>
              </a:rPr>
              <a:t>).</a:t>
            </a:r>
            <a:r>
              <a:rPr lang="en-US" dirty="0">
                <a:solidFill>
                  <a:srgbClr val="CF8E6D"/>
                </a:solidFill>
                <a:effectLst/>
              </a:rPr>
              <a:t>*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---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3. Практика: собственные исключения и их обработка (~10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Заводим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BCBEC4"/>
                </a:solidFill>
                <a:effectLst/>
              </a:rPr>
              <a:t> extends 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: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class </a:t>
            </a:r>
            <a:r>
              <a:rPr lang="en-US" dirty="0" err="1">
                <a:solidFill>
                  <a:srgbClr val="6AAB73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6AAB73"/>
                </a:solidFill>
                <a:effectLst/>
              </a:rPr>
              <a:t> extends </a:t>
            </a:r>
            <a:r>
              <a:rPr lang="en-US" dirty="0" err="1">
                <a:solidFill>
                  <a:srgbClr val="6AAB73"/>
                </a:solidFill>
                <a:effectLst/>
              </a:rPr>
              <a:t>RuntimeException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private final String ticker;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</a:t>
            </a:r>
            <a:r>
              <a:rPr lang="en-US" dirty="0" err="1">
                <a:solidFill>
                  <a:srgbClr val="6AAB73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6AAB73"/>
                </a:solidFill>
                <a:effectLst/>
              </a:rPr>
              <a:t>(String ticker)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super("</a:t>
            </a:r>
            <a:r>
              <a:rPr lang="ru-RU" dirty="0">
                <a:solidFill>
                  <a:srgbClr val="6AAB73"/>
                </a:solidFill>
                <a:effectLst/>
              </a:rPr>
              <a:t>Инструмент с тикером уже существует: " + </a:t>
            </a:r>
            <a:r>
              <a:rPr lang="en-US" dirty="0">
                <a:solidFill>
                  <a:srgbClr val="6AAB73"/>
                </a:solidFill>
                <a:effectLst/>
              </a:rPr>
              <a:t>ticker);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this.ticker</a:t>
            </a:r>
            <a:r>
              <a:rPr lang="en-US" dirty="0">
                <a:solidFill>
                  <a:srgbClr val="6AAB73"/>
                </a:solidFill>
                <a:effectLst/>
              </a:rPr>
              <a:t> = ticker;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String </a:t>
            </a:r>
            <a:r>
              <a:rPr lang="en-US" dirty="0" err="1">
                <a:solidFill>
                  <a:srgbClr val="6AAB73"/>
                </a:solidFill>
                <a:effectLst/>
              </a:rPr>
              <a:t>getTicker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ticker;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InstrumentRepository.add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проверяет дубликаты и бросает его: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void add(Instrument instrument)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if (</a:t>
            </a:r>
            <a:r>
              <a:rPr lang="en-US" dirty="0" err="1">
                <a:solidFill>
                  <a:srgbClr val="6AAB73"/>
                </a:solidFill>
                <a:effectLst/>
              </a:rPr>
              <a:t>findByTicker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instrument.getTicker</a:t>
            </a:r>
            <a:r>
              <a:rPr lang="en-US" dirty="0">
                <a:solidFill>
                  <a:srgbClr val="6AAB73"/>
                </a:solidFill>
                <a:effectLst/>
              </a:rPr>
              <a:t>()).</a:t>
            </a:r>
            <a:r>
              <a:rPr lang="en-US" dirty="0" err="1">
                <a:solidFill>
                  <a:srgbClr val="6AAB73"/>
                </a:solidFill>
                <a:effectLst/>
              </a:rPr>
              <a:t>isPresent</a:t>
            </a:r>
            <a:r>
              <a:rPr lang="en-US" dirty="0">
                <a:solidFill>
                  <a:srgbClr val="6AAB73"/>
                </a:solidFill>
                <a:effectLst/>
              </a:rPr>
              <a:t>())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instrument.getTicker</a:t>
            </a:r>
            <a:r>
              <a:rPr lang="en-US" dirty="0">
                <a:solidFill>
                  <a:srgbClr val="6AAB73"/>
                </a:solidFill>
                <a:effectLst/>
              </a:rPr>
              <a:t>());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instruments[size++] = instrument;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Обработка 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AddCommand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 multi-catch, </a:t>
            </a:r>
            <a:r>
              <a:rPr lang="ru-RU" dirty="0">
                <a:solidFill>
                  <a:srgbClr val="BCBEC4"/>
                </a:solidFill>
                <a:effectLst/>
              </a:rPr>
              <a:t>поскольку реакция на оба типа ошибок одинаковая.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из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этапа 1 сегодня впервые кто-то ловит: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@Override</a:t>
            </a:r>
            <a:br>
              <a:rPr lang="en-US" dirty="0">
                <a:solidFill>
                  <a:srgbClr val="B3AE60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Integer </a:t>
            </a:r>
            <a:r>
              <a:rPr lang="en-US" dirty="0">
                <a:solidFill>
                  <a:srgbClr val="56A8F5"/>
                </a:solidFill>
                <a:effectLst/>
              </a:rPr>
              <a:t>call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try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Instrument instrument =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InstrumentFactories.create</a:t>
            </a:r>
            <a:r>
              <a:rPr lang="en-US" dirty="0">
                <a:solidFill>
                  <a:srgbClr val="6AAB73"/>
                </a:solidFill>
                <a:effectLst/>
              </a:rPr>
              <a:t>(type, ticker, name, currency);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repository.add</a:t>
            </a:r>
            <a:r>
              <a:rPr lang="en-US" dirty="0">
                <a:solidFill>
                  <a:srgbClr val="6AAB73"/>
                </a:solidFill>
                <a:effectLst/>
              </a:rPr>
              <a:t>(instrument);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System.</a:t>
            </a:r>
            <a:r>
              <a:rPr lang="en-US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-US" dirty="0" err="1">
                <a:solidFill>
                  <a:srgbClr val="6AAB73"/>
                </a:solidFill>
                <a:effectLst/>
              </a:rPr>
              <a:t>.println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Добавлено: " +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instrument.getDescription</a:t>
            </a:r>
            <a:r>
              <a:rPr lang="en-US" dirty="0">
                <a:solidFill>
                  <a:srgbClr val="6AAB73"/>
                </a:solidFill>
                <a:effectLst/>
              </a:rPr>
              <a:t>());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0;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 catch (</a:t>
            </a:r>
            <a:r>
              <a:rPr lang="en-US" dirty="0" err="1">
                <a:solidFill>
                  <a:srgbClr val="6AAB73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6AAB73"/>
                </a:solidFill>
                <a:effectLst/>
              </a:rPr>
              <a:t> | </a:t>
            </a:r>
            <a:r>
              <a:rPr lang="en-US" dirty="0" err="1">
                <a:solidFill>
                  <a:srgbClr val="6AAB73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6AAB73"/>
                </a:solidFill>
                <a:effectLst/>
              </a:rPr>
              <a:t> 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System.</a:t>
            </a:r>
            <a:r>
              <a:rPr lang="en-US" i="1" dirty="0" err="1">
                <a:solidFill>
                  <a:srgbClr val="C77DBB"/>
                </a:solidFill>
                <a:effectLst/>
              </a:rPr>
              <a:t>out</a:t>
            </a:r>
            <a:r>
              <a:rPr lang="en-US" dirty="0" err="1">
                <a:solidFill>
                  <a:srgbClr val="6AAB73"/>
                </a:solidFill>
                <a:effectLst/>
              </a:rPr>
              <a:t>.println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Не удалось добавить инструмент: " + </a:t>
            </a:r>
            <a:r>
              <a:rPr lang="en-US" dirty="0" err="1">
                <a:solidFill>
                  <a:srgbClr val="6AAB73"/>
                </a:solidFill>
                <a:effectLst/>
              </a:rPr>
              <a:t>e.getMessage</a:t>
            </a:r>
            <a:r>
              <a:rPr lang="en-US" dirty="0">
                <a:solidFill>
                  <a:srgbClr val="6AAB73"/>
                </a:solidFill>
                <a:effectLst/>
              </a:rPr>
              <a:t>());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1;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Exception chaining </a:t>
            </a:r>
            <a:r>
              <a:rPr lang="ru-RU" dirty="0">
                <a:solidFill>
                  <a:srgbClr val="BCBEC4"/>
                </a:solidFill>
                <a:effectLst/>
              </a:rPr>
              <a:t>для будущих низкоуровневых ошибок (семинар 7):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class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InstrumentLoadException</a:t>
            </a:r>
            <a:r>
              <a:rPr lang="en-US" dirty="0">
                <a:solidFill>
                  <a:srgbClr val="6AAB73"/>
                </a:solidFill>
                <a:effectLst/>
              </a:rPr>
              <a:t> extends </a:t>
            </a:r>
            <a:r>
              <a:rPr lang="en-US" dirty="0" err="1">
                <a:solidFill>
                  <a:srgbClr val="6AAB73"/>
                </a:solidFill>
                <a:effectLst/>
              </a:rPr>
              <a:t>RuntimeException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InstrumentLoadException</a:t>
            </a:r>
            <a:r>
              <a:rPr lang="en-US" dirty="0">
                <a:solidFill>
                  <a:srgbClr val="6AAB73"/>
                </a:solidFill>
                <a:effectLst/>
              </a:rPr>
              <a:t>(String message, Throwable cause)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super(message, cause);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getCause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printStackTrace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с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Caused by: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 </a:t>
            </a:r>
            <a:r>
              <a:rPr lang="ru-RU" dirty="0">
                <a:solidFill>
                  <a:srgbClr val="BCBEC4"/>
                </a:solidFill>
                <a:effectLst/>
              </a:rPr>
              <a:t>не терять исходную причину при оборачивании.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4. 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 </a:t>
            </a:r>
            <a:r>
              <a:rPr lang="ru-RU" dirty="0">
                <a:solidFill>
                  <a:srgbClr val="BCBEC4"/>
                </a:solidFill>
                <a:effectLst/>
              </a:rPr>
              <a:t>и подавленные исключения (~10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Базовый пример синтаксического сахара — как в базовом треке (материал </a:t>
            </a:r>
            <a:r>
              <a:rPr lang="ru-RU" dirty="0">
                <a:solidFill>
                  <a:srgbClr val="56A8F5"/>
                </a:solidFill>
                <a:effectLst/>
              </a:rPr>
              <a:t>[«Исключения в </a:t>
            </a:r>
            <a:r>
              <a:rPr lang="en-US" dirty="0">
                <a:solidFill>
                  <a:srgbClr val="56A8F5"/>
                </a:solidFill>
                <a:effectLst/>
              </a:rPr>
              <a:t>Java»]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ru-RU" i="1" dirty="0">
                <a:solidFill>
                  <a:srgbClr val="57AAF7"/>
                </a:solidFill>
                <a:effectLst/>
              </a:rPr>
              <a:t>Исключения%20в%20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Java.md</a:t>
            </a:r>
            <a:r>
              <a:rPr lang="en-US" dirty="0">
                <a:solidFill>
                  <a:srgbClr val="BCBEC4"/>
                </a:solidFill>
                <a:effectLst/>
              </a:rPr>
              <a:t>)):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try (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InstrumentImportSession</a:t>
            </a:r>
            <a:r>
              <a:rPr lang="en-US" dirty="0">
                <a:solidFill>
                  <a:srgbClr val="6AAB73"/>
                </a:solidFill>
                <a:effectLst/>
              </a:rPr>
              <a:t> session =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InstrumentImportSession</a:t>
            </a:r>
            <a:r>
              <a:rPr lang="en-US" dirty="0">
                <a:solidFill>
                  <a:srgbClr val="6AAB73"/>
                </a:solidFill>
                <a:effectLst/>
              </a:rPr>
              <a:t>())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</a:t>
            </a:r>
            <a:r>
              <a:rPr lang="en-US" dirty="0" err="1">
                <a:solidFill>
                  <a:srgbClr val="6AAB73"/>
                </a:solidFill>
                <a:effectLst/>
              </a:rPr>
              <a:t>session.importLine</a:t>
            </a:r>
            <a:r>
              <a:rPr lang="en-US" dirty="0">
                <a:solidFill>
                  <a:srgbClr val="6AAB73"/>
                </a:solidFill>
                <a:effectLst/>
              </a:rPr>
              <a:t>("STOCK,SBER,</a:t>
            </a:r>
            <a:r>
              <a:rPr lang="ru-RU" dirty="0">
                <a:solidFill>
                  <a:srgbClr val="6AAB73"/>
                </a:solidFill>
                <a:effectLst/>
              </a:rPr>
              <a:t>Сбербанк,250");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}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Подавленные исключения (</a:t>
            </a:r>
            <a:r>
              <a:rPr lang="en-US" dirty="0">
                <a:solidFill>
                  <a:srgbClr val="BCBEC4"/>
                </a:solidFill>
                <a:effectLst/>
              </a:rPr>
              <a:t>suppressed exceptions).</a:t>
            </a:r>
            <a:r>
              <a:rPr lang="en-US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Что если исключение бросают и тело блока, и сам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close()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?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class </a:t>
            </a:r>
            <a:r>
              <a:rPr lang="en-US" dirty="0" err="1">
                <a:solidFill>
                  <a:srgbClr val="6AAB73"/>
                </a:solidFill>
                <a:effectLst/>
              </a:rPr>
              <a:t>FailingInstrumentImportSession</a:t>
            </a:r>
            <a:r>
              <a:rPr lang="en-US" dirty="0">
                <a:solidFill>
                  <a:srgbClr val="6AAB73"/>
                </a:solidFill>
                <a:effectLst/>
              </a:rPr>
              <a:t> implements </a:t>
            </a:r>
            <a:r>
              <a:rPr lang="en-US" dirty="0" err="1">
                <a:solidFill>
                  <a:srgbClr val="6AAB73"/>
                </a:solidFill>
                <a:effectLst/>
              </a:rPr>
              <a:t>AutoCloseable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@Override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void close() throws </a:t>
            </a:r>
            <a:r>
              <a:rPr lang="en-US" dirty="0" err="1">
                <a:solidFill>
                  <a:srgbClr val="6AAB73"/>
                </a:solidFill>
                <a:effectLst/>
              </a:rPr>
              <a:t>IOException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IOException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Не удалось закрыть сессию импорта");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    }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}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void example()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try (</a:t>
            </a:r>
            <a:r>
              <a:rPr lang="en-US" dirty="0" err="1">
                <a:solidFill>
                  <a:srgbClr val="6AAB73"/>
                </a:solidFill>
                <a:effectLst/>
              </a:rPr>
              <a:t>FailingInstrumentImportSession</a:t>
            </a:r>
            <a:r>
              <a:rPr lang="en-US" dirty="0">
                <a:solidFill>
                  <a:srgbClr val="6AAB73"/>
                </a:solidFill>
                <a:effectLst/>
              </a:rPr>
              <a:t> session =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FailingInstrumentImportSession</a:t>
            </a:r>
            <a:r>
              <a:rPr lang="en-US" dirty="0">
                <a:solidFill>
                  <a:srgbClr val="6AAB73"/>
                </a:solidFill>
                <a:effectLst/>
              </a:rPr>
              <a:t>())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IllegalStateException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Ошибка импорта строки");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    }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6AAB73"/>
                </a:solidFill>
                <a:effectLst/>
              </a:rPr>
              <a:t>}</a:t>
            </a:r>
            <a:br>
              <a:rPr lang="ru-RU" dirty="0">
                <a:solidFill>
                  <a:srgbClr val="6AAB73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Наружу вылетит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IllegalStateException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из тела блока) — оно считается основным, поскольку возникло первым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 хронологии.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IOException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close()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не теряется бесследно: он прикрепляется к основному исключению как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</a:t>
            </a:r>
            <a:r>
              <a:rPr lang="ru-RU" dirty="0">
                <a:solidFill>
                  <a:srgbClr val="BCBEC4"/>
                </a:solidFill>
                <a:effectLst/>
              </a:rPr>
              <a:t>подавленное</a:t>
            </a:r>
            <a:r>
              <a:rPr lang="ru-RU" dirty="0">
                <a:solidFill>
                  <a:srgbClr val="CF8E6D"/>
                </a:solidFill>
                <a:effectLst/>
              </a:rPr>
              <a:t>* </a:t>
            </a:r>
            <a:r>
              <a:rPr lang="ru-RU" dirty="0">
                <a:solidFill>
                  <a:srgbClr val="BCBEC4"/>
                </a:solidFill>
                <a:effectLst/>
              </a:rPr>
              <a:t>и доступен через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mainException.getSuppressed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Без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пришлось бы решать эту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коллизию вручную 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finally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и второе исключение легко потерять — заменив им первое вместо накопления.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5. Библиотеки: </a:t>
            </a:r>
            <a:r>
              <a:rPr lang="en-US" dirty="0" err="1">
                <a:solidFill>
                  <a:srgbClr val="BCBEC4"/>
                </a:solidFill>
                <a:effectLst/>
              </a:rPr>
              <a:t>Vavr</a:t>
            </a:r>
            <a:r>
              <a:rPr lang="en-US" dirty="0">
                <a:solidFill>
                  <a:srgbClr val="BCBEC4"/>
                </a:solidFill>
                <a:effectLst/>
              </a:rPr>
              <a:t> Try </a:t>
            </a:r>
            <a:r>
              <a:rPr lang="ru-RU" dirty="0">
                <a:solidFill>
                  <a:srgbClr val="BCBEC4"/>
                </a:solidFill>
                <a:effectLst/>
              </a:rPr>
              <a:t>как альтернатива (~10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 err="1">
                <a:solidFill>
                  <a:srgbClr val="6AAB73"/>
                </a:solidFill>
                <a:effectLst/>
              </a:rPr>
              <a:t>Try.of</a:t>
            </a:r>
            <a:r>
              <a:rPr lang="en-US" dirty="0">
                <a:solidFill>
                  <a:srgbClr val="6AAB73"/>
                </a:solidFill>
                <a:effectLst/>
              </a:rPr>
              <a:t>(() -&gt;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InstrumentFactories.create</a:t>
            </a:r>
            <a:r>
              <a:rPr lang="en-US" dirty="0">
                <a:solidFill>
                  <a:srgbClr val="6AAB73"/>
                </a:solidFill>
                <a:effectLst/>
              </a:rPr>
              <a:t>(type, ticker, name, currency))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.</a:t>
            </a:r>
            <a:r>
              <a:rPr lang="en-US" dirty="0" err="1">
                <a:solidFill>
                  <a:srgbClr val="6AAB73"/>
                </a:solidFill>
                <a:effectLst/>
              </a:rPr>
              <a:t>andThenTry</a:t>
            </a:r>
            <a:r>
              <a:rPr lang="en-US" dirty="0">
                <a:solidFill>
                  <a:srgbClr val="6AAB73"/>
                </a:solidFill>
                <a:effectLst/>
              </a:rPr>
              <a:t>(repository::add)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.</a:t>
            </a:r>
            <a:r>
              <a:rPr lang="en-US" dirty="0" err="1">
                <a:solidFill>
                  <a:srgbClr val="6AAB73"/>
                </a:solidFill>
                <a:effectLst/>
              </a:rPr>
              <a:t>onSuccess</a:t>
            </a:r>
            <a:r>
              <a:rPr lang="en-US" dirty="0">
                <a:solidFill>
                  <a:srgbClr val="6AAB73"/>
                </a:solidFill>
                <a:effectLst/>
              </a:rPr>
              <a:t>(instrument -&gt; </a:t>
            </a:r>
            <a:r>
              <a:rPr lang="en-US" dirty="0" err="1">
                <a:solidFill>
                  <a:srgbClr val="6AAB73"/>
                </a:solidFill>
                <a:effectLst/>
              </a:rPr>
              <a:t>System.out.println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Добавлено: " + </a:t>
            </a:r>
            <a:r>
              <a:rPr lang="en-US" dirty="0" err="1">
                <a:solidFill>
                  <a:srgbClr val="6AAB73"/>
                </a:solidFill>
                <a:effectLst/>
              </a:rPr>
              <a:t>instrument.getDescription</a:t>
            </a:r>
            <a:r>
              <a:rPr lang="en-US" dirty="0">
                <a:solidFill>
                  <a:srgbClr val="6AAB73"/>
                </a:solidFill>
                <a:effectLst/>
              </a:rPr>
              <a:t>()))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.</a:t>
            </a:r>
            <a:r>
              <a:rPr lang="en-US" dirty="0" err="1">
                <a:solidFill>
                  <a:srgbClr val="6AAB73"/>
                </a:solidFill>
                <a:effectLst/>
              </a:rPr>
              <a:t>onFailure</a:t>
            </a:r>
            <a:r>
              <a:rPr lang="en-US" dirty="0">
                <a:solidFill>
                  <a:srgbClr val="6AAB73"/>
                </a:solidFill>
                <a:effectLst/>
              </a:rPr>
              <a:t>(e -&gt; </a:t>
            </a:r>
            <a:r>
              <a:rPr lang="en-US" dirty="0" err="1">
                <a:solidFill>
                  <a:srgbClr val="6AAB73"/>
                </a:solidFill>
                <a:effectLst/>
              </a:rPr>
              <a:t>System.out.println</a:t>
            </a:r>
            <a:r>
              <a:rPr lang="en-US" dirty="0">
                <a:solidFill>
                  <a:srgbClr val="6AAB73"/>
                </a:solidFill>
                <a:effectLst/>
              </a:rPr>
              <a:t>("</a:t>
            </a:r>
            <a:r>
              <a:rPr lang="ru-RU" dirty="0">
                <a:solidFill>
                  <a:srgbClr val="6AAB73"/>
                </a:solidFill>
                <a:effectLst/>
              </a:rPr>
              <a:t>Не удалось добавить инструмент: " + </a:t>
            </a:r>
            <a:r>
              <a:rPr lang="en-US" dirty="0" err="1">
                <a:solidFill>
                  <a:srgbClr val="6AAB73"/>
                </a:solidFill>
                <a:effectLst/>
              </a:rPr>
              <a:t>e.getMessage</a:t>
            </a:r>
            <a:r>
              <a:rPr lang="en-US" dirty="0">
                <a:solidFill>
                  <a:srgbClr val="6AAB73"/>
                </a:solidFill>
                <a:effectLst/>
              </a:rPr>
              <a:t>()));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Try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внутри всё равно перехватывает обычное </a:t>
            </a:r>
            <a:r>
              <a:rPr lang="en-US" dirty="0">
                <a:solidFill>
                  <a:srgbClr val="BCBEC4"/>
                </a:solidFill>
                <a:effectLst/>
              </a:rPr>
              <a:t>JVM-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— то есть платит ту же цену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fillInStackTrace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что и </a:t>
            </a:r>
            <a:r>
              <a:rPr lang="en-US" dirty="0">
                <a:solidFill>
                  <a:srgbClr val="BCBEC4"/>
                </a:solidFill>
                <a:effectLst/>
              </a:rPr>
              <a:t>try/catch. </a:t>
            </a:r>
            <a:r>
              <a:rPr lang="ru-RU" dirty="0">
                <a:solidFill>
                  <a:srgbClr val="BCBEC4"/>
                </a:solidFill>
                <a:effectLst/>
              </a:rPr>
              <a:t>Это не более дешёвая альтернатива в плане производительности, а более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выразительная композиция — библиотека решает не проблему стоимости исключений, а проблему вложенных </a:t>
            </a:r>
            <a:r>
              <a:rPr lang="en-US" dirty="0">
                <a:solidFill>
                  <a:srgbClr val="BCBEC4"/>
                </a:solidFill>
                <a:effectLst/>
              </a:rPr>
              <a:t>try/catch </a:t>
            </a:r>
            <a:r>
              <a:rPr lang="ru-RU" dirty="0">
                <a:solidFill>
                  <a:srgbClr val="BCBEC4"/>
                </a:solidFill>
                <a:effectLst/>
              </a:rPr>
              <a:t>при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цепочке операций. Доказательство утверждения проверим в следующей секции.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6. </a:t>
            </a:r>
            <a:r>
              <a:rPr lang="en-US" dirty="0">
                <a:solidFill>
                  <a:srgbClr val="BCBEC4"/>
                </a:solidFill>
                <a:effectLst/>
              </a:rPr>
              <a:t>JMH: </a:t>
            </a:r>
            <a:r>
              <a:rPr lang="ru-RU" dirty="0">
                <a:solidFill>
                  <a:srgbClr val="BCBEC4"/>
                </a:solidFill>
                <a:effectLst/>
              </a:rPr>
              <a:t>замеряем стоимость исключений (~20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Презентация по материалу </a:t>
            </a:r>
            <a:r>
              <a:rPr lang="ru-RU" dirty="0">
                <a:solidFill>
                  <a:srgbClr val="56A8F5"/>
                </a:solidFill>
                <a:effectLst/>
              </a:rPr>
              <a:t>[«</a:t>
            </a:r>
            <a:r>
              <a:rPr lang="en-US" dirty="0">
                <a:solidFill>
                  <a:srgbClr val="56A8F5"/>
                </a:solidFill>
                <a:effectLst/>
              </a:rPr>
              <a:t>JMH </a:t>
            </a:r>
            <a:r>
              <a:rPr lang="ru-RU" dirty="0">
                <a:solidFill>
                  <a:srgbClr val="56A8F5"/>
                </a:solidFill>
                <a:effectLst/>
              </a:rPr>
              <a:t>и замер производительности»]</a:t>
            </a:r>
            <a:r>
              <a:rPr lang="ru-RU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JMH%20</a:t>
            </a:r>
            <a:r>
              <a:rPr lang="ru-RU" i="1" dirty="0">
                <a:solidFill>
                  <a:srgbClr val="57AAF7"/>
                </a:solidFill>
                <a:effectLst/>
              </a:rPr>
              <a:t>и%20замер%20производительности.</a:t>
            </a:r>
            <a:r>
              <a:rPr lang="en-US" i="1" dirty="0">
                <a:solidFill>
                  <a:srgbClr val="57AAF7"/>
                </a:solidFill>
                <a:effectLst/>
              </a:rPr>
              <a:t>md</a:t>
            </a:r>
            <a:r>
              <a:rPr lang="en-US" dirty="0">
                <a:solidFill>
                  <a:srgbClr val="BCBEC4"/>
                </a:solidFill>
                <a:effectLst/>
              </a:rPr>
              <a:t>): </a:t>
            </a:r>
            <a:r>
              <a:rPr lang="ru-RU" dirty="0">
                <a:solidFill>
                  <a:srgbClr val="BCBEC4"/>
                </a:solidFill>
                <a:effectLst/>
              </a:rPr>
              <a:t>почему нельзя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просто засечь время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nanoTime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что такое </a:t>
            </a:r>
            <a:r>
              <a:rPr lang="en-US" dirty="0">
                <a:solidFill>
                  <a:srgbClr val="BCBEC4"/>
                </a:solidFill>
                <a:effectLst/>
              </a:rPr>
              <a:t>JMH, </a:t>
            </a:r>
            <a:r>
              <a:rPr lang="ru-RU" dirty="0">
                <a:solidFill>
                  <a:srgbClr val="BCBEC4"/>
                </a:solidFill>
                <a:effectLst/>
              </a:rPr>
              <a:t>ловушки бенчмаркинга, как читать результаты.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Подключаем </a:t>
            </a:r>
            <a:r>
              <a:rPr lang="en-US" dirty="0">
                <a:solidFill>
                  <a:srgbClr val="BCBEC4"/>
                </a:solidFill>
                <a:effectLst/>
              </a:rPr>
              <a:t>JMH (</a:t>
            </a:r>
            <a:r>
              <a:rPr lang="en-US" dirty="0">
                <a:solidFill>
                  <a:srgbClr val="56A8F5"/>
                </a:solidFill>
                <a:effectLst/>
              </a:rPr>
              <a:t>[Java Microbenchmark Harness]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dirty="0">
                <a:solidFill>
                  <a:srgbClr val="56A8F5"/>
                </a:solidFill>
                <a:effectLst/>
              </a:rPr>
              <a:t>https://</a:t>
            </a:r>
            <a:r>
              <a:rPr lang="en-US" dirty="0" err="1">
                <a:solidFill>
                  <a:srgbClr val="56A8F5"/>
                </a:solidFill>
                <a:effectLst/>
              </a:rPr>
              <a:t>openjdk.org</a:t>
            </a:r>
            <a:r>
              <a:rPr lang="en-US" dirty="0">
                <a:solidFill>
                  <a:srgbClr val="56A8F5"/>
                </a:solidFill>
                <a:effectLst/>
              </a:rPr>
              <a:t>/projects/code-tools/</a:t>
            </a:r>
            <a:r>
              <a:rPr lang="en-US" dirty="0" err="1">
                <a:solidFill>
                  <a:srgbClr val="56A8F5"/>
                </a:solidFill>
                <a:effectLst/>
              </a:rPr>
              <a:t>jmh</a:t>
            </a:r>
            <a:r>
              <a:rPr lang="en-US" dirty="0">
                <a:solidFill>
                  <a:srgbClr val="56A8F5"/>
                </a:solidFill>
                <a:effectLst/>
              </a:rPr>
              <a:t>/</a:t>
            </a:r>
            <a:r>
              <a:rPr lang="en-US" dirty="0">
                <a:solidFill>
                  <a:srgbClr val="BCBEC4"/>
                </a:solidFill>
                <a:effectLst/>
              </a:rPr>
              <a:t>)) — </a:t>
            </a:r>
            <a:r>
              <a:rPr lang="ru-RU" dirty="0">
                <a:solidFill>
                  <a:srgbClr val="BCBEC4"/>
                </a:solidFill>
                <a:effectLst/>
              </a:rPr>
              <a:t>инструмент от команды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 err="1">
                <a:solidFill>
                  <a:srgbClr val="BCBEC4"/>
                </a:solidFill>
                <a:effectLst/>
              </a:rPr>
              <a:t>HotSpot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ru-RU" dirty="0">
                <a:solidFill>
                  <a:srgbClr val="BCBEC4"/>
                </a:solidFill>
                <a:effectLst/>
              </a:rPr>
              <a:t>для корректных </a:t>
            </a:r>
            <a:r>
              <a:rPr lang="ru-RU" dirty="0" err="1">
                <a:solidFill>
                  <a:srgbClr val="BCBEC4"/>
                </a:solidFill>
                <a:effectLst/>
              </a:rPr>
              <a:t>микробенчмарков</a:t>
            </a:r>
            <a:r>
              <a:rPr lang="ru-RU" dirty="0">
                <a:solidFill>
                  <a:srgbClr val="BCBEC4"/>
                </a:solidFill>
                <a:effectLst/>
              </a:rPr>
              <a:t>, учитывающий прогрев </a:t>
            </a:r>
            <a:r>
              <a:rPr lang="en-US" dirty="0">
                <a:solidFill>
                  <a:srgbClr val="BCBEC4"/>
                </a:solidFill>
                <a:effectLst/>
              </a:rPr>
              <a:t>JIT </a:t>
            </a:r>
            <a:r>
              <a:rPr lang="ru-RU" dirty="0">
                <a:solidFill>
                  <a:srgbClr val="BCBEC4"/>
                </a:solidFill>
                <a:effectLst/>
              </a:rPr>
              <a:t>и защищающий от типичных ошибок замера: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xml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&lt;dependency&gt;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</a:t>
            </a:r>
            <a:r>
              <a:rPr lang="en-US" dirty="0" err="1">
                <a:solidFill>
                  <a:srgbClr val="6AAB73"/>
                </a:solidFill>
                <a:effectLst/>
              </a:rPr>
              <a:t>groupId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r>
              <a:rPr lang="en-US" dirty="0" err="1">
                <a:solidFill>
                  <a:srgbClr val="6AAB73"/>
                </a:solidFill>
                <a:effectLst/>
              </a:rPr>
              <a:t>org.openjdk.jmh</a:t>
            </a:r>
            <a:r>
              <a:rPr lang="en-US" dirty="0">
                <a:solidFill>
                  <a:srgbClr val="6AAB73"/>
                </a:solidFill>
                <a:effectLst/>
              </a:rPr>
              <a:t>&lt;/</a:t>
            </a:r>
            <a:r>
              <a:rPr lang="en-US" dirty="0" err="1">
                <a:solidFill>
                  <a:srgbClr val="6AAB73"/>
                </a:solidFill>
                <a:effectLst/>
              </a:rPr>
              <a:t>groupId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</a:t>
            </a:r>
            <a:r>
              <a:rPr lang="en-US" dirty="0" err="1">
                <a:solidFill>
                  <a:srgbClr val="6AAB73"/>
                </a:solidFill>
                <a:effectLst/>
              </a:rPr>
              <a:t>artifactId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r>
              <a:rPr lang="en-US" dirty="0" err="1">
                <a:solidFill>
                  <a:srgbClr val="6AAB73"/>
                </a:solidFill>
                <a:effectLst/>
              </a:rPr>
              <a:t>jmh</a:t>
            </a:r>
            <a:r>
              <a:rPr lang="en-US" dirty="0">
                <a:solidFill>
                  <a:srgbClr val="6AAB73"/>
                </a:solidFill>
                <a:effectLst/>
              </a:rPr>
              <a:t>-core&lt;/</a:t>
            </a:r>
            <a:r>
              <a:rPr lang="en-US" dirty="0" err="1">
                <a:solidFill>
                  <a:srgbClr val="6AAB73"/>
                </a:solidFill>
                <a:effectLst/>
              </a:rPr>
              <a:t>artifactId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&lt;version&gt;1.37&lt;/version&gt;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&lt;/dependency&gt;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&lt;dependency&gt;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</a:t>
            </a:r>
            <a:r>
              <a:rPr lang="en-US" dirty="0" err="1">
                <a:solidFill>
                  <a:srgbClr val="6AAB73"/>
                </a:solidFill>
                <a:effectLst/>
              </a:rPr>
              <a:t>groupId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r>
              <a:rPr lang="en-US" dirty="0" err="1">
                <a:solidFill>
                  <a:srgbClr val="6AAB73"/>
                </a:solidFill>
                <a:effectLst/>
              </a:rPr>
              <a:t>org.openjdk.jmh</a:t>
            </a:r>
            <a:r>
              <a:rPr lang="en-US" dirty="0">
                <a:solidFill>
                  <a:srgbClr val="6AAB73"/>
                </a:solidFill>
                <a:effectLst/>
              </a:rPr>
              <a:t>&lt;/</a:t>
            </a:r>
            <a:r>
              <a:rPr lang="en-US" dirty="0" err="1">
                <a:solidFill>
                  <a:srgbClr val="6AAB73"/>
                </a:solidFill>
                <a:effectLst/>
              </a:rPr>
              <a:t>groupId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</a:t>
            </a:r>
            <a:r>
              <a:rPr lang="en-US" dirty="0" err="1">
                <a:solidFill>
                  <a:srgbClr val="6AAB73"/>
                </a:solidFill>
                <a:effectLst/>
              </a:rPr>
              <a:t>artifactId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r>
              <a:rPr lang="en-US" dirty="0" err="1">
                <a:solidFill>
                  <a:srgbClr val="6AAB73"/>
                </a:solidFill>
                <a:effectLst/>
              </a:rPr>
              <a:t>jmh</a:t>
            </a:r>
            <a:r>
              <a:rPr lang="en-US" dirty="0">
                <a:solidFill>
                  <a:srgbClr val="6AAB73"/>
                </a:solidFill>
                <a:effectLst/>
              </a:rPr>
              <a:t>-generator-</a:t>
            </a:r>
            <a:r>
              <a:rPr lang="en-US" dirty="0" err="1">
                <a:solidFill>
                  <a:srgbClr val="6AAB73"/>
                </a:solidFill>
                <a:effectLst/>
              </a:rPr>
              <a:t>annprocess</a:t>
            </a:r>
            <a:r>
              <a:rPr lang="en-US" dirty="0">
                <a:solidFill>
                  <a:srgbClr val="6AAB73"/>
                </a:solidFill>
                <a:effectLst/>
              </a:rPr>
              <a:t>&lt;/</a:t>
            </a:r>
            <a:r>
              <a:rPr lang="en-US" dirty="0" err="1">
                <a:solidFill>
                  <a:srgbClr val="6AAB73"/>
                </a:solidFill>
                <a:effectLst/>
              </a:rPr>
              <a:t>artifactId</a:t>
            </a:r>
            <a:r>
              <a:rPr lang="en-US" dirty="0">
                <a:solidFill>
                  <a:srgbClr val="6AAB73"/>
                </a:solidFill>
                <a:effectLst/>
              </a:rPr>
              <a:t>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&lt;version&gt;1.37&lt;/version&gt;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&lt;scope&gt;provided&lt;/scope&gt;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&lt;/dependency&gt;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Сравниваем четыре варианта одной и той же проверки: код возврата, исключение с полной трассировкой стека, исключение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 полной трассировкой стека через </a:t>
            </a:r>
            <a:r>
              <a:rPr lang="en-US" dirty="0" err="1">
                <a:solidFill>
                  <a:srgbClr val="BCBEC4"/>
                </a:solidFill>
                <a:effectLst/>
              </a:rPr>
              <a:t>Vavr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без трассировки: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```</a:t>
            </a:r>
            <a:r>
              <a:rPr lang="en-US" i="1" dirty="0">
                <a:solidFill>
                  <a:srgbClr val="C77DBB"/>
                </a:solidFill>
                <a:effectLst/>
              </a:rPr>
              <a:t>java</a:t>
            </a:r>
            <a:br>
              <a:rPr lang="en-US" i="1" dirty="0">
                <a:solidFill>
                  <a:srgbClr val="C77DBB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</a:t>
            </a:r>
            <a:r>
              <a:rPr lang="en-US" dirty="0" err="1">
                <a:solidFill>
                  <a:srgbClr val="B3AE60"/>
                </a:solidFill>
                <a:effectLst/>
              </a:rPr>
              <a:t>BenchmarkMode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Mode.AverageTime</a:t>
            </a:r>
            <a:r>
              <a:rPr lang="en-US" dirty="0">
                <a:solidFill>
                  <a:srgbClr val="6AAB73"/>
                </a:solidFill>
                <a:effectLst/>
              </a:rPr>
              <a:t>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</a:t>
            </a:r>
            <a:r>
              <a:rPr lang="en-US" dirty="0" err="1">
                <a:solidFill>
                  <a:srgbClr val="B3AE60"/>
                </a:solidFill>
                <a:effectLst/>
              </a:rPr>
              <a:t>OutputTimeUnit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TimeUnit.NANOSECONDS</a:t>
            </a:r>
            <a:r>
              <a:rPr lang="en-US" dirty="0">
                <a:solidFill>
                  <a:srgbClr val="6AAB73"/>
                </a:solidFill>
                <a:effectLst/>
              </a:rPr>
              <a:t>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@State</a:t>
            </a:r>
            <a:r>
              <a:rPr lang="en-US" dirty="0">
                <a:solidFill>
                  <a:srgbClr val="6AAB73"/>
                </a:solidFill>
                <a:effectLst/>
              </a:rPr>
              <a:t>(</a:t>
            </a:r>
            <a:r>
              <a:rPr lang="en-US" dirty="0" err="1">
                <a:solidFill>
                  <a:srgbClr val="6AAB73"/>
                </a:solidFill>
                <a:effectLst/>
              </a:rPr>
              <a:t>Scope.Thread</a:t>
            </a:r>
            <a:r>
              <a:rPr lang="en-US" dirty="0">
                <a:solidFill>
                  <a:srgbClr val="6AAB73"/>
                </a:solidFill>
                <a:effectLst/>
              </a:rPr>
              <a:t>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@Warmup</a:t>
            </a:r>
            <a:r>
              <a:rPr lang="en-US" dirty="0">
                <a:solidFill>
                  <a:srgbClr val="6AAB73"/>
                </a:solidFill>
                <a:effectLst/>
              </a:rPr>
              <a:t>(iterations = 5, time = 1)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@Measurement</a:t>
            </a:r>
            <a:r>
              <a:rPr lang="en-US" dirty="0">
                <a:solidFill>
                  <a:srgbClr val="6AAB73"/>
                </a:solidFill>
                <a:effectLst/>
              </a:rPr>
              <a:t>(iterations = 5, time = 1)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B3AE60"/>
                </a:solidFill>
                <a:effectLst/>
              </a:rPr>
              <a:t>@Fork</a:t>
            </a:r>
            <a:r>
              <a:rPr lang="en-US" dirty="0">
                <a:solidFill>
                  <a:srgbClr val="6AAB73"/>
                </a:solidFill>
                <a:effectLst/>
              </a:rPr>
              <a:t>(1)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public class </a:t>
            </a:r>
            <a:r>
              <a:rPr lang="en-US" dirty="0" err="1">
                <a:solidFill>
                  <a:srgbClr val="6AAB73"/>
                </a:solidFill>
                <a:effectLst/>
              </a:rPr>
              <a:t>ExceptionOverheadBenchmark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</a:t>
            </a:r>
            <a:r>
              <a:rPr lang="en-US" dirty="0">
                <a:solidFill>
                  <a:srgbClr val="B3AE60"/>
                </a:solidFill>
                <a:effectLst/>
              </a:rPr>
              <a:t>@Benchmark</a:t>
            </a:r>
            <a:br>
              <a:rPr lang="en-US" dirty="0">
                <a:solidFill>
                  <a:srgbClr val="B3AE60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int </a:t>
            </a:r>
            <a:r>
              <a:rPr lang="en-US" dirty="0" err="1">
                <a:solidFill>
                  <a:srgbClr val="56A8F5"/>
                </a:solidFill>
                <a:effectLst/>
              </a:rPr>
              <a:t>returnCode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</a:t>
            </a:r>
            <a:r>
              <a:rPr lang="en-US" dirty="0" err="1">
                <a:solidFill>
                  <a:srgbClr val="6AAB73"/>
                </a:solidFill>
                <a:effectLst/>
              </a:rPr>
              <a:t>isKnown</a:t>
            </a:r>
            <a:r>
              <a:rPr lang="en-US" dirty="0">
                <a:solidFill>
                  <a:srgbClr val="6AAB73"/>
                </a:solidFill>
                <a:effectLst/>
              </a:rPr>
              <a:t>("CRYPTO") ? 0 : 1;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</a:t>
            </a:r>
            <a:r>
              <a:rPr lang="en-US" dirty="0">
                <a:solidFill>
                  <a:srgbClr val="B3AE60"/>
                </a:solidFill>
                <a:effectLst/>
              </a:rPr>
              <a:t>@Benchmark</a:t>
            </a:r>
            <a:br>
              <a:rPr lang="en-US" dirty="0">
                <a:solidFill>
                  <a:srgbClr val="B3AE60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int </a:t>
            </a:r>
            <a:r>
              <a:rPr lang="en-US" dirty="0" err="1">
                <a:solidFill>
                  <a:srgbClr val="56A8F5"/>
                </a:solidFill>
                <a:effectLst/>
              </a:rPr>
              <a:t>throwWithStackTrace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try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validateOrThrow</a:t>
            </a:r>
            <a:r>
              <a:rPr lang="en-US" dirty="0">
                <a:solidFill>
                  <a:srgbClr val="6AAB73"/>
                </a:solidFill>
                <a:effectLst/>
              </a:rPr>
              <a:t>("CRYPTO");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return 0;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 catch (</a:t>
            </a:r>
            <a:r>
              <a:rPr lang="en-US" dirty="0" err="1">
                <a:solidFill>
                  <a:srgbClr val="6AAB73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6AAB73"/>
                </a:solidFill>
                <a:effectLst/>
              </a:rPr>
              <a:t> 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return 1;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</a:t>
            </a:r>
            <a:r>
              <a:rPr lang="en-US" dirty="0">
                <a:solidFill>
                  <a:srgbClr val="B3AE60"/>
                </a:solidFill>
                <a:effectLst/>
              </a:rPr>
              <a:t>@Benchmark</a:t>
            </a:r>
            <a:br>
              <a:rPr lang="en-US" dirty="0">
                <a:solidFill>
                  <a:srgbClr val="B3AE60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int </a:t>
            </a:r>
            <a:r>
              <a:rPr lang="en-US" dirty="0" err="1">
                <a:solidFill>
                  <a:srgbClr val="56A8F5"/>
                </a:solidFill>
                <a:effectLst/>
              </a:rPr>
              <a:t>throwWithTry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</a:t>
            </a:r>
            <a:r>
              <a:rPr lang="en-US" dirty="0" err="1">
                <a:solidFill>
                  <a:srgbClr val="6AAB73"/>
                </a:solidFill>
                <a:effectLst/>
              </a:rPr>
              <a:t>Try.run</a:t>
            </a:r>
            <a:r>
              <a:rPr lang="en-US" dirty="0">
                <a:solidFill>
                  <a:srgbClr val="6AAB73"/>
                </a:solidFill>
                <a:effectLst/>
              </a:rPr>
              <a:t>(() -&gt; </a:t>
            </a:r>
            <a:r>
              <a:rPr lang="en-US" dirty="0" err="1">
                <a:solidFill>
                  <a:srgbClr val="6AAB73"/>
                </a:solidFill>
                <a:effectLst/>
              </a:rPr>
              <a:t>validateOrThrow</a:t>
            </a:r>
            <a:r>
              <a:rPr lang="en-US" dirty="0">
                <a:solidFill>
                  <a:srgbClr val="6AAB73"/>
                </a:solidFill>
                <a:effectLst/>
              </a:rPr>
              <a:t>("CRYPTO"))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    .map(_ -&gt; 0)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    .recover(</a:t>
            </a:r>
            <a:r>
              <a:rPr lang="en-US" dirty="0" err="1">
                <a:solidFill>
                  <a:srgbClr val="6AAB73"/>
                </a:solidFill>
                <a:effectLst/>
              </a:rPr>
              <a:t>IllegalArgumentException.class</a:t>
            </a:r>
            <a:r>
              <a:rPr lang="en-US" dirty="0">
                <a:solidFill>
                  <a:srgbClr val="6AAB73"/>
                </a:solidFill>
                <a:effectLst/>
              </a:rPr>
              <a:t>, 1)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    .get();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</a:t>
            </a:r>
            <a:r>
              <a:rPr lang="en-US" dirty="0">
                <a:solidFill>
                  <a:srgbClr val="B3AE60"/>
                </a:solidFill>
                <a:effectLst/>
              </a:rPr>
              <a:t>@Benchmark</a:t>
            </a:r>
            <a:br>
              <a:rPr lang="en-US" dirty="0">
                <a:solidFill>
                  <a:srgbClr val="B3AE60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public int </a:t>
            </a:r>
            <a:r>
              <a:rPr lang="en-US" dirty="0" err="1">
                <a:solidFill>
                  <a:srgbClr val="56A8F5"/>
                </a:solidFill>
                <a:effectLst/>
              </a:rPr>
              <a:t>throwWithoutStackTrace</a:t>
            </a:r>
            <a:r>
              <a:rPr lang="en-US" dirty="0">
                <a:solidFill>
                  <a:srgbClr val="6AAB73"/>
                </a:solidFill>
                <a:effectLst/>
              </a:rPr>
              <a:t>()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try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</a:t>
            </a:r>
            <a:r>
              <a:rPr lang="en-US" dirty="0" err="1">
                <a:solidFill>
                  <a:srgbClr val="6AAB73"/>
                </a:solidFill>
                <a:effectLst/>
              </a:rPr>
              <a:t>validateOrThrowFast</a:t>
            </a:r>
            <a:r>
              <a:rPr lang="en-US" dirty="0">
                <a:solidFill>
                  <a:srgbClr val="6AAB73"/>
                </a:solidFill>
                <a:effectLst/>
              </a:rPr>
              <a:t>("CRYPTO");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return 0;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 catch (</a:t>
            </a:r>
            <a:r>
              <a:rPr lang="en-US" dirty="0" err="1">
                <a:solidFill>
                  <a:srgbClr val="6AAB73"/>
                </a:solidFill>
                <a:effectLst/>
              </a:rPr>
              <a:t>FastValidationException</a:t>
            </a:r>
            <a:r>
              <a:rPr lang="en-US" dirty="0">
                <a:solidFill>
                  <a:srgbClr val="6AAB73"/>
                </a:solidFill>
                <a:effectLst/>
              </a:rPr>
              <a:t> 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return 1;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private void </a:t>
            </a:r>
            <a:r>
              <a:rPr lang="en-US" dirty="0" err="1">
                <a:solidFill>
                  <a:srgbClr val="56A8F5"/>
                </a:solidFill>
                <a:effectLst/>
              </a:rPr>
              <a:t>validateOrThrow</a:t>
            </a:r>
            <a:r>
              <a:rPr lang="en-US" dirty="0">
                <a:solidFill>
                  <a:srgbClr val="6AAB73"/>
                </a:solidFill>
                <a:effectLst/>
              </a:rPr>
              <a:t>(String type)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if (!</a:t>
            </a:r>
            <a:r>
              <a:rPr lang="en-US" dirty="0" err="1">
                <a:solidFill>
                  <a:srgbClr val="6AAB73"/>
                </a:solidFill>
                <a:effectLst/>
              </a:rPr>
              <a:t>isKnown</a:t>
            </a:r>
            <a:r>
              <a:rPr lang="en-US" dirty="0">
                <a:solidFill>
                  <a:srgbClr val="6AAB73"/>
                </a:solidFill>
                <a:effectLst/>
              </a:rPr>
              <a:t>(type))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6AAB73"/>
                </a:solidFill>
                <a:effectLst/>
              </a:rPr>
              <a:t>("Unknown instrument type: " + type);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private void </a:t>
            </a:r>
            <a:r>
              <a:rPr lang="en-US" dirty="0" err="1">
                <a:solidFill>
                  <a:srgbClr val="56A8F5"/>
                </a:solidFill>
                <a:effectLst/>
              </a:rPr>
              <a:t>validateOrThrowFast</a:t>
            </a:r>
            <a:r>
              <a:rPr lang="en-US" dirty="0">
                <a:solidFill>
                  <a:srgbClr val="6AAB73"/>
                </a:solidFill>
                <a:effectLst/>
              </a:rPr>
              <a:t>(String type)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if (!</a:t>
            </a:r>
            <a:r>
              <a:rPr lang="en-US" dirty="0" err="1">
                <a:solidFill>
                  <a:srgbClr val="6AAB73"/>
                </a:solidFill>
                <a:effectLst/>
              </a:rPr>
              <a:t>isKnown</a:t>
            </a:r>
            <a:r>
              <a:rPr lang="en-US" dirty="0">
                <a:solidFill>
                  <a:srgbClr val="6AAB73"/>
                </a:solidFill>
                <a:effectLst/>
              </a:rPr>
              <a:t>(type))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throw new </a:t>
            </a:r>
            <a:r>
              <a:rPr lang="en-US" dirty="0" err="1">
                <a:solidFill>
                  <a:srgbClr val="6AAB73"/>
                </a:solidFill>
                <a:effectLst/>
              </a:rPr>
              <a:t>FastValidationException</a:t>
            </a:r>
            <a:r>
              <a:rPr lang="en-US" dirty="0">
                <a:solidFill>
                  <a:srgbClr val="6AAB73"/>
                </a:solidFill>
                <a:effectLst/>
              </a:rPr>
              <a:t>("Unknown instrument type: " + type);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private </a:t>
            </a:r>
            <a:r>
              <a:rPr lang="en-US" dirty="0" err="1">
                <a:solidFill>
                  <a:srgbClr val="6AAB73"/>
                </a:solidFill>
                <a:effectLst/>
              </a:rPr>
              <a:t>boolean</a:t>
            </a:r>
            <a:r>
              <a:rPr lang="en-US" dirty="0">
                <a:solidFill>
                  <a:srgbClr val="6AAB73"/>
                </a:solidFill>
                <a:effectLst/>
              </a:rPr>
              <a:t> </a:t>
            </a:r>
            <a:r>
              <a:rPr lang="en-US" dirty="0" err="1">
                <a:solidFill>
                  <a:srgbClr val="56A8F5"/>
                </a:solidFill>
                <a:effectLst/>
              </a:rPr>
              <a:t>isKnown</a:t>
            </a:r>
            <a:r>
              <a:rPr lang="en-US" dirty="0">
                <a:solidFill>
                  <a:srgbClr val="6AAB73"/>
                </a:solidFill>
                <a:effectLst/>
              </a:rPr>
              <a:t>(String type)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return "</a:t>
            </a:r>
            <a:r>
              <a:rPr lang="en-US" dirty="0" err="1">
                <a:solidFill>
                  <a:srgbClr val="6AAB73"/>
                </a:solidFill>
                <a:effectLst/>
              </a:rPr>
              <a:t>STOCK".equals</a:t>
            </a:r>
            <a:r>
              <a:rPr lang="en-US" dirty="0">
                <a:solidFill>
                  <a:srgbClr val="6AAB73"/>
                </a:solidFill>
                <a:effectLst/>
              </a:rPr>
              <a:t>(type) || "</a:t>
            </a:r>
            <a:r>
              <a:rPr lang="en-US" dirty="0" err="1">
                <a:solidFill>
                  <a:srgbClr val="6AAB73"/>
                </a:solidFill>
                <a:effectLst/>
              </a:rPr>
              <a:t>BOND".equals</a:t>
            </a:r>
            <a:r>
              <a:rPr lang="en-US" dirty="0">
                <a:solidFill>
                  <a:srgbClr val="6AAB73"/>
                </a:solidFill>
                <a:effectLst/>
              </a:rPr>
              <a:t>(type) || "</a:t>
            </a:r>
            <a:r>
              <a:rPr lang="en-US" dirty="0" err="1">
                <a:solidFill>
                  <a:srgbClr val="6AAB73"/>
                </a:solidFill>
                <a:effectLst/>
              </a:rPr>
              <a:t>ETF".equals</a:t>
            </a:r>
            <a:r>
              <a:rPr lang="en-US" dirty="0">
                <a:solidFill>
                  <a:srgbClr val="6AAB73"/>
                </a:solidFill>
                <a:effectLst/>
              </a:rPr>
              <a:t>(type);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static class </a:t>
            </a:r>
            <a:r>
              <a:rPr lang="en-US" dirty="0" err="1">
                <a:solidFill>
                  <a:srgbClr val="6AAB73"/>
                </a:solidFill>
                <a:effectLst/>
              </a:rPr>
              <a:t>FastValidationException</a:t>
            </a:r>
            <a:r>
              <a:rPr lang="en-US" dirty="0">
                <a:solidFill>
                  <a:srgbClr val="6AAB73"/>
                </a:solidFill>
                <a:effectLst/>
              </a:rPr>
              <a:t> extends </a:t>
            </a:r>
            <a:r>
              <a:rPr lang="en-US" dirty="0" err="1">
                <a:solidFill>
                  <a:srgbClr val="6AAB73"/>
                </a:solidFill>
                <a:effectLst/>
              </a:rPr>
              <a:t>RuntimeException</a:t>
            </a:r>
            <a:r>
              <a:rPr lang="en-US" dirty="0">
                <a:solidFill>
                  <a:srgbClr val="6AAB73"/>
                </a:solidFill>
                <a:effectLst/>
              </a:rPr>
              <a:t>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</a:t>
            </a:r>
            <a:r>
              <a:rPr lang="en-US" dirty="0" err="1">
                <a:solidFill>
                  <a:srgbClr val="56A8F5"/>
                </a:solidFill>
                <a:effectLst/>
              </a:rPr>
              <a:t>FastValidationException</a:t>
            </a:r>
            <a:r>
              <a:rPr lang="en-US" dirty="0">
                <a:solidFill>
                  <a:srgbClr val="6AAB73"/>
                </a:solidFill>
                <a:effectLst/>
              </a:rPr>
              <a:t>(String message) {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    super(message, null, false, false); // </a:t>
            </a:r>
            <a:r>
              <a:rPr lang="en-US" dirty="0" err="1">
                <a:solidFill>
                  <a:srgbClr val="6AAB73"/>
                </a:solidFill>
                <a:effectLst/>
              </a:rPr>
              <a:t>enableSuppression</a:t>
            </a:r>
            <a:r>
              <a:rPr lang="en-US" dirty="0">
                <a:solidFill>
                  <a:srgbClr val="6AAB73"/>
                </a:solidFill>
                <a:effectLst/>
              </a:rPr>
              <a:t>=false, </a:t>
            </a:r>
            <a:r>
              <a:rPr lang="en-US" dirty="0" err="1">
                <a:solidFill>
                  <a:srgbClr val="6AAB73"/>
                </a:solidFill>
                <a:effectLst/>
              </a:rPr>
              <a:t>writableStackTrace</a:t>
            </a:r>
            <a:r>
              <a:rPr lang="en-US" dirty="0">
                <a:solidFill>
                  <a:srgbClr val="6AAB73"/>
                </a:solidFill>
                <a:effectLst/>
              </a:rPr>
              <a:t>=false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    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6AAB73"/>
                </a:solidFill>
                <a:effectLst/>
              </a:rPr>
              <a:t>}</a:t>
            </a:r>
            <a:br>
              <a:rPr lang="en-US" dirty="0">
                <a:solidFill>
                  <a:srgbClr val="6AAB73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```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Ключевая деталь — </a:t>
            </a:r>
            <a:r>
              <a:rPr lang="ru-RU" dirty="0" err="1">
                <a:solidFill>
                  <a:srgbClr val="BCBEC4"/>
                </a:solidFill>
                <a:effectLst/>
              </a:rPr>
              <a:t>четырёхаргументный</a:t>
            </a:r>
            <a:r>
              <a:rPr lang="ru-RU" dirty="0">
                <a:solidFill>
                  <a:srgbClr val="BCBEC4"/>
                </a:solidFill>
                <a:effectLst/>
              </a:rPr>
              <a:t> конструктор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Throwable(message, cause, </a:t>
            </a:r>
            <a:r>
              <a:rPr lang="en-US" dirty="0" err="1">
                <a:solidFill>
                  <a:srgbClr val="BCBEC4"/>
                </a:solidFill>
                <a:effectLst/>
              </a:rPr>
              <a:t>enableSuppression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en-US" dirty="0" err="1">
                <a:solidFill>
                  <a:srgbClr val="BCBEC4"/>
                </a:solidFill>
                <a:effectLst/>
              </a:rPr>
              <a:t>writableStackTrace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: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последний флаг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false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отключает вызов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fillInStackTrace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при создании исключения. Именно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fillInStackTrace</a:t>
            </a:r>
            <a:r>
              <a:rPr lang="en-US" dirty="0">
                <a:solidFill>
                  <a:srgbClr val="BCBEC4"/>
                </a:solidFill>
                <a:effectLst/>
              </a:rPr>
              <a:t>()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самая дорогая часть создания исключения: она обходит весь текущий стек вызовов и материализует его в массив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StackTraceElement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Ожидаемая картина результатов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(конкретные числа зависят от железа и глубины стека, поэтому в бенчмарке важнее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относительное соотношение, чем абсолютные цифры):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returnCode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 </a:t>
            </a:r>
            <a:r>
              <a:rPr lang="ru-RU" dirty="0">
                <a:solidFill>
                  <a:srgbClr val="BCBEC4"/>
                </a:solidFill>
                <a:effectLst/>
              </a:rPr>
              <a:t>самый быстрый вариант;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throwWithStackTrace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заметно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медленнее — на глубоком стеке разница может достигать одного-двух порядков;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throwWithTry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показывает близкие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результаты,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throwWithoutStackTrace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располагается заметно ближе к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returnCode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чем к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throwWithStackTrace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но не равен ему — создание объекта исключения и разворачивание стека для доставки до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catch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всё равно происходят.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**</a:t>
            </a:r>
            <a:r>
              <a:rPr lang="ru-RU" dirty="0">
                <a:solidFill>
                  <a:srgbClr val="BCBEC4"/>
                </a:solidFill>
                <a:effectLst/>
              </a:rPr>
              <a:t>Вывод для практики: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обычное, не горячее использование исключений (как 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AddCommand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 </a:t>
            </a:r>
            <a:r>
              <a:rPr lang="ru-RU" dirty="0">
                <a:solidFill>
                  <a:srgbClr val="BCBEC4"/>
                </a:solidFill>
                <a:effectLst/>
              </a:rPr>
              <a:t>не требует никакой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оптимизации — </a:t>
            </a:r>
            <a:r>
              <a:rPr lang="ru-RU" dirty="0" err="1">
                <a:solidFill>
                  <a:srgbClr val="BCBEC4"/>
                </a:solidFill>
                <a:effectLst/>
              </a:rPr>
              <a:t>оверхед</a:t>
            </a:r>
            <a:r>
              <a:rPr lang="ru-RU" dirty="0">
                <a:solidFill>
                  <a:srgbClr val="BCBEC4"/>
                </a:solidFill>
                <a:effectLst/>
              </a:rPr>
              <a:t>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fillInStackTrace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там теряется на фоне ввода-вывода и реакции пользователя. Отключать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трассировку стека имеет смысл только в горячих путях, где исключения используются очень часто и стек вызовов не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&gt; </a:t>
            </a:r>
            <a:r>
              <a:rPr lang="ru-RU" dirty="0">
                <a:solidFill>
                  <a:srgbClr val="BCBEC4"/>
                </a:solidFill>
                <a:effectLst/>
              </a:rPr>
              <a:t>нужен для диагностики.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7. Итоги (~5 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За сегодня: тихая поломка с дублированием тикеров стала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DuplicateTickerException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; </a:t>
            </a:r>
            <a:r>
              <a:rPr lang="ru-RU" dirty="0">
                <a:solidFill>
                  <a:srgbClr val="BCBEC4"/>
                </a:solidFill>
                <a:effectLst/>
              </a:rPr>
              <a:t>громкая, но прежде необработанная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ошибка с неизвестным типом инструмента получила понятную обработку через </a:t>
            </a:r>
            <a:r>
              <a:rPr lang="en-US" dirty="0">
                <a:solidFill>
                  <a:srgbClr val="BCBEC4"/>
                </a:solidFill>
                <a:effectLst/>
              </a:rPr>
              <a:t>multi-catch; </a:t>
            </a:r>
            <a:r>
              <a:rPr lang="ru-RU" dirty="0">
                <a:solidFill>
                  <a:srgbClr val="BCBEC4"/>
                </a:solidFill>
                <a:effectLst/>
              </a:rPr>
              <a:t>разобрали, почему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плохо сочетаются с функциональными интерфейсами семинара 3; познакомились с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подавленными исключениями; замерили через </a:t>
            </a:r>
            <a:r>
              <a:rPr lang="en-US" dirty="0">
                <a:solidFill>
                  <a:srgbClr val="BCBEC4"/>
                </a:solidFill>
                <a:effectLst/>
              </a:rPr>
              <a:t>JMH, </a:t>
            </a:r>
            <a:r>
              <a:rPr lang="ru-RU" dirty="0">
                <a:solidFill>
                  <a:srgbClr val="BCBEC4"/>
                </a:solidFill>
                <a:effectLst/>
              </a:rPr>
              <a:t>во сколько на самом деле обходится </a:t>
            </a:r>
            <a:r>
              <a:rPr lang="en-US" dirty="0">
                <a:solidFill>
                  <a:srgbClr val="BCBEC4"/>
                </a:solidFill>
                <a:effectLst/>
              </a:rPr>
              <a:t>throw/catch </a:t>
            </a:r>
            <a:r>
              <a:rPr lang="ru-RU" dirty="0">
                <a:solidFill>
                  <a:srgbClr val="BCBEC4"/>
                </a:solidFill>
                <a:effectLst/>
              </a:rPr>
              <a:t>с трассировкой стека 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без неё.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Следующий семинар — дата-ориентированное программирование: подключаем настоящее хранилище вместо массива-заглушки.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---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Исходный код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Ссылки на итоговый код: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56A8F5"/>
                </a:solidFill>
                <a:effectLst/>
              </a:rPr>
              <a:t>[`</a:t>
            </a:r>
            <a:r>
              <a:rPr lang="en-US" dirty="0">
                <a:solidFill>
                  <a:srgbClr val="56A8F5"/>
                </a:solidFill>
                <a:effectLst/>
              </a:rPr>
              <a:t>exception/</a:t>
            </a:r>
            <a:r>
              <a:rPr lang="en-US" dirty="0" err="1">
                <a:solidFill>
                  <a:srgbClr val="56A8F5"/>
                </a:solidFill>
                <a:effectLst/>
              </a:rPr>
              <a:t>DuplicateTickerException.java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/exception/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DuplicateTickerException.java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[`repository/</a:t>
            </a:r>
            <a:r>
              <a:rPr lang="en-US" dirty="0" err="1">
                <a:solidFill>
                  <a:srgbClr val="56A8F5"/>
                </a:solidFill>
                <a:effectLst/>
              </a:rPr>
              <a:t>InstrumentRepository.java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/repository/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InMemoryInstrumentRepository.java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[`cli/</a:t>
            </a:r>
            <a:r>
              <a:rPr lang="en-US" dirty="0" err="1">
                <a:solidFill>
                  <a:srgbClr val="56A8F5"/>
                </a:solidFill>
                <a:effectLst/>
              </a:rPr>
              <a:t>AddCommand.java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/cli/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AddCommand.java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[`demo/</a:t>
            </a:r>
            <a:r>
              <a:rPr lang="en-US" dirty="0" err="1">
                <a:solidFill>
                  <a:srgbClr val="56A8F5"/>
                </a:solidFill>
                <a:effectLst/>
              </a:rPr>
              <a:t>InstrumentWithSameTickerDemo.java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InstrumentWithSameTickerDemo.java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[`demo/</a:t>
            </a:r>
            <a:r>
              <a:rPr lang="en-US" dirty="0" err="1">
                <a:solidFill>
                  <a:srgbClr val="56A8F5"/>
                </a:solidFill>
                <a:effectLst/>
              </a:rPr>
              <a:t>InstrumentImportSession.java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InstrumentImp</a:t>
            </a:r>
            <a:r>
              <a:rPr lang="en-US" i="1" dirty="0">
                <a:solidFill>
                  <a:srgbClr val="57AAF7"/>
                </a:solidFill>
                <a:effectLst/>
              </a:rPr>
              <a:t>[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TryWithResourcesDemo.java</a:t>
            </a:r>
            <a:r>
              <a:rPr lang="en-US" i="1" dirty="0">
                <a:solidFill>
                  <a:srgbClr val="57AAF7"/>
                </a:solidFill>
                <a:effectLst/>
              </a:rPr>
              <a:t>](../../../../ab-java-seminars-2026/advanced/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TryWithResourcesDemo.java</a:t>
            </a:r>
            <a:r>
              <a:rPr lang="en-US" i="1" dirty="0">
                <a:solidFill>
                  <a:srgbClr val="57AAF7"/>
                </a:solidFill>
                <a:effectLst/>
              </a:rPr>
              <a:t>)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ortSession.java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[`demo/</a:t>
            </a:r>
            <a:r>
              <a:rPr lang="en-US" dirty="0" err="1">
                <a:solidFill>
                  <a:srgbClr val="56A8F5"/>
                </a:solidFill>
                <a:effectLst/>
              </a:rPr>
              <a:t>FailingInstrumentImportSession.java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FailingInstrumentImportSession.java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[`demo/</a:t>
            </a:r>
            <a:r>
              <a:rPr lang="en-US" dirty="0" err="1">
                <a:solidFill>
                  <a:srgbClr val="56A8F5"/>
                </a:solidFill>
                <a:effectLst/>
              </a:rPr>
              <a:t>TryWithResourcesDemo.java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TryWithResourcesDemo.java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[`demo/</a:t>
            </a:r>
            <a:r>
              <a:rPr lang="en-US" dirty="0" err="1">
                <a:solidFill>
                  <a:srgbClr val="56A8F5"/>
                </a:solidFill>
                <a:effectLst/>
              </a:rPr>
              <a:t>VavrDemo.java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/demo/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VavrDemo.java</a:t>
            </a:r>
            <a:r>
              <a:rPr lang="en-US" dirty="0">
                <a:solidFill>
                  <a:srgbClr val="BCBEC4"/>
                </a:solidFill>
                <a:effectLst/>
              </a:rPr>
              <a:t>),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56A8F5"/>
                </a:solidFill>
                <a:effectLst/>
              </a:rPr>
              <a:t>[`benchmark/</a:t>
            </a:r>
            <a:r>
              <a:rPr lang="en-US" dirty="0" err="1">
                <a:solidFill>
                  <a:srgbClr val="56A8F5"/>
                </a:solidFill>
                <a:effectLst/>
              </a:rPr>
              <a:t>ExceptionOverheadBenchmark.java</a:t>
            </a:r>
            <a:r>
              <a:rPr lang="en-US" dirty="0">
                <a:solidFill>
                  <a:srgbClr val="56A8F5"/>
                </a:solidFill>
                <a:effectLst/>
              </a:rPr>
              <a:t>`]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en-US" i="1" dirty="0">
                <a:solidFill>
                  <a:srgbClr val="57AAF7"/>
                </a:solidFill>
                <a:effectLst/>
              </a:rPr>
              <a:t>../../../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src</a:t>
            </a:r>
            <a:r>
              <a:rPr lang="en-US" i="1" dirty="0">
                <a:solidFill>
                  <a:srgbClr val="57AAF7"/>
                </a:solidFill>
                <a:effectLst/>
              </a:rPr>
              <a:t>/main/java/academy/backend/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market_pulse</a:t>
            </a:r>
            <a:r>
              <a:rPr lang="en-US" i="1" dirty="0">
                <a:solidFill>
                  <a:srgbClr val="57AAF7"/>
                </a:solidFill>
                <a:effectLst/>
              </a:rPr>
              <a:t>/benchmark/</a:t>
            </a:r>
            <a:r>
              <a:rPr lang="en-US" i="1" dirty="0" err="1">
                <a:solidFill>
                  <a:srgbClr val="57AAF7"/>
                </a:solidFill>
                <a:effectLst/>
              </a:rPr>
              <a:t>ExceptionOverheadBenchmark.java</a:t>
            </a:r>
            <a:r>
              <a:rPr lang="en-US" dirty="0">
                <a:solidFill>
                  <a:srgbClr val="BCBEC4"/>
                </a:solidFill>
                <a:effectLst/>
              </a:rPr>
              <a:t>)  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---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## </a:t>
            </a:r>
            <a:r>
              <a:rPr lang="ru-RU" dirty="0">
                <a:solidFill>
                  <a:srgbClr val="BCBEC4"/>
                </a:solidFill>
                <a:effectLst/>
              </a:rPr>
              <a:t>Навыки, полученные на семинаре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Коды возврата </a:t>
            </a:r>
            <a:r>
              <a:rPr lang="en-US" dirty="0">
                <a:solidFill>
                  <a:srgbClr val="BCBEC4"/>
                </a:solidFill>
                <a:effectLst/>
              </a:rPr>
              <a:t>vs 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Иерархия </a:t>
            </a:r>
            <a:r>
              <a:rPr lang="en-US" dirty="0">
                <a:solidFill>
                  <a:srgbClr val="BCBEC4"/>
                </a:solidFill>
                <a:effectLst/>
              </a:rPr>
              <a:t>Throwable/Error/Exception/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en-US" dirty="0">
                <a:solidFill>
                  <a:srgbClr val="BCBEC4"/>
                </a:solidFill>
                <a:effectLst/>
              </a:rPr>
              <a:t>Checked </a:t>
            </a:r>
            <a:r>
              <a:rPr lang="ru-RU" dirty="0">
                <a:solidFill>
                  <a:srgbClr val="BCBEC4"/>
                </a:solidFill>
                <a:effectLst/>
              </a:rPr>
              <a:t>и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Конфликт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исключений с функциональными интерфейсами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Проектирование собственных исключений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try/catch </a:t>
            </a:r>
            <a:r>
              <a:rPr lang="ru-RU" dirty="0">
                <a:solidFill>
                  <a:srgbClr val="BCBEC4"/>
                </a:solidFill>
                <a:effectLst/>
              </a:rPr>
              <a:t>и </a:t>
            </a:r>
            <a:r>
              <a:rPr lang="en-US" dirty="0">
                <a:solidFill>
                  <a:srgbClr val="BCBEC4"/>
                </a:solidFill>
                <a:effectLst/>
              </a:rPr>
              <a:t>multi-catch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с причиной (</a:t>
            </a:r>
            <a:r>
              <a:rPr lang="en-US" dirty="0">
                <a:solidFill>
                  <a:srgbClr val="BCBEC4"/>
                </a:solidFill>
                <a:effectLst/>
              </a:rPr>
              <a:t>exception chaining)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en-US" dirty="0">
                <a:solidFill>
                  <a:srgbClr val="BCBEC4"/>
                </a:solidFill>
                <a:effectLst/>
              </a:rPr>
              <a:t>try-with-resources </a:t>
            </a:r>
            <a:r>
              <a:rPr lang="ru-RU" dirty="0">
                <a:solidFill>
                  <a:srgbClr val="BCBEC4"/>
                </a:solidFill>
                <a:effectLst/>
              </a:rPr>
              <a:t>и </a:t>
            </a:r>
            <a:r>
              <a:rPr lang="en-US" dirty="0" err="1">
                <a:solidFill>
                  <a:srgbClr val="BCBEC4"/>
                </a:solidFill>
                <a:effectLst/>
              </a:rPr>
              <a:t>AutoCloseable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Подавленные исключения (</a:t>
            </a:r>
            <a:r>
              <a:rPr lang="en-US" dirty="0">
                <a:solidFill>
                  <a:srgbClr val="BCBEC4"/>
                </a:solidFill>
                <a:effectLst/>
              </a:rPr>
              <a:t>suppressed exceptions)</a:t>
            </a:r>
            <a:r>
              <a:rPr lang="en-US" dirty="0">
                <a:solidFill>
                  <a:srgbClr val="CF8E6D"/>
                </a:solidFill>
                <a:effectLst/>
              </a:rPr>
              <a:t>` `</a:t>
            </a:r>
            <a:r>
              <a:rPr lang="en-US" dirty="0" err="1">
                <a:solidFill>
                  <a:srgbClr val="BCBEC4"/>
                </a:solidFill>
                <a:effectLst/>
              </a:rPr>
              <a:t>Vavr</a:t>
            </a:r>
            <a:r>
              <a:rPr lang="en-US" dirty="0">
                <a:solidFill>
                  <a:srgbClr val="BCBEC4"/>
                </a:solidFill>
                <a:effectLst/>
              </a:rPr>
              <a:t> Try </a:t>
            </a:r>
            <a:r>
              <a:rPr lang="ru-RU" dirty="0">
                <a:solidFill>
                  <a:srgbClr val="BCBEC4"/>
                </a:solidFill>
                <a:effectLst/>
              </a:rPr>
              <a:t>как альтернатива </a:t>
            </a:r>
            <a:r>
              <a:rPr lang="en-US" dirty="0">
                <a:solidFill>
                  <a:srgbClr val="BCBEC4"/>
                </a:solidFill>
                <a:effectLst/>
              </a:rPr>
              <a:t>try/catch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JMH: </a:t>
            </a:r>
            <a:r>
              <a:rPr lang="ru-RU" dirty="0">
                <a:solidFill>
                  <a:srgbClr val="BCBEC4"/>
                </a:solidFill>
                <a:effectLst/>
              </a:rPr>
              <a:t>методология </a:t>
            </a:r>
            <a:r>
              <a:rPr lang="ru-RU" dirty="0" err="1">
                <a:solidFill>
                  <a:srgbClr val="BCBEC4"/>
                </a:solidFill>
                <a:effectLst/>
              </a:rPr>
              <a:t>микробенчмарков</a:t>
            </a:r>
            <a:r>
              <a:rPr lang="ru-RU" dirty="0">
                <a:solidFill>
                  <a:srgbClr val="CF8E6D"/>
                </a:solidFill>
                <a:effectLst/>
              </a:rPr>
              <a:t>` `</a:t>
            </a:r>
            <a:r>
              <a:rPr lang="en-US" dirty="0" err="1">
                <a:solidFill>
                  <a:srgbClr val="BCBEC4"/>
                </a:solidFill>
                <a:effectLst/>
              </a:rPr>
              <a:t>fillInStackTrace</a:t>
            </a:r>
            <a:r>
              <a:rPr lang="en-US" dirty="0">
                <a:solidFill>
                  <a:srgbClr val="BCBEC4"/>
                </a:solidFill>
                <a:effectLst/>
              </a:rPr>
              <a:t> </a:t>
            </a:r>
            <a:r>
              <a:rPr lang="ru-RU" dirty="0">
                <a:solidFill>
                  <a:srgbClr val="BCBEC4"/>
                </a:solidFill>
                <a:effectLst/>
              </a:rPr>
              <a:t>и стоимость исключений</a:t>
            </a:r>
            <a:r>
              <a:rPr lang="ru-RU" dirty="0">
                <a:solidFill>
                  <a:srgbClr val="CF8E6D"/>
                </a:solidFill>
                <a:effectLst/>
              </a:rPr>
              <a:t>` </a:t>
            </a:r>
            <a:br>
              <a:rPr lang="ru-RU" dirty="0">
                <a:solidFill>
                  <a:srgbClr val="CF8E6D"/>
                </a:solidFill>
                <a:effectLst/>
              </a:rPr>
            </a:br>
            <a:endParaRPr lang="ru-RU" dirty="0">
              <a:solidFill>
                <a:srgbClr val="BCBEC4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DAB2D-3255-7C4B-9C54-B6B603CAEB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38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Коды возврата и </a:t>
            </a:r>
            <a:r>
              <a:rPr lang="en-US" dirty="0">
                <a:solidFill>
                  <a:srgbClr val="BCBEC4"/>
                </a:solidFill>
                <a:effectLst/>
              </a:rPr>
              <a:t>sentinel values.</a:t>
            </a:r>
            <a:r>
              <a:rPr lang="en-US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До исключений — единственный доступный инструмент: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-1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null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errno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findByTicker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возвращавший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null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до семинара 3, — тот же паттерн. Проверку легко забыть, компилятор не заставит,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несколько причин ошибки трудно закодировать одним значением.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DAB2D-3255-7C4B-9C54-B6B603CAEB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5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CF8E6D"/>
                </a:solidFill>
                <a:effectLst/>
              </a:rPr>
              <a:t>### </a:t>
            </a:r>
            <a:r>
              <a:rPr lang="ru-RU" dirty="0">
                <a:solidFill>
                  <a:srgbClr val="BCBEC4"/>
                </a:solidFill>
                <a:effectLst/>
              </a:rPr>
              <a:t>Этап 2. Теория: коды возврата, исключения, спор о </a:t>
            </a:r>
            <a:r>
              <a:rPr lang="en-US" dirty="0">
                <a:solidFill>
                  <a:srgbClr val="BCBEC4"/>
                </a:solidFill>
                <a:effectLst/>
              </a:rPr>
              <a:t>checked (~20 </a:t>
            </a:r>
            <a:r>
              <a:rPr lang="ru-RU" dirty="0">
                <a:solidFill>
                  <a:srgbClr val="BCBEC4"/>
                </a:solidFill>
                <a:effectLst/>
              </a:rPr>
              <a:t>мин)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Исключения.</a:t>
            </a:r>
            <a:r>
              <a:rPr lang="ru-RU" dirty="0">
                <a:solidFill>
                  <a:srgbClr val="CF8E6D"/>
                </a:solidFill>
                <a:effectLst/>
              </a:rPr>
              <a:t>** `</a:t>
            </a:r>
            <a:r>
              <a:rPr lang="en-US" dirty="0">
                <a:solidFill>
                  <a:srgbClr val="BCBEC4"/>
                </a:solidFill>
                <a:effectLst/>
              </a:rPr>
              <a:t>throw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прерывает нормальный поток и передаёт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Throwable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вверх по стеку до ближайшего подходящего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catch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В отличие от кода возврата, необработанное исключение не может быть молча проигнорировано — оно завершит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поток явно.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Иерархия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Throwable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:</a:t>
            </a:r>
            <a:r>
              <a:rPr lang="en-US" dirty="0">
                <a:solidFill>
                  <a:srgbClr val="CF8E6D"/>
                </a:solidFill>
                <a:effectLst/>
              </a:rPr>
              <a:t>** `</a:t>
            </a:r>
            <a:r>
              <a:rPr lang="en-US" dirty="0">
                <a:solidFill>
                  <a:srgbClr val="BCBEC4"/>
                </a:solidFill>
                <a:effectLst/>
              </a:rPr>
              <a:t>Error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(</a:t>
            </a:r>
            <a:r>
              <a:rPr lang="ru-RU" dirty="0">
                <a:solidFill>
                  <a:srgbClr val="BCBEC4"/>
                </a:solidFill>
                <a:effectLst/>
              </a:rPr>
              <a:t>уровень </a:t>
            </a:r>
            <a:r>
              <a:rPr lang="en-US" dirty="0">
                <a:solidFill>
                  <a:srgbClr val="BCBEC4"/>
                </a:solidFill>
                <a:effectLst/>
              </a:rPr>
              <a:t>JVM, </a:t>
            </a:r>
            <a:r>
              <a:rPr lang="ru-RU" dirty="0">
                <a:solidFill>
                  <a:srgbClr val="BCBEC4"/>
                </a:solidFill>
                <a:effectLst/>
              </a:rPr>
              <a:t>не для приложения) 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внутри которого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(unchecked) </a:t>
            </a:r>
            <a:r>
              <a:rPr lang="ru-RU" dirty="0">
                <a:solidFill>
                  <a:srgbClr val="BCBEC4"/>
                </a:solidFill>
                <a:effectLst/>
              </a:rPr>
              <a:t>и всё остальное (</a:t>
            </a:r>
            <a:r>
              <a:rPr lang="en-US" dirty="0">
                <a:solidFill>
                  <a:srgbClr val="BCBEC4"/>
                </a:solidFill>
                <a:effectLst/>
              </a:rPr>
              <a:t>checked). 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компилятор обязывает объявить в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или обработать;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такого требования не несут.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Спор о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исключениях.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Идея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исключений — заставить разработчика осознанно обработать восстановимую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ошибку. У этой идеи есть реальные плюсы и минусы, и практика </a:t>
            </a:r>
            <a:r>
              <a:rPr lang="en-US" dirty="0">
                <a:solidFill>
                  <a:srgbClr val="BCBEC4"/>
                </a:solidFill>
                <a:effectLst/>
              </a:rPr>
              <a:t>Java-</a:t>
            </a:r>
            <a:r>
              <a:rPr lang="ru-RU" dirty="0">
                <a:solidFill>
                  <a:srgbClr val="BCBEC4"/>
                </a:solidFill>
                <a:effectLst/>
              </a:rPr>
              <a:t>экосистемы наглядно показывает оба.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Плюс: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документирует прямо в сигнатуре метода, какие ошибки от него ожидать, и не даёт забыть 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них на этапе компиляции — в отличие от </a:t>
            </a:r>
            <a:r>
              <a:rPr lang="en-US" dirty="0">
                <a:solidFill>
                  <a:srgbClr val="BCBEC4"/>
                </a:solidFill>
                <a:effectLst/>
              </a:rPr>
              <a:t>unchecked, </a:t>
            </a:r>
            <a:r>
              <a:rPr lang="ru-RU" dirty="0">
                <a:solidFill>
                  <a:srgbClr val="BCBEC4"/>
                </a:solidFill>
                <a:effectLst/>
              </a:rPr>
              <a:t>о существовании которых можно узнать только из документации или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исходного кода.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Минус: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плохо масштабируются по глубине вызовов. Если метод на пятом уровне вложенности бросает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исключение, а обработать его осмысленно способен только вызывающий код на первом уровне, все промежуточные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методы вынуждены либо ловить и немедленно перебрасывать, либо просто транзитом тащить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дальше по цепочке, не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имея возможности с ошибкой ничего сделать.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Хуже того, семантика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исключений способна незаметно сработать против разработчика даже там, где, казалось бы,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всё сделано «по правилам». Показательный пример — управление транзакциями в </a:t>
            </a:r>
            <a:r>
              <a:rPr lang="en-US" dirty="0">
                <a:solidFill>
                  <a:srgbClr val="BCBEC4"/>
                </a:solidFill>
                <a:effectLst/>
              </a:rPr>
              <a:t>Spring: </a:t>
            </a:r>
            <a:r>
              <a:rPr lang="ru-RU" dirty="0">
                <a:solidFill>
                  <a:srgbClr val="BCBEC4"/>
                </a:solidFill>
                <a:effectLst/>
              </a:rPr>
              <a:t>по умолчанию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@</a:t>
            </a:r>
            <a:r>
              <a:rPr lang="en-US" dirty="0">
                <a:solidFill>
                  <a:srgbClr val="BCBEC4"/>
                </a:solidFill>
                <a:effectLst/>
              </a:rPr>
              <a:t>Transactional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br>
              <a:rPr lang="en-US" dirty="0">
                <a:solidFill>
                  <a:srgbClr val="CF8E6D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откатывает транзакцию только при </a:t>
            </a:r>
            <a:r>
              <a:rPr lang="en-US" dirty="0">
                <a:solidFill>
                  <a:srgbClr val="BCBEC4"/>
                </a:solidFill>
                <a:effectLst/>
              </a:rPr>
              <a:t>unchecked-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исключении (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RuntimeException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или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Error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). </a:t>
            </a:r>
            <a:r>
              <a:rPr lang="ru-RU" dirty="0">
                <a:solidFill>
                  <a:srgbClr val="BCBEC4"/>
                </a:solidFill>
                <a:effectLst/>
              </a:rPr>
              <a:t>Если метод бросает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— даже объявленное прямо в сигнатуре через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en-US" dirty="0">
                <a:solidFill>
                  <a:srgbClr val="BCBEC4"/>
                </a:solidFill>
                <a:effectLst/>
              </a:rPr>
              <a:t>— Spring </a:t>
            </a:r>
            <a:r>
              <a:rPr lang="ru-RU" dirty="0">
                <a:solidFill>
                  <a:srgbClr val="BCBEC4"/>
                </a:solidFill>
                <a:effectLst/>
              </a:rPr>
              <a:t>по умолчанию транзакцию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 err="1">
                <a:solidFill>
                  <a:srgbClr val="BCBEC4"/>
                </a:solidFill>
                <a:effectLst/>
              </a:rPr>
              <a:t>закоммитит</a:t>
            </a: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, а не откатит, если явно не указать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ru-RU" dirty="0">
                <a:solidFill>
                  <a:srgbClr val="BCBEC4"/>
                </a:solidFill>
                <a:effectLst/>
              </a:rPr>
              <a:t>@</a:t>
            </a:r>
            <a:r>
              <a:rPr lang="en-US" dirty="0">
                <a:solidFill>
                  <a:srgbClr val="BCBEC4"/>
                </a:solidFill>
                <a:effectLst/>
              </a:rPr>
              <a:t>Transactional(</a:t>
            </a:r>
            <a:r>
              <a:rPr lang="en-US" dirty="0" err="1">
                <a:solidFill>
                  <a:srgbClr val="BCBEC4"/>
                </a:solidFill>
                <a:effectLst/>
              </a:rPr>
              <a:t>rollbackFor</a:t>
            </a:r>
            <a:r>
              <a:rPr lang="en-US" dirty="0">
                <a:solidFill>
                  <a:srgbClr val="BCBEC4"/>
                </a:solidFill>
                <a:effectLst/>
              </a:rPr>
              <a:t> = </a:t>
            </a:r>
            <a:r>
              <a:rPr lang="en-US" dirty="0" err="1">
                <a:solidFill>
                  <a:srgbClr val="BCBEC4"/>
                </a:solidFill>
                <a:effectLst/>
              </a:rPr>
              <a:t>MyCheckedException.class</a:t>
            </a:r>
            <a:r>
              <a:rPr lang="en-US" dirty="0">
                <a:solidFill>
                  <a:srgbClr val="BCBEC4"/>
                </a:solidFill>
                <a:effectLst/>
              </a:rPr>
              <a:t>)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 </a:t>
            </a:r>
            <a:r>
              <a:rPr lang="ru-RU" dirty="0">
                <a:solidFill>
                  <a:srgbClr val="BCBEC4"/>
                </a:solidFill>
                <a:effectLst/>
              </a:rPr>
              <a:t>Ошибка,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которая по всем формальным признакам «правильно объявлена и обработана», тихо проходит мимо механизма отката — ровно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тот класс тихих поломок, с которым разбирались на этапе 1, только спрятанный на уровне фреймворка, а не собственного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кода.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Тем же путём пошли и другие языки: ни </a:t>
            </a:r>
            <a:r>
              <a:rPr lang="en-US" dirty="0">
                <a:solidFill>
                  <a:srgbClr val="BCBEC4"/>
                </a:solidFill>
                <a:effectLst/>
              </a:rPr>
              <a:t>C#, </a:t>
            </a:r>
            <a:r>
              <a:rPr lang="ru-RU" dirty="0">
                <a:solidFill>
                  <a:srgbClr val="BCBEC4"/>
                </a:solidFill>
                <a:effectLst/>
              </a:rPr>
              <a:t>ни </a:t>
            </a:r>
            <a:r>
              <a:rPr lang="en-US" dirty="0">
                <a:solidFill>
                  <a:srgbClr val="BCBEC4"/>
                </a:solidFill>
                <a:effectLst/>
              </a:rPr>
              <a:t>Kotlin </a:t>
            </a:r>
            <a:r>
              <a:rPr lang="ru-RU" dirty="0">
                <a:solidFill>
                  <a:srgbClr val="BCBEC4"/>
                </a:solidFill>
                <a:effectLst/>
              </a:rPr>
              <a:t>не реализуют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вовсе, а многие </a:t>
            </a:r>
            <a:r>
              <a:rPr lang="en-US" dirty="0">
                <a:solidFill>
                  <a:srgbClr val="BCBEC4"/>
                </a:solidFill>
                <a:effectLst/>
              </a:rPr>
              <a:t>Java-</a:t>
            </a:r>
            <a:r>
              <a:rPr lang="ru-RU" dirty="0">
                <a:solidFill>
                  <a:srgbClr val="BCBEC4"/>
                </a:solidFill>
                <a:effectLst/>
              </a:rPr>
              <a:t>фреймворки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сознательно оборачивают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нижних слоёв в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ru-RU" dirty="0">
                <a:solidFill>
                  <a:srgbClr val="BCBEC4"/>
                </a:solidFill>
                <a:effectLst/>
              </a:rPr>
              <a:t>на границе своего </a:t>
            </a:r>
            <a:r>
              <a:rPr lang="en-US" dirty="0">
                <a:solidFill>
                  <a:srgbClr val="BCBEC4"/>
                </a:solidFill>
                <a:effectLst/>
              </a:rPr>
              <a:t>API (</a:t>
            </a:r>
            <a:r>
              <a:rPr lang="ru-RU" dirty="0">
                <a:solidFill>
                  <a:srgbClr val="BCBEC4"/>
                </a:solidFill>
                <a:effectLst/>
              </a:rPr>
              <a:t>например, доступ к данным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в </a:t>
            </a:r>
            <a:r>
              <a:rPr lang="en-US" dirty="0">
                <a:solidFill>
                  <a:srgbClr val="BCBEC4"/>
                </a:solidFill>
                <a:effectLst/>
              </a:rPr>
              <a:t>Spring </a:t>
            </a:r>
            <a:r>
              <a:rPr lang="ru-RU" dirty="0">
                <a:solidFill>
                  <a:srgbClr val="BCBEC4"/>
                </a:solidFill>
                <a:effectLst/>
              </a:rPr>
              <a:t>выбрасывает </a:t>
            </a:r>
            <a:r>
              <a:rPr lang="en-US" dirty="0">
                <a:solidFill>
                  <a:srgbClr val="BCBEC4"/>
                </a:solidFill>
                <a:effectLst/>
              </a:rPr>
              <a:t>unchecked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DataAccessException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хотя под капотом обычно лежит </a:t>
            </a:r>
            <a:r>
              <a:rPr lang="en-US" dirty="0">
                <a:solidFill>
                  <a:srgbClr val="BCBEC4"/>
                </a:solidFill>
                <a:effectLst/>
              </a:rPr>
              <a:t>checked 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SQLException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) — </a:t>
            </a:r>
            <a:r>
              <a:rPr lang="ru-RU" dirty="0">
                <a:solidFill>
                  <a:srgbClr val="BCBEC4"/>
                </a:solidFill>
                <a:effectLst/>
              </a:rPr>
              <a:t>именно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чтобы не навязывать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через все промежуточные слои вызовов, которым сама ошибка не интересна, и не создавать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почву для ловушек вроде транзакционной выше.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Особенно остро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исключения конфликтуют с материалом семинара 3 — функциональными интерфейсами. Ни один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стандартный интерфейс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java.util.function</a:t>
            </a:r>
            <a:r>
              <a:rPr lang="en-US" dirty="0">
                <a:solidFill>
                  <a:srgbClr val="CF8E6D"/>
                </a:solidFill>
                <a:effectLst/>
              </a:rPr>
              <a:t>` </a:t>
            </a:r>
            <a:r>
              <a:rPr lang="ru-RU" dirty="0">
                <a:solidFill>
                  <a:srgbClr val="BCBEC4"/>
                </a:solidFill>
                <a:effectLst/>
              </a:rPr>
              <a:t>не объявляет </a:t>
            </a: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throws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, </a:t>
            </a:r>
            <a:r>
              <a:rPr lang="ru-RU" dirty="0">
                <a:solidFill>
                  <a:srgbClr val="BCBEC4"/>
                </a:solidFill>
                <a:effectLst/>
              </a:rPr>
              <a:t>поэтому </a:t>
            </a:r>
            <a:r>
              <a:rPr lang="en-US" dirty="0">
                <a:solidFill>
                  <a:srgbClr val="BCBEC4"/>
                </a:solidFill>
                <a:effectLst/>
              </a:rPr>
              <a:t>checked-</a:t>
            </a:r>
            <a:r>
              <a:rPr lang="ru-RU" dirty="0">
                <a:solidFill>
                  <a:srgbClr val="BCBEC4"/>
                </a:solidFill>
                <a:effectLst/>
              </a:rPr>
              <a:t>исключение внутри лямбды,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нацеленной на такой интерфейс, попросту не компилируется: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endParaRPr lang="ru-RU" dirty="0">
              <a:solidFill>
                <a:srgbClr val="BCBEC4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DAB2D-3255-7C4B-9C54-B6B603CAEB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23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rgbClr val="CF8E6D"/>
                </a:solidFill>
                <a:effectLst/>
              </a:rPr>
              <a:t>**</a:t>
            </a:r>
            <a:r>
              <a:rPr lang="ru-RU" dirty="0">
                <a:solidFill>
                  <a:srgbClr val="BCBEC4"/>
                </a:solidFill>
                <a:effectLst/>
              </a:rPr>
              <a:t>Когда заводить собственное исключение.</a:t>
            </a:r>
            <a:r>
              <a:rPr lang="ru-RU" dirty="0">
                <a:solidFill>
                  <a:srgbClr val="CF8E6D"/>
                </a:solidFill>
                <a:effectLst/>
              </a:rPr>
              <a:t>** </a:t>
            </a:r>
            <a:r>
              <a:rPr lang="ru-RU" dirty="0">
                <a:solidFill>
                  <a:srgbClr val="BCBEC4"/>
                </a:solidFill>
                <a:effectLst/>
              </a:rPr>
              <a:t>Оправдано, когда вызывающему коду важно </a:t>
            </a:r>
            <a:r>
              <a:rPr lang="ru-RU" dirty="0" err="1">
                <a:solidFill>
                  <a:srgbClr val="BCBEC4"/>
                </a:solidFill>
                <a:effectLst/>
              </a:rPr>
              <a:t>программно</a:t>
            </a:r>
            <a:r>
              <a:rPr lang="ru-RU" dirty="0">
                <a:solidFill>
                  <a:srgbClr val="BCBEC4"/>
                </a:solidFill>
                <a:effectLst/>
              </a:rPr>
              <a:t> отличить эту ошибку от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BCBEC4"/>
                </a:solidFill>
                <a:effectLst/>
              </a:rPr>
              <a:t>прочих или когда нужен дополнительный контекст. Иначе — достаточно стандартного</a:t>
            </a:r>
            <a:br>
              <a:rPr lang="ru-RU" dirty="0">
                <a:solidFill>
                  <a:srgbClr val="BCBEC4"/>
                </a:solidFill>
                <a:effectLst/>
              </a:rPr>
            </a:br>
            <a:r>
              <a:rPr lang="ru-RU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IllegalArgumentException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/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 err="1">
                <a:solidFill>
                  <a:srgbClr val="BCBEC4"/>
                </a:solidFill>
                <a:effectLst/>
              </a:rPr>
              <a:t>IllegalStateException</a:t>
            </a:r>
            <a:r>
              <a:rPr lang="en-US" dirty="0">
                <a:solidFill>
                  <a:srgbClr val="CF8E6D"/>
                </a:solidFill>
                <a:effectLst/>
              </a:rPr>
              <a:t>`</a:t>
            </a:r>
            <a:r>
              <a:rPr lang="en-US" dirty="0">
                <a:solidFill>
                  <a:srgbClr val="BCBEC4"/>
                </a:solidFill>
                <a:effectLst/>
              </a:rPr>
              <a:t>.</a:t>
            </a:r>
            <a:br>
              <a:rPr lang="en-US" dirty="0">
                <a:solidFill>
                  <a:srgbClr val="BCBEC4"/>
                </a:solidFill>
                <a:effectLst/>
              </a:rPr>
            </a:br>
            <a:endParaRPr lang="en-US" dirty="0">
              <a:solidFill>
                <a:srgbClr val="BCBEC4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DAB2D-3255-7C4B-9C54-B6B603CAEB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8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BCBEC4"/>
                </a:solidFill>
                <a:effectLst/>
                <a:latin typeface="Helvetica" pitchFamily="2" charset="0"/>
              </a:rPr>
              <a:t>Ловушки и как их избежать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BCBEC4"/>
                </a:solidFill>
                <a:effectLst/>
                <a:latin typeface="Helvetica" pitchFamily="2" charset="0"/>
              </a:rPr>
              <a:t>Мёртвый код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 возвращать результат из метода бенчмарка либо передавать в </a:t>
            </a:r>
            <a:r>
              <a:rPr lang="en-US" b="0" i="0" dirty="0" err="1">
                <a:solidFill>
                  <a:srgbClr val="BCBEC4"/>
                </a:solidFill>
                <a:effectLst/>
                <a:latin typeface="Helvetica" pitchFamily="2" charset="0"/>
              </a:rPr>
              <a:t>Blackhole.consume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(...), 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который гарантированно не даст оптимизатору выбросить значение как неиспользуемое.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BCBEC4"/>
                </a:solidFill>
                <a:effectLst/>
                <a:latin typeface="Helvetica" pitchFamily="2" charset="0"/>
              </a:rPr>
              <a:t>Свёртка констант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 входные данные объявлять как поля @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State-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класса, а не как локальные литералы.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BCBEC4"/>
                </a:solidFill>
                <a:effectLst/>
                <a:latin typeface="Helvetica" pitchFamily="2" charset="0"/>
              </a:rPr>
              <a:t>Недостаточный прогрев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 особенно критично при сравнении «до/после»: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itchFamily="2" charset="0"/>
              </a:rPr>
              <a:t>недопрогретые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 варианты дают разницу, которая может быть артефактом порядка 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JIT-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компиляции, а не реальной разницей в производительности.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BCBEC4"/>
                </a:solidFill>
                <a:effectLst/>
                <a:latin typeface="Helvetica" pitchFamily="2" charset="0"/>
              </a:rPr>
              <a:t>Один </a:t>
            </a:r>
            <a:r>
              <a:rPr lang="ru-RU" b="1" i="0" dirty="0" err="1">
                <a:solidFill>
                  <a:srgbClr val="BCBEC4"/>
                </a:solidFill>
                <a:effectLst/>
                <a:latin typeface="Helvetica" pitchFamily="2" charset="0"/>
              </a:rPr>
              <a:t>форк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 для чернового исследования достаточно, для выводов, на которых строятся архитектурные решения, разумны 3–5 </a:t>
            </a:r>
            <a:r>
              <a:rPr lang="ru-RU" b="0" i="0" dirty="0" err="1">
                <a:solidFill>
                  <a:srgbClr val="BCBEC4"/>
                </a:solidFill>
                <a:effectLst/>
                <a:latin typeface="Helvetica" pitchFamily="2" charset="0"/>
              </a:rPr>
              <a:t>форков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.</a:t>
            </a:r>
          </a:p>
          <a:p>
            <a:br>
              <a:rPr lang="ru-RU" dirty="0"/>
            </a:br>
            <a:r>
              <a:rPr lang="en-US" dirty="0"/>
              <a:t>@State(</a:t>
            </a:r>
            <a:r>
              <a:rPr lang="en-US" dirty="0" err="1"/>
              <a:t>Scope.Thread</a:t>
            </a:r>
            <a:r>
              <a:rPr lang="en-US" dirty="0"/>
              <a:t>)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 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область видимости состояния (</a:t>
            </a:r>
            <a:r>
              <a:rPr lang="en-US" dirty="0"/>
              <a:t>Thread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/</a:t>
            </a:r>
            <a:r>
              <a:rPr lang="en-US" dirty="0"/>
              <a:t>Benchmark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/</a:t>
            </a:r>
            <a:r>
              <a:rPr lang="en-US" dirty="0"/>
              <a:t>Group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); </a:t>
            </a:r>
            <a:r>
              <a:rPr lang="en-US" dirty="0"/>
              <a:t>@</a:t>
            </a:r>
            <a:r>
              <a:rPr lang="en-US" dirty="0" err="1"/>
              <a:t>BenchmarkMode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 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что измеряется (</a:t>
            </a:r>
            <a:r>
              <a:rPr lang="en-US" dirty="0" err="1"/>
              <a:t>AverageTime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, </a:t>
            </a:r>
            <a:r>
              <a:rPr lang="en-US" dirty="0"/>
              <a:t>Throughput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, </a:t>
            </a:r>
            <a:r>
              <a:rPr lang="en-US" dirty="0" err="1"/>
              <a:t>SampleTime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, </a:t>
            </a:r>
            <a:r>
              <a:rPr lang="en-US" dirty="0" err="1"/>
              <a:t>SingleShotTime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); </a:t>
            </a:r>
            <a:r>
              <a:rPr lang="en-US" dirty="0"/>
              <a:t>@Warmup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/</a:t>
            </a:r>
            <a:r>
              <a:rPr lang="en-US" dirty="0"/>
              <a:t>@Measurement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 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число и длительность итераций прогрева и измерения; </a:t>
            </a:r>
            <a:r>
              <a:rPr lang="ru-RU" dirty="0"/>
              <a:t>@</a:t>
            </a:r>
            <a:r>
              <a:rPr lang="en-US" dirty="0"/>
              <a:t>Fork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 — 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сколько раз 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JMH 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перезапустит бенчмарк в отдельном процессе 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JVM, 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защита от «повезло/не повезло» с решениями </a:t>
            </a:r>
            <a:r>
              <a:rPr lang="en-US" b="0" i="0" dirty="0">
                <a:solidFill>
                  <a:srgbClr val="BCBEC4"/>
                </a:solidFill>
                <a:effectLst/>
                <a:latin typeface="Helvetica" pitchFamily="2" charset="0"/>
              </a:rPr>
              <a:t>JIT </a:t>
            </a:r>
            <a:r>
              <a:rPr lang="ru-RU" b="0" i="0" dirty="0">
                <a:solidFill>
                  <a:srgbClr val="BCBEC4"/>
                </a:solidFill>
                <a:effectLst/>
                <a:latin typeface="Helvetica" pitchFamily="2" charset="0"/>
              </a:rPr>
              <a:t>в конкретном запуске.</a:t>
            </a:r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DAB2D-3255-7C4B-9C54-B6B603CAEB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5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 b="0" i="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-1"/>
            <a:ext cx="5759176" cy="111601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224688" y="1779477"/>
            <a:ext cx="4394057" cy="64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 userDrawn="1"/>
        </p:nvSpPr>
        <p:spPr bwMode="auto"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solidFill>
                <a:srgbClr val="000000"/>
              </a:solidFill>
              <a:latin typeface="T-Sans"/>
              <a:ea typeface="T-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512104" y="1510158"/>
            <a:ext cx="4882285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t="217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с градиентом">
    <p:bg>
      <p:bgPr>
        <a:blipFill>
          <a:blip r:embed="rId2">
            <a:lum/>
          </a:blip>
          <a:srcRect l="2830" r="2828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н с градиентом 2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4" name="Группа 3"/>
          <p:cNvGrpSpPr/>
          <p:nvPr userDrawn="1"/>
        </p:nvGrpSpPr>
        <p:grpSpPr bwMode="auto"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/>
            <p:cNvSpPr/>
            <p:nvPr/>
          </p:nvSpPr>
          <p:spPr bwMode="auto"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8" name="Овал 7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9" name="Скругленный прямоугольник 8"/>
            <p:cNvSpPr/>
            <p:nvPr/>
          </p:nvSpPr>
          <p:spPr bwMode="auto">
            <a:xfrm>
              <a:off x="7621169" y="1245509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/>
            <p:cNvSpPr/>
            <p:nvPr/>
          </p:nvSpPr>
          <p:spPr bwMode="auto"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  <p:sp>
          <p:nvSpPr>
            <p:cNvPr id="12" name="Овал 11"/>
            <p:cNvSpPr>
              <a:spLocks noChangeAspect="1"/>
            </p:cNvSpPr>
            <p:nvPr/>
          </p:nvSpPr>
          <p:spPr bwMode="auto"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3" name="Овал 12"/>
            <p:cNvSpPr>
              <a:spLocks noChangeAspect="1"/>
            </p:cNvSpPr>
            <p:nvPr/>
          </p:nvSpPr>
          <p:spPr bwMode="auto"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4" name="Овал 13"/>
            <p:cNvSpPr>
              <a:spLocks noChangeAspect="1"/>
            </p:cNvSpPr>
            <p:nvPr/>
          </p:nvSpPr>
          <p:spPr bwMode="auto"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15" name="Скругленный прямоугольник 14"/>
            <p:cNvSpPr/>
            <p:nvPr/>
          </p:nvSpPr>
          <p:spPr bwMode="auto">
            <a:xfrm>
              <a:off x="7621170" y="1245509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>
                <a:defRPr/>
              </a:pPr>
              <a:endParaRPr lang="ru-RU" sz="1800" b="0" i="0">
                <a:latin typeface="T-Sans"/>
                <a:ea typeface="T-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rcRect t="-10178"/>
          <a:stretch/>
        </p:blipFill>
        <p:spPr bwMode="auto"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Овал 4"/>
          <p:cNvSpPr/>
          <p:nvPr userDrawn="1"/>
        </p:nvSpPr>
        <p:spPr bwMode="auto"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6" name="Овал 5"/>
          <p:cNvSpPr/>
          <p:nvPr userDrawn="1"/>
        </p:nvSpPr>
        <p:spPr bwMode="auto"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defRPr/>
            </a:pPr>
            <a:endParaRPr lang="ru-RU" sz="3200" b="0" i="0">
              <a:solidFill>
                <a:schemeClr val="accent2"/>
              </a:solidFill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grpSp>
        <p:nvGrpSpPr>
          <p:cNvPr id="8" name="Группа 7"/>
          <p:cNvGrpSpPr/>
          <p:nvPr userDrawn="1"/>
        </p:nvGrpSpPr>
        <p:grpSpPr bwMode="auto"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/>
            <p:cNvSpPr>
              <a:spLocks noChangeAspect="1"/>
            </p:cNvSpPr>
            <p:nvPr userDrawn="1"/>
          </p:nvSpPr>
          <p:spPr bwMode="auto"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6" name="Овал 5"/>
            <p:cNvSpPr>
              <a:spLocks noChangeAspect="1"/>
            </p:cNvSpPr>
            <p:nvPr userDrawn="1"/>
          </p:nvSpPr>
          <p:spPr bwMode="auto"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  <p:sp>
          <p:nvSpPr>
            <p:cNvPr id="7" name="Овал 6"/>
            <p:cNvSpPr>
              <a:spLocks noChangeAspect="1"/>
            </p:cNvSpPr>
            <p:nvPr userDrawn="1"/>
          </p:nvSpPr>
          <p:spPr bwMode="auto"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  <a:cs typeface="Tinkoff Sans"/>
              </a:endParaRPr>
            </a:p>
          </p:txBody>
        </p:sp>
      </p:grpSp>
      <p:sp>
        <p:nvSpPr>
          <p:cNvPr id="9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rcRect t="217" b="215"/>
          <a:stretch/>
        </p:blipFill>
        <p:spPr bwMode="auto"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 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руктура 1">
    <p:bg>
      <p:bgPr>
        <a:blipFill>
          <a:blip r:embed="rId2">
            <a:lum/>
          </a:blip>
          <a:srcRect l="2830" r="2828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/>
          <p:cNvCxnSpPr>
            <a:cxnSpLocks/>
            <a:stCxn id="36" idx="3"/>
            <a:endCxn id="31" idx="0"/>
          </p:cNvCxnSpPr>
          <p:nvPr userDrawn="1"/>
        </p:nvCxnSpPr>
        <p:spPr bwMode="auto">
          <a:xfrm>
            <a:off x="12151144" y="4294991"/>
            <a:ext cx="4458796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54" name="Соединительная линия уступом 53"/>
          <p:cNvCxnSpPr>
            <a:cxnSpLocks/>
            <a:stCxn id="36" idx="1"/>
            <a:endCxn id="21" idx="0"/>
          </p:cNvCxnSpPr>
          <p:nvPr userDrawn="1"/>
        </p:nvCxnSpPr>
        <p:spPr bwMode="auto">
          <a:xfrm rot="10800000" flipV="1">
            <a:off x="3189361" y="4294991"/>
            <a:ext cx="4458794" cy="3662509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49" name="Прямая соединительная линия 48"/>
          <p:cNvCxnSpPr>
            <a:cxnSpLocks/>
            <a:endCxn id="26" idx="0"/>
          </p:cNvCxnSpPr>
          <p:nvPr userDrawn="1"/>
        </p:nvCxnSpPr>
        <p:spPr bwMode="auto"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sp>
        <p:nvSpPr>
          <p:cNvPr id="6" name="Скругленный прямоугольник 5"/>
          <p:cNvSpPr/>
          <p:nvPr/>
        </p:nvSpPr>
        <p:spPr bwMode="auto"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 bwMode="auto"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 bwMode="auto"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 bwMode="auto">
          <a:xfrm>
            <a:off x="937866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 bwMode="auto">
          <a:xfrm>
            <a:off x="764815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 bwMode="auto">
          <a:xfrm>
            <a:off x="14358445" y="7957500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6" name="Скругленный прямоугольник 35"/>
          <p:cNvSpPr/>
          <p:nvPr/>
        </p:nvSpPr>
        <p:spPr bwMode="auto"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1" name="Рисунок 4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2" name="Рисунок 40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3" name="Рисунок 40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40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40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40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40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руктура 2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/>
          <p:cNvSpPr>
            <a:spLocks noGrp="1" noChangeAspect="1"/>
          </p:cNvSpPr>
          <p:nvPr>
            <p:ph type="pic" sz="quarter" idx="10" hasCustomPrompt="1"/>
          </p:nvPr>
        </p:nvSpPr>
        <p:spPr bwMode="auto"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Ф</a:t>
            </a:r>
            <a:r>
              <a:rPr lang="ru-RU"/>
              <a:t>ото</a:t>
            </a:r>
            <a:endParaRPr/>
          </a:p>
        </p:txBody>
      </p:sp>
      <p:sp>
        <p:nvSpPr>
          <p:cNvPr id="43" name="Рисунок 4"/>
          <p:cNvSpPr>
            <a:spLocks noGrp="1" noChangeAspect="1"/>
          </p:cNvSpPr>
          <p:nvPr>
            <p:ph type="pic" sz="quarter" idx="11" hasCustomPrompt="1"/>
          </p:nvPr>
        </p:nvSpPr>
        <p:spPr bwMode="auto"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4" name="Рисунок 5"/>
          <p:cNvSpPr>
            <a:spLocks noGrp="1" noChangeAspect="1"/>
          </p:cNvSpPr>
          <p:nvPr>
            <p:ph type="pic" sz="quarter" idx="12" hasCustomPrompt="1"/>
          </p:nvPr>
        </p:nvSpPr>
        <p:spPr bwMode="auto"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5" name="Рисунок 30"/>
          <p:cNvSpPr>
            <a:spLocks noGrp="1" noChangeAspect="1"/>
          </p:cNvSpPr>
          <p:nvPr>
            <p:ph type="pic" sz="quarter" idx="13" hasCustomPrompt="1"/>
          </p:nvPr>
        </p:nvSpPr>
        <p:spPr bwMode="auto"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6" name="Рисунок 31"/>
          <p:cNvSpPr>
            <a:spLocks noGrp="1" noChangeAspect="1"/>
          </p:cNvSpPr>
          <p:nvPr>
            <p:ph type="pic" sz="quarter" idx="14" hasCustomPrompt="1"/>
          </p:nvPr>
        </p:nvSpPr>
        <p:spPr bwMode="auto"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7" name="Рисунок 32"/>
          <p:cNvSpPr>
            <a:spLocks noGrp="1" noChangeAspect="1"/>
          </p:cNvSpPr>
          <p:nvPr>
            <p:ph type="pic" sz="quarter" idx="15" hasCustomPrompt="1"/>
          </p:nvPr>
        </p:nvSpPr>
        <p:spPr bwMode="auto"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8" name="Рисунок 33"/>
          <p:cNvSpPr>
            <a:spLocks noGrp="1" noChangeAspect="1"/>
          </p:cNvSpPr>
          <p:nvPr>
            <p:ph type="pic" sz="quarter" idx="16" hasCustomPrompt="1"/>
          </p:nvPr>
        </p:nvSpPr>
        <p:spPr bwMode="auto"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9" name="Рисунок 34"/>
          <p:cNvSpPr>
            <a:spLocks noGrp="1" noChangeAspect="1"/>
          </p:cNvSpPr>
          <p:nvPr>
            <p:ph type="pic" sz="quarter" idx="17" hasCustomPrompt="1"/>
          </p:nvPr>
        </p:nvSpPr>
        <p:spPr bwMode="auto"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0" name="Рисунок 35"/>
          <p:cNvSpPr>
            <a:spLocks noGrp="1" noChangeAspect="1"/>
          </p:cNvSpPr>
          <p:nvPr>
            <p:ph type="pic" sz="quarter" idx="18" hasCustomPrompt="1"/>
          </p:nvPr>
        </p:nvSpPr>
        <p:spPr bwMode="auto"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1" name="Рисунок 36"/>
          <p:cNvSpPr>
            <a:spLocks noGrp="1" noChangeAspect="1"/>
          </p:cNvSpPr>
          <p:nvPr>
            <p:ph type="pic" sz="quarter" idx="19" hasCustomPrompt="1"/>
          </p:nvPr>
        </p:nvSpPr>
        <p:spPr bwMode="auto"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2" name="Рисунок 37"/>
          <p:cNvSpPr>
            <a:spLocks noGrp="1" noChangeAspect="1"/>
          </p:cNvSpPr>
          <p:nvPr>
            <p:ph type="pic" sz="quarter" idx="20" hasCustomPrompt="1"/>
          </p:nvPr>
        </p:nvSpPr>
        <p:spPr bwMode="auto"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3" name="Рисунок 38"/>
          <p:cNvSpPr>
            <a:spLocks noGrp="1" noChangeAspect="1"/>
          </p:cNvSpPr>
          <p:nvPr>
            <p:ph type="pic" sz="quarter" idx="21" hasCustomPrompt="1"/>
          </p:nvPr>
        </p:nvSpPr>
        <p:spPr bwMode="auto"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54" name="Рисунок 39"/>
          <p:cNvSpPr>
            <a:spLocks noGrp="1" noChangeAspect="1"/>
          </p:cNvSpPr>
          <p:nvPr>
            <p:ph type="pic" sz="quarter" idx="22" hasCustomPrompt="1"/>
          </p:nvPr>
        </p:nvSpPr>
        <p:spPr bwMode="auto"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 userDrawn="1"/>
        </p:nvSpPr>
        <p:spPr bwMode="auto"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3175044" y="640525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688013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40525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656291"/>
            <a:ext cx="6011861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Скругленный прямоугольник 6"/>
          <p:cNvSpPr/>
          <p:nvPr userDrawn="1"/>
        </p:nvSpPr>
        <p:spPr bwMode="auto">
          <a:xfrm>
            <a:off x="6883972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Скругленный прямоугольник 7"/>
          <p:cNvSpPr/>
          <p:nvPr userDrawn="1"/>
        </p:nvSpPr>
        <p:spPr bwMode="auto">
          <a:xfrm>
            <a:off x="6883972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13159266" y="5703779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9" name="Скругленный прямоугольник 8"/>
          <p:cNvSpPr/>
          <p:nvPr userDrawn="1"/>
        </p:nvSpPr>
        <p:spPr bwMode="auto">
          <a:xfrm>
            <a:off x="13159266" y="656291"/>
            <a:ext cx="6011861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 noChangeAspect="1"/>
          </p:cNvSpPr>
          <p:nvPr>
            <p:ph type="pic" sz="quarter" idx="10" hasCustomPrompt="1"/>
          </p:nvPr>
        </p:nvSpPr>
        <p:spPr bwMode="auto"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4" name="Рисунок 10"/>
          <p:cNvSpPr>
            <a:spLocks noGrp="1" noChangeAspect="1"/>
          </p:cNvSpPr>
          <p:nvPr>
            <p:ph type="pic" sz="quarter" idx="11" hasCustomPrompt="1"/>
          </p:nvPr>
        </p:nvSpPr>
        <p:spPr bwMode="auto"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5" name="Рисунок 11"/>
          <p:cNvSpPr>
            <a:spLocks noGrp="1" noChangeAspect="1"/>
          </p:cNvSpPr>
          <p:nvPr>
            <p:ph type="pic" sz="quarter" idx="12" hasCustomPrompt="1"/>
          </p:nvPr>
        </p:nvSpPr>
        <p:spPr bwMode="auto"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 extrusionOk="0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Рисунок 3"/>
          <p:cNvSpPr/>
          <p:nvPr/>
        </p:nvSpPr>
        <p:spPr bwMode="auto"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2" name="Рисунок 3"/>
          <p:cNvSpPr/>
          <p:nvPr userDrawn="1"/>
        </p:nvSpPr>
        <p:spPr bwMode="auto"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3" name="Рисунок 3"/>
          <p:cNvSpPr/>
          <p:nvPr userDrawn="1"/>
        </p:nvSpPr>
        <p:spPr bwMode="auto"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4" name="Рисунок 3"/>
          <p:cNvSpPr/>
          <p:nvPr userDrawn="1"/>
        </p:nvSpPr>
        <p:spPr bwMode="auto"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5" name="Рисунок 3"/>
          <p:cNvSpPr/>
          <p:nvPr userDrawn="1"/>
        </p:nvSpPr>
        <p:spPr bwMode="auto"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16" name="Рисунок 3"/>
          <p:cNvSpPr/>
          <p:nvPr userDrawn="1"/>
        </p:nvSpPr>
        <p:spPr bwMode="auto"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 extrusionOk="0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b="0" i="0">
              <a:latin typeface="T-Sans"/>
              <a:ea typeface="T-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 userDrawn="1"/>
        </p:nvSpPr>
        <p:spPr bwMode="auto"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Овал 7"/>
          <p:cNvSpPr/>
          <p:nvPr userDrawn="1"/>
        </p:nvSpPr>
        <p:spPr bwMode="auto"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9" name="Овал 8"/>
          <p:cNvSpPr/>
          <p:nvPr userDrawn="1"/>
        </p:nvSpPr>
        <p:spPr bwMode="auto"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Овал 9"/>
          <p:cNvSpPr/>
          <p:nvPr userDrawn="1"/>
        </p:nvSpPr>
        <p:spPr bwMode="auto"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1" name="Овал 10"/>
          <p:cNvSpPr/>
          <p:nvPr userDrawn="1"/>
        </p:nvSpPr>
        <p:spPr bwMode="auto"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Скругленный прямоугольник 4"/>
          <p:cNvSpPr/>
          <p:nvPr userDrawn="1"/>
        </p:nvSpPr>
        <p:spPr bwMode="auto"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6" name="Скругленный прямоугольник 5"/>
          <p:cNvSpPr/>
          <p:nvPr userDrawn="1"/>
        </p:nvSpPr>
        <p:spPr bwMode="auto"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6011861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6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17" name="Скругленный прямоугольник 16"/>
          <p:cNvSpPr/>
          <p:nvPr userDrawn="1"/>
        </p:nvSpPr>
        <p:spPr bwMode="auto"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sp>
        <p:nvSpPr>
          <p:cNvPr id="4" name="Скругленный прямоугольник 3"/>
          <p:cNvSpPr/>
          <p:nvPr userDrawn="1"/>
        </p:nvSpPr>
        <p:spPr bwMode="auto"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11" name="Скругленный прямоугольник 10"/>
          <p:cNvSpPr/>
          <p:nvPr userDrawn="1"/>
        </p:nvSpPr>
        <p:spPr bwMode="auto"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3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en-US"/>
              <a:t>В</a:t>
            </a:r>
            <a:r>
              <a:rPr lang="ru-RU"/>
              <a:t>ставка фото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полнителем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 userDrawn="1"/>
        </p:nvSpPr>
        <p:spPr bwMode="auto">
          <a:xfrm rot="16199998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 bwMode="auto"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 extrusionOk="0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/>
          <p:cNvSpPr>
            <a:spLocks noGrp="1" noChangeAspect="1"/>
          </p:cNvSpPr>
          <p:nvPr>
            <p:ph type="pic" sz="quarter" idx="10" hasCustomPrompt="1"/>
          </p:nvPr>
        </p:nvSpPr>
        <p:spPr bwMode="auto"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/>
          <p:cNvSpPr/>
          <p:nvPr userDrawn="1"/>
        </p:nvSpPr>
        <p:spPr bwMode="auto">
          <a:xfrm>
            <a:off x="611188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Прямоугольник с двумя скругленными противолежащими углами 3"/>
          <p:cNvSpPr/>
          <p:nvPr userDrawn="1"/>
        </p:nvSpPr>
        <p:spPr bwMode="auto">
          <a:xfrm>
            <a:off x="611188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 userDrawn="1"/>
        </p:nvSpPr>
        <p:spPr bwMode="auto">
          <a:xfrm>
            <a:off x="6881359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6" name="Прямоугольник с двумя скругленными противолежащими углами 5"/>
          <p:cNvSpPr/>
          <p:nvPr userDrawn="1"/>
        </p:nvSpPr>
        <p:spPr bwMode="auto">
          <a:xfrm>
            <a:off x="6881359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/>
          <p:cNvSpPr/>
          <p:nvPr userDrawn="1"/>
        </p:nvSpPr>
        <p:spPr bwMode="auto">
          <a:xfrm>
            <a:off x="13170192" y="3167062"/>
            <a:ext cx="6011861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8" name="Прямоугольник с двумя скругленными противолежащими углами 7"/>
          <p:cNvSpPr/>
          <p:nvPr userDrawn="1"/>
        </p:nvSpPr>
        <p:spPr bwMode="auto">
          <a:xfrm>
            <a:off x="13170192" y="9109075"/>
            <a:ext cx="6011861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Мокап_компьюте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 extrusionOk="0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Скриншот</a:t>
            </a: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/>
          <p:cNvSpPr/>
          <p:nvPr userDrawn="1"/>
        </p:nvSpPr>
        <p:spPr bwMode="auto"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5" name="Рисунок 7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Место для Q</a:t>
            </a:r>
            <a:r>
              <a:rPr lang="en-US"/>
              <a:t>R</a:t>
            </a: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879312" y="5134647"/>
            <a:ext cx="6040677" cy="8908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 userDrawn="1"/>
        </p:nvSpPr>
        <p:spPr bwMode="auto"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0">
                <a:srgbClr val="F3F3F5">
                  <a:alpha val="80477"/>
                </a:srgbClr>
              </a:gs>
              <a:gs pos="100000">
                <a:srgbClr val="E0E1E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7" name="Рисунок 5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фото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10389" y="1510158"/>
            <a:ext cx="4885716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дизайнера 2">
    <p:bg>
      <p:bgPr>
        <a:blipFill>
          <a:blip r:embed="rId2">
            <a:lum/>
          </a:blip>
          <a:srcRect l="2830" r="2828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>
              <a:defRPr/>
            </a:pPr>
            <a:endParaRPr lang="ru-RU" sz="1800" b="0" i="0">
              <a:latin typeface="T-Sans"/>
              <a:ea typeface="T-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дизайнера 4">
    <p:bg>
      <p:bgPr>
        <a:blipFill>
          <a:blip r:embed="rId2">
            <a:lum/>
          </a:blip>
          <a:srcRect l="2830" r="2828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Заполнители для 2 изоб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 noChangeAspect="1"/>
          </p:cNvSpPr>
          <p:nvPr>
            <p:ph type="pic" sz="quarter" idx="11" hasCustomPrompt="1"/>
          </p:nvPr>
        </p:nvSpPr>
        <p:spPr bwMode="auto">
          <a:xfrm>
            <a:off x="997108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  <p:sp>
        <p:nvSpPr>
          <p:cNvPr id="9" name="Рисунок 8"/>
          <p:cNvSpPr>
            <a:spLocks noGrp="1" noChangeAspect="1"/>
          </p:cNvSpPr>
          <p:nvPr>
            <p:ph type="pic" sz="quarter" idx="12" hasCustomPrompt="1"/>
          </p:nvPr>
        </p:nvSpPr>
        <p:spPr bwMode="auto">
          <a:xfrm>
            <a:off x="400368" y="3010978"/>
            <a:ext cx="9429592" cy="5107688"/>
          </a:xfrm>
          <a:custGeom>
            <a:avLst/>
            <a:gdLst>
              <a:gd name="connsiteX0" fmla="*/ 513829 w 9429592"/>
              <a:gd name="connsiteY0" fmla="*/ 0 h 5107688"/>
              <a:gd name="connsiteX1" fmla="*/ 3686199 w 9429592"/>
              <a:gd name="connsiteY1" fmla="*/ 0 h 5107688"/>
              <a:gd name="connsiteX2" fmla="*/ 5517083 w 9429592"/>
              <a:gd name="connsiteY2" fmla="*/ 0 h 5107688"/>
              <a:gd name="connsiteX3" fmla="*/ 6142251 w 9429592"/>
              <a:gd name="connsiteY3" fmla="*/ 0 h 5107688"/>
              <a:gd name="connsiteX4" fmla="*/ 6559882 w 9429592"/>
              <a:gd name="connsiteY4" fmla="*/ 0 h 5107688"/>
              <a:gd name="connsiteX5" fmla="*/ 8848108 w 9429592"/>
              <a:gd name="connsiteY5" fmla="*/ 0 h 5107688"/>
              <a:gd name="connsiteX6" fmla="*/ 9429590 w 9429592"/>
              <a:gd name="connsiteY6" fmla="*/ 581482 h 5107688"/>
              <a:gd name="connsiteX7" fmla="*/ 9429590 w 9429592"/>
              <a:gd name="connsiteY7" fmla="*/ 890249 h 5107688"/>
              <a:gd name="connsiteX8" fmla="*/ 9429592 w 9429592"/>
              <a:gd name="connsiteY8" fmla="*/ 890268 h 5107688"/>
              <a:gd name="connsiteX9" fmla="*/ 9429592 w 9429592"/>
              <a:gd name="connsiteY9" fmla="*/ 913401 h 5107688"/>
              <a:gd name="connsiteX10" fmla="*/ 9429592 w 9429592"/>
              <a:gd name="connsiteY10" fmla="*/ 1749804 h 5107688"/>
              <a:gd name="connsiteX11" fmla="*/ 9429592 w 9429592"/>
              <a:gd name="connsiteY11" fmla="*/ 2459862 h 5107688"/>
              <a:gd name="connsiteX12" fmla="*/ 9429592 w 9429592"/>
              <a:gd name="connsiteY12" fmla="*/ 3096906 h 5107688"/>
              <a:gd name="connsiteX13" fmla="*/ 9429592 w 9429592"/>
              <a:gd name="connsiteY13" fmla="*/ 3319398 h 5107688"/>
              <a:gd name="connsiteX14" fmla="*/ 8835444 w 9429592"/>
              <a:gd name="connsiteY14" fmla="*/ 3912858 h 5107688"/>
              <a:gd name="connsiteX15" fmla="*/ 8241308 w 9429592"/>
              <a:gd name="connsiteY15" fmla="*/ 4508285 h 5107688"/>
              <a:gd name="connsiteX16" fmla="*/ 7643202 w 9429592"/>
              <a:gd name="connsiteY16" fmla="*/ 5107688 h 5107688"/>
              <a:gd name="connsiteX17" fmla="*/ 7424824 w 9429592"/>
              <a:gd name="connsiteY17" fmla="*/ 5107688 h 5107688"/>
              <a:gd name="connsiteX18" fmla="*/ 4045853 w 9429592"/>
              <a:gd name="connsiteY18" fmla="*/ 5107688 h 5107688"/>
              <a:gd name="connsiteX19" fmla="*/ 3903698 w 9429592"/>
              <a:gd name="connsiteY19" fmla="*/ 5107688 h 5107688"/>
              <a:gd name="connsiteX20" fmla="*/ 3886773 w 9429592"/>
              <a:gd name="connsiteY20" fmla="*/ 5105979 h 5107688"/>
              <a:gd name="connsiteX21" fmla="*/ 3686199 w 9429592"/>
              <a:gd name="connsiteY21" fmla="*/ 5105979 h 5107688"/>
              <a:gd name="connsiteX22" fmla="*/ 3585922 w 9429592"/>
              <a:gd name="connsiteY22" fmla="*/ 5095870 h 5107688"/>
              <a:gd name="connsiteX23" fmla="*/ 3581437 w 9429592"/>
              <a:gd name="connsiteY23" fmla="*/ 5094478 h 5107688"/>
              <a:gd name="connsiteX24" fmla="*/ 513829 w 9429592"/>
              <a:gd name="connsiteY24" fmla="*/ 5094478 h 5107688"/>
              <a:gd name="connsiteX25" fmla="*/ 0 w 9429592"/>
              <a:gd name="connsiteY25" fmla="*/ 4580649 h 5107688"/>
              <a:gd name="connsiteX26" fmla="*/ 0 w 9429592"/>
              <a:gd name="connsiteY26" fmla="*/ 513829 h 5107688"/>
              <a:gd name="connsiteX27" fmla="*/ 513829 w 9429592"/>
              <a:gd name="connsiteY27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29592" h="5107688" extrusionOk="0">
                <a:moveTo>
                  <a:pt x="513829" y="0"/>
                </a:moveTo>
                <a:lnTo>
                  <a:pt x="3686199" y="0"/>
                </a:lnTo>
                <a:lnTo>
                  <a:pt x="5517083" y="0"/>
                </a:lnTo>
                <a:lnTo>
                  <a:pt x="6142251" y="0"/>
                </a:lnTo>
                <a:lnTo>
                  <a:pt x="6559882" y="0"/>
                </a:lnTo>
                <a:lnTo>
                  <a:pt x="8848108" y="0"/>
                </a:lnTo>
                <a:cubicBezTo>
                  <a:pt x="9169252" y="0"/>
                  <a:pt x="9429590" y="260338"/>
                  <a:pt x="9429590" y="581482"/>
                </a:cubicBezTo>
                <a:lnTo>
                  <a:pt x="9429590" y="890249"/>
                </a:lnTo>
                <a:lnTo>
                  <a:pt x="9429592" y="890268"/>
                </a:lnTo>
                <a:lnTo>
                  <a:pt x="9429592" y="913401"/>
                </a:lnTo>
                <a:lnTo>
                  <a:pt x="9429592" y="1749804"/>
                </a:lnTo>
                <a:lnTo>
                  <a:pt x="9429592" y="2459862"/>
                </a:lnTo>
                <a:lnTo>
                  <a:pt x="9429592" y="3096906"/>
                </a:lnTo>
                <a:lnTo>
                  <a:pt x="9429592" y="3319398"/>
                </a:lnTo>
                <a:cubicBezTo>
                  <a:pt x="9429592" y="3647163"/>
                  <a:pt x="9163578" y="3912858"/>
                  <a:pt x="8835444" y="3912858"/>
                </a:cubicBezTo>
                <a:cubicBezTo>
                  <a:pt x="8507312" y="3912858"/>
                  <a:pt x="8241308" y="4180531"/>
                  <a:pt x="8241308" y="4508285"/>
                </a:cubicBezTo>
                <a:cubicBezTo>
                  <a:pt x="8241308" y="4838233"/>
                  <a:pt x="7973522" y="5107688"/>
                  <a:pt x="7643202" y="5107688"/>
                </a:cubicBezTo>
                <a:lnTo>
                  <a:pt x="7424824" y="5107688"/>
                </a:lnTo>
                <a:lnTo>
                  <a:pt x="4045853" y="5107688"/>
                </a:lnTo>
                <a:lnTo>
                  <a:pt x="3903698" y="5107688"/>
                </a:lnTo>
                <a:lnTo>
                  <a:pt x="3886773" y="5105979"/>
                </a:lnTo>
                <a:lnTo>
                  <a:pt x="3686199" y="5105979"/>
                </a:lnTo>
                <a:cubicBezTo>
                  <a:pt x="3651849" y="5105979"/>
                  <a:pt x="3618312" y="5102499"/>
                  <a:pt x="3585922" y="5095870"/>
                </a:cubicBezTo>
                <a:lnTo>
                  <a:pt x="3581437" y="5094478"/>
                </a:lnTo>
                <a:lnTo>
                  <a:pt x="513829" y="5094478"/>
                </a:lnTo>
                <a:cubicBezTo>
                  <a:pt x="230049" y="5094478"/>
                  <a:pt x="0" y="4864429"/>
                  <a:pt x="0" y="4580649"/>
                </a:cubicBezTo>
                <a:lnTo>
                  <a:pt x="0" y="513829"/>
                </a:lnTo>
                <a:cubicBezTo>
                  <a:pt x="0" y="230049"/>
                  <a:pt x="230049" y="0"/>
                  <a:pt x="51382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/>
              <a:t>Вставка изображения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6210694" y="4320138"/>
            <a:ext cx="12981018" cy="204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8000">
                <a:solidFill>
                  <a:srgbClr val="0A0A0A"/>
                </a:solidFill>
                <a:latin typeface="T-Sans"/>
                <a:ea typeface="T-Sans"/>
              </a:rPr>
              <a:t>Семинар </a:t>
            </a:r>
            <a:r>
              <a:rPr sz="8000">
                <a:solidFill>
                  <a:srgbClr val="0A0A0A"/>
                </a:solidFill>
                <a:latin typeface="T-Sans"/>
                <a:ea typeface="T-Sans"/>
              </a:rPr>
              <a:t>4. </a:t>
            </a:r>
            <a:endParaRPr lang="ru-RU" sz="8000">
              <a:solidFill>
                <a:srgbClr val="0A0A0A"/>
              </a:solidFill>
              <a:latin typeface="T-Sans"/>
              <a:ea typeface="T-Sans"/>
            </a:endParaRPr>
          </a:p>
          <a:p>
            <a:pPr>
              <a:defRPr/>
            </a:pP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Обработка ошибок </a:t>
            </a:r>
            <a:r>
              <a:rPr lang="en-US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и </a:t>
            </a:r>
            <a:r>
              <a:rPr lang="ru-RU" sz="4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исключительных ситуаций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8215312" y="6558259"/>
            <a:ext cx="10994039" cy="45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>
                <a:latin typeface="T-Sans"/>
                <a:ea typeface="T-Sans"/>
              </a:rPr>
              <a:t>Исключения</a:t>
            </a:r>
            <a:r>
              <a:rPr lang="el-GR" sz="2400">
                <a:latin typeface="T-Sans"/>
                <a:ea typeface="T-Sans"/>
              </a:rPr>
              <a:t>, try-with-resources, vavr, JMH </a:t>
            </a:r>
            <a:endParaRPr sz="2400">
              <a:solidFill>
                <a:srgbClr val="0A0A0A"/>
              </a:solidFill>
              <a:latin typeface="T-Sans"/>
              <a:ea typeface="T-Sans"/>
            </a:endParaRPr>
          </a:p>
        </p:txBody>
      </p:sp>
      <p:grpSp>
        <p:nvGrpSpPr>
          <p:cNvPr id="5" name="Группа 4"/>
          <p:cNvGrpSpPr/>
          <p:nvPr/>
        </p:nvGrpSpPr>
        <p:grpSpPr bwMode="auto"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/>
            <p:cNvSpPr/>
            <p:nvPr/>
          </p:nvSpPr>
          <p:spPr bwMode="auto"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pic>
          <p:nvPicPr>
            <p:cNvPr id="7" name="Рисунок 6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 bwMode="auto">
          <a:xfrm>
            <a:off x="9046659" y="8911512"/>
            <a:ext cx="10134767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dirty="0">
                <a:solidFill>
                  <a:schemeClr val="accent2"/>
                </a:solidFill>
                <a:latin typeface="T-Sans"/>
                <a:ea typeface="T-Sans"/>
              </a:rPr>
              <a:t>Хасанов Анвар | Старший разработчик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366837" y="647700"/>
            <a:ext cx="7313731" cy="100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6000">
                <a:solidFill>
                  <a:srgbClr val="0A0A0A"/>
                </a:solidFill>
                <a:latin typeface="T-Sans"/>
                <a:ea typeface="T-Sans"/>
              </a:rPr>
              <a:t>План семинара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366837" y="2011680"/>
            <a:ext cx="7354880" cy="162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Способы обработки ошибок</a:t>
            </a: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Иерархия исключений в java</a:t>
            </a: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en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checked и unchecked исключения</a:t>
            </a:r>
            <a:endParaRPr sz="2800"/>
          </a:p>
        </p:txBody>
      </p:sp>
      <p:pic>
        <p:nvPicPr>
          <p:cNvPr id="8" name="Рисунок 7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2" b="12"/>
          <a:stretch/>
        </p:blipFill>
        <p:spPr bwMode="auto"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1366837" y="3315593"/>
            <a:ext cx="7675166" cy="2746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1304139" y="5114520"/>
            <a:ext cx="7499604" cy="1072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Добавим в наш проект новый тип исключений</a:t>
            </a: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а также выполним его обработку</a:t>
            </a:r>
            <a:endParaRPr/>
          </a:p>
        </p:txBody>
      </p:sp>
      <p:sp>
        <p:nvSpPr>
          <p:cNvPr id="1088249291" name="TextBox 4"/>
          <p:cNvSpPr txBox="1"/>
          <p:nvPr/>
        </p:nvSpPr>
        <p:spPr bwMode="auto">
          <a:xfrm>
            <a:off x="1366836" y="8758261"/>
            <a:ext cx="7586694" cy="2052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7" tIns="45717" rIns="45717" bIns="45717" numCol="1" spcCol="38098" rtlCol="0" anchor="t">
            <a:spAutoFit/>
          </a:bodyPr>
          <a:lstStyle/>
          <a:p>
            <a:pPr marL="457200" indent="-457200">
              <a:spcAft>
                <a:spcPts val="998"/>
              </a:spcAft>
              <a:buFont typeface="Arial"/>
              <a:buChar char="•"/>
              <a:defRPr/>
            </a:pPr>
            <a:r>
              <a:rPr lang="en-US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Try-catch VS </a:t>
            </a:r>
            <a:r>
              <a:rPr lang="en" sz="2800" b="0" i="0" u="none" strike="noStrike" cap="none" spc="0">
                <a:ln>
                  <a:noFill/>
                </a:ln>
                <a:solidFill>
                  <a:srgbClr val="0A0A0A"/>
                </a:solidFill>
                <a:latin typeface="T-Sans"/>
                <a:ea typeface="T-Sans"/>
                <a:cs typeface="T-Sans"/>
              </a:rPr>
              <a:t>Vavr</a:t>
            </a:r>
            <a:endParaRPr lang="en" sz="2800">
              <a:solidFill>
                <a:srgbClr val="0A0A0A"/>
              </a:solidFill>
              <a:latin typeface="T-Sans"/>
              <a:ea typeface="T-Sans"/>
            </a:endParaRP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r>
              <a:rPr lang="ru-RU" sz="2800">
                <a:solidFill>
                  <a:srgbClr val="0A0A0A"/>
                </a:solidFill>
                <a:latin typeface="T-Sans"/>
                <a:ea typeface="T-Sans"/>
              </a:rPr>
              <a:t>сравним разные варианты создания  исключений через JMH </a:t>
            </a:r>
          </a:p>
          <a:p>
            <a:pPr marL="457200" indent="-457200">
              <a:spcAft>
                <a:spcPts val="999"/>
              </a:spcAft>
              <a:buFont typeface="Arial"/>
              <a:buChar char="•"/>
              <a:defRPr/>
            </a:pPr>
            <a:endParaRPr lang="en" sz="2800">
              <a:solidFill>
                <a:srgbClr val="0A0A0A"/>
              </a:solidFill>
              <a:latin typeface="T-Sans"/>
              <a:ea typeface="T-Sans"/>
            </a:endParaRPr>
          </a:p>
        </p:txBody>
      </p:sp>
      <p:sp>
        <p:nvSpPr>
          <p:cNvPr id="1529857065" name="TextBox 8"/>
          <p:cNvSpPr txBox="1"/>
          <p:nvPr/>
        </p:nvSpPr>
        <p:spPr bwMode="auto">
          <a:xfrm>
            <a:off x="1366837" y="7728921"/>
            <a:ext cx="1850095" cy="640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099" rtlCol="0" anchor="t">
            <a:sp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6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Advanced</a:t>
            </a:r>
            <a:endParaRPr lang="ru-RU" sz="360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840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1C777232-2D48-521C-0922-BCF37BB86C21}" type="slidenum">
              <a:rPr lang="ru-RU"/>
              <a:t>3</a:t>
            </a:fld>
            <a:endParaRPr lang="ru-RU"/>
          </a:p>
        </p:txBody>
      </p:sp>
      <p:pic>
        <p:nvPicPr>
          <p:cNvPr id="376849310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9730" y="-109722"/>
            <a:ext cx="11379569" cy="11379569"/>
          </a:xfrm>
          <a:prstGeom prst="rect">
            <a:avLst/>
          </a:prstGeom>
        </p:spPr>
      </p:pic>
      <p:sp>
        <p:nvSpPr>
          <p:cNvPr id="1522211102" name="TextBox 4"/>
          <p:cNvSpPr txBox="1"/>
          <p:nvPr/>
        </p:nvSpPr>
        <p:spPr bwMode="auto">
          <a:xfrm>
            <a:off x="1937827" y="4325282"/>
            <a:ext cx="8140376" cy="2541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/>
              <a:t>Но для разминки запустим </a:t>
            </a:r>
            <a:br>
              <a:rPr lang="ru-RU"/>
            </a:br>
            <a:r>
              <a:rPr lang="ru-RU"/>
              <a:t>наше приложение...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70374" name="TextBox 1"/>
          <p:cNvSpPr txBox="1"/>
          <p:nvPr/>
        </p:nvSpPr>
        <p:spPr bwMode="auto">
          <a:xfrm>
            <a:off x="1857902" y="5762071"/>
            <a:ext cx="9193573" cy="3446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>
                <a:solidFill>
                  <a:schemeClr val="accent6"/>
                </a:solidFill>
                <a:latin typeface="T-Sans"/>
                <a:ea typeface="T-Sans"/>
              </a:rPr>
              <a:t>У вас </a:t>
            </a:r>
            <a:endParaRPr/>
          </a:p>
          <a:p>
            <a:pPr>
              <a:defRPr/>
            </a:pPr>
            <a:r>
              <a:rPr lang="ru-RU" sz="16600">
                <a:solidFill>
                  <a:schemeClr val="accent6"/>
                </a:solidFill>
                <a:latin typeface="T-Sans"/>
                <a:ea typeface="T-Sans"/>
              </a:rPr>
              <a:t>5 минут</a:t>
            </a:r>
            <a:endParaRPr/>
          </a:p>
        </p:txBody>
      </p:sp>
      <p:sp>
        <p:nvSpPr>
          <p:cNvPr id="24585188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0A4D2B1B-E69E-7630-753C-B47DF70EE440}" type="slidenum">
              <a:rPr lang="ru-RU"/>
              <a:t>4</a:t>
            </a:fld>
            <a:endParaRPr lang="ru-RU"/>
          </a:p>
        </p:txBody>
      </p:sp>
      <p:pic>
        <p:nvPicPr>
          <p:cNvPr id="2021491387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15201" y="428482"/>
            <a:ext cx="9193213" cy="9193212"/>
          </a:xfrm>
          <a:prstGeom prst="rect">
            <a:avLst/>
          </a:prstGeom>
        </p:spPr>
      </p:pic>
      <p:sp>
        <p:nvSpPr>
          <p:cNvPr id="1677442158" name="Прямоугольник 7"/>
          <p:cNvSpPr/>
          <p:nvPr/>
        </p:nvSpPr>
        <p:spPr bwMode="auto">
          <a:xfrm>
            <a:off x="1366837" y="9450104"/>
            <a:ext cx="17065625" cy="343183"/>
          </a:xfrm>
          <a:prstGeom prst="rect">
            <a:avLst/>
          </a:prstGeom>
          <a:solidFill>
            <a:schemeClr val="accent6">
              <a:alpha val="30000"/>
            </a:schemeClr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1156021754" name="Прямоугольник 8"/>
          <p:cNvSpPr/>
          <p:nvPr/>
        </p:nvSpPr>
        <p:spPr bwMode="auto">
          <a:xfrm>
            <a:off x="1366837" y="9450104"/>
            <a:ext cx="17065622" cy="343183"/>
          </a:xfrm>
          <a:prstGeom prst="rect">
            <a:avLst/>
          </a:prstGeom>
          <a:gradFill>
            <a:gsLst>
              <a:gs pos="0">
                <a:srgbClr val="FFE560"/>
              </a:gs>
              <a:gs pos="100000">
                <a:schemeClr val="accent1"/>
              </a:gs>
            </a:gsLst>
            <a:lin ang="0" scaled="0"/>
          </a:gra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/>
          </a:p>
        </p:txBody>
      </p:sp>
      <p:sp>
        <p:nvSpPr>
          <p:cNvPr id="1715845975" name="TextBox 1715845974"/>
          <p:cNvSpPr txBox="1"/>
          <p:nvPr/>
        </p:nvSpPr>
        <p:spPr bwMode="auto">
          <a:xfrm>
            <a:off x="1128590" y="2670122"/>
            <a:ext cx="9525870" cy="12805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неполный набор параметров</a:t>
            </a:r>
          </a:p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неверный тип валюты</a:t>
            </a:r>
          </a:p>
          <a:p>
            <a:pPr marL="217793" indent="-217793">
              <a:buClrTx/>
              <a:buSzTx/>
              <a:buFont typeface="Liberation Sans"/>
              <a:buChar char="–"/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неизвестный тип инструмента </a:t>
            </a:r>
            <a:endParaRPr sz="2600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  <p:sp>
        <p:nvSpPr>
          <p:cNvPr id="1639773856" name="TextBox 1639773855"/>
          <p:cNvSpPr txBox="1"/>
          <p:nvPr/>
        </p:nvSpPr>
        <p:spPr bwMode="auto">
          <a:xfrm>
            <a:off x="1493892" y="1617287"/>
            <a:ext cx="9161287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Поэкспериментируйте с командой `</a:t>
            </a:r>
            <a:r>
              <a:rPr lang="en-US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add</a:t>
            </a: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`. </a:t>
            </a:r>
            <a:b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26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Попробуйте ввести то, чего программа не ожидает:</a:t>
            </a:r>
            <a:endParaRPr lang="ru-RU" sz="80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00" fill="hold"/>
                                        <p:tgtEl>
                                          <p:spTgt spid="115602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5</a:t>
            </a:fld>
            <a:endParaRPr lang="ru-RU"/>
          </a:p>
        </p:txBody>
      </p:sp>
      <p:sp>
        <p:nvSpPr>
          <p:cNvPr id="18" name="TextBox 17"/>
          <p:cNvSpPr txBox="1"/>
          <p:nvPr/>
        </p:nvSpPr>
        <p:spPr bwMode="auto">
          <a:xfrm>
            <a:off x="1965476" y="2637490"/>
            <a:ext cx="45472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indent="-371994" algn="l">
              <a:buClrTx/>
              <a:buSzTx/>
              <a:buFontTx/>
              <a:buAutoNum type="arabicPeriod"/>
              <a:defRPr/>
            </a:pPr>
            <a:r>
              <a:rPr lang="ru-RU" sz="2600">
                <a:latin typeface="T-Sans"/>
                <a:ea typeface="T-Sans"/>
              </a:rPr>
              <a:t>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(человеко-читаемая)</a:t>
            </a:r>
          </a:p>
        </p:txBody>
      </p:sp>
      <p:sp>
        <p:nvSpPr>
          <p:cNvPr id="23" name="TextBox 22"/>
          <p:cNvSpPr txBox="1"/>
          <p:nvPr/>
        </p:nvSpPr>
        <p:spPr bwMode="auto">
          <a:xfrm>
            <a:off x="611187" y="1321117"/>
            <a:ext cx="659519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Виды ошибок</a:t>
            </a:r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7477169" y="647699"/>
            <a:ext cx="11448000" cy="10313857"/>
            <a:chOff x="0" y="0"/>
            <a:chExt cx="11448000" cy="10313857"/>
          </a:xfrm>
        </p:grpSpPr>
        <p:sp>
          <p:nvSpPr>
            <p:cNvPr id="4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5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0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2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pic>
        <p:nvPicPr>
          <p:cNvPr id="1705412124" name="Picture 170541212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861968" y="2255601"/>
            <a:ext cx="10477499" cy="1713170"/>
          </a:xfrm>
          <a:prstGeom prst="rect">
            <a:avLst/>
          </a:prstGeom>
        </p:spPr>
      </p:pic>
      <p:sp>
        <p:nvSpPr>
          <p:cNvPr id="1804522345" name="TextBox 17"/>
          <p:cNvSpPr txBox="1"/>
          <p:nvPr/>
        </p:nvSpPr>
        <p:spPr bwMode="auto">
          <a:xfrm>
            <a:off x="1965476" y="5101820"/>
            <a:ext cx="45634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defRPr/>
            </a:pPr>
            <a:r>
              <a:rPr lang="ru-RU" sz="2600">
                <a:latin typeface="T-Sans"/>
                <a:ea typeface="T-Sans"/>
              </a:rPr>
              <a:t>Непонятная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(для специалистов)</a:t>
            </a:r>
          </a:p>
        </p:txBody>
      </p:sp>
      <p:pic>
        <p:nvPicPr>
          <p:cNvPr id="1758349412" name="Picture 17583494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61968" y="4362714"/>
            <a:ext cx="10477499" cy="2501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16629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8D7006C8-5DBE-C25C-1F29-7AA494A70E41}" type="slidenum">
              <a:rPr lang="ru-RU"/>
              <a:t>6</a:t>
            </a:fld>
            <a:endParaRPr lang="ru-RU"/>
          </a:p>
        </p:txBody>
      </p:sp>
      <p:sp>
        <p:nvSpPr>
          <p:cNvPr id="489958363" name="TextBox 17"/>
          <p:cNvSpPr txBox="1"/>
          <p:nvPr/>
        </p:nvSpPr>
        <p:spPr bwMode="auto">
          <a:xfrm>
            <a:off x="1965476" y="2637490"/>
            <a:ext cx="45472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indent="-371994" algn="l">
              <a:buClrTx/>
              <a:buSzTx/>
              <a:buFontTx/>
              <a:buAutoNum type="arabicPeriod"/>
              <a:defRPr/>
            </a:pPr>
            <a:r>
              <a:rPr lang="ru-RU" sz="2600">
                <a:latin typeface="T-Sans"/>
                <a:ea typeface="T-Sans"/>
              </a:rPr>
              <a:t>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(человеко-читаемая)</a:t>
            </a:r>
          </a:p>
        </p:txBody>
      </p:sp>
      <p:sp>
        <p:nvSpPr>
          <p:cNvPr id="1422666209" name="TextBox 22"/>
          <p:cNvSpPr txBox="1"/>
          <p:nvPr/>
        </p:nvSpPr>
        <p:spPr bwMode="auto">
          <a:xfrm>
            <a:off x="611187" y="1321117"/>
            <a:ext cx="6595199" cy="895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Виды ошибок</a:t>
            </a:r>
          </a:p>
        </p:txBody>
      </p:sp>
      <p:grpSp>
        <p:nvGrpSpPr>
          <p:cNvPr id="1057344661" name="Группа 1"/>
          <p:cNvGrpSpPr/>
          <p:nvPr/>
        </p:nvGrpSpPr>
        <p:grpSpPr bwMode="auto">
          <a:xfrm>
            <a:off x="7477169" y="647699"/>
            <a:ext cx="11448000" cy="10313857"/>
            <a:chOff x="0" y="0"/>
            <a:chExt cx="11448000" cy="10313857"/>
          </a:xfrm>
        </p:grpSpPr>
        <p:sp>
          <p:nvSpPr>
            <p:cNvPr id="2123028265" name="Скругленный прямоугольник 3"/>
            <p:cNvSpPr/>
            <p:nvPr/>
          </p:nvSpPr>
          <p:spPr bwMode="auto">
            <a:xfrm>
              <a:off x="0" y="0"/>
              <a:ext cx="11448000" cy="10313857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634312232" name="Овал 4"/>
            <p:cNvSpPr>
              <a:spLocks noChangeAspect="1"/>
            </p:cNvSpPr>
            <p:nvPr/>
          </p:nvSpPr>
          <p:spPr bwMode="auto">
            <a:xfrm>
              <a:off x="253930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873569703" name="Овал 9"/>
            <p:cNvSpPr>
              <a:spLocks noChangeAspect="1"/>
            </p:cNvSpPr>
            <p:nvPr/>
          </p:nvSpPr>
          <p:spPr bwMode="auto">
            <a:xfrm>
              <a:off x="512881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516296383" name="Овал 10"/>
            <p:cNvSpPr>
              <a:spLocks noChangeAspect="1"/>
            </p:cNvSpPr>
            <p:nvPr/>
          </p:nvSpPr>
          <p:spPr bwMode="auto">
            <a:xfrm>
              <a:off x="771832" y="239945"/>
              <a:ext cx="162102" cy="16948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316461543" name="Скругленный прямоугольник 11"/>
            <p:cNvSpPr/>
            <p:nvPr/>
          </p:nvSpPr>
          <p:spPr bwMode="auto">
            <a:xfrm>
              <a:off x="144000" y="625026"/>
              <a:ext cx="11160000" cy="9560318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pic>
        <p:nvPicPr>
          <p:cNvPr id="520394868" name="Picture 52039486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61968" y="2255601"/>
            <a:ext cx="10477499" cy="1713170"/>
          </a:xfrm>
          <a:prstGeom prst="rect">
            <a:avLst/>
          </a:prstGeom>
        </p:spPr>
      </p:pic>
      <p:sp>
        <p:nvSpPr>
          <p:cNvPr id="1886492693" name="TextBox 17"/>
          <p:cNvSpPr txBox="1"/>
          <p:nvPr/>
        </p:nvSpPr>
        <p:spPr bwMode="auto">
          <a:xfrm>
            <a:off x="1965476" y="5101820"/>
            <a:ext cx="4563468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2"/>
              <a:defRPr/>
            </a:pPr>
            <a:r>
              <a:rPr lang="ru-RU" sz="2600">
                <a:latin typeface="T-Sans"/>
                <a:ea typeface="T-Sans"/>
              </a:rPr>
              <a:t>Непонятная </a:t>
            </a:r>
            <a:br>
              <a:rPr lang="ru-RU" sz="2600">
                <a:latin typeface="T-Sans"/>
                <a:ea typeface="T-Sans"/>
              </a:rPr>
            </a:br>
            <a:r>
              <a:rPr lang="ru-RU" sz="2600">
                <a:latin typeface="T-Sans"/>
                <a:ea typeface="T-Sans"/>
              </a:rPr>
              <a:t>(для специалистов)</a:t>
            </a:r>
          </a:p>
        </p:txBody>
      </p:sp>
      <p:pic>
        <p:nvPicPr>
          <p:cNvPr id="1791217611" name="Picture 17912176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861968" y="4362714"/>
            <a:ext cx="10477499" cy="2501548"/>
          </a:xfrm>
          <a:prstGeom prst="rect">
            <a:avLst/>
          </a:prstGeom>
        </p:spPr>
      </p:pic>
      <p:sp>
        <p:nvSpPr>
          <p:cNvPr id="1153871478" name="TextBox 17"/>
          <p:cNvSpPr txBox="1"/>
          <p:nvPr/>
        </p:nvSpPr>
        <p:spPr bwMode="auto">
          <a:xfrm>
            <a:off x="1965476" y="8339090"/>
            <a:ext cx="4559508" cy="5478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71994" marR="0" indent="-371994"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 startAt="3"/>
              <a:defRPr/>
            </a:pPr>
            <a:r>
              <a:rPr lang="ru-RU" sz="2600">
                <a:latin typeface="T-Sans"/>
                <a:ea typeface="T-Sans"/>
              </a:rPr>
              <a:t>Тихая ошибка</a:t>
            </a:r>
          </a:p>
        </p:txBody>
      </p:sp>
      <p:pic>
        <p:nvPicPr>
          <p:cNvPr id="209200916" name="Picture 20920091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283888" y="7179027"/>
            <a:ext cx="5359710" cy="3088412"/>
          </a:xfrm>
          <a:prstGeom prst="rect">
            <a:avLst/>
          </a:prstGeom>
        </p:spPr>
      </p:pic>
      <p:sp>
        <p:nvSpPr>
          <p:cNvPr id="886594989" name="TextBox 17"/>
          <p:cNvSpPr txBox="1"/>
          <p:nvPr/>
        </p:nvSpPr>
        <p:spPr bwMode="auto">
          <a:xfrm>
            <a:off x="495694" y="9955759"/>
            <a:ext cx="6711413" cy="9136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algn="l" defTabSz="44993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600">
                <a:latin typeface="T-Sans"/>
                <a:ea typeface="T-Sans"/>
              </a:rPr>
              <a:t>* </a:t>
            </a:r>
            <a:r>
              <a:rPr lang="ru-RU" sz="2000">
                <a:latin typeface="T-Sans"/>
                <a:ea typeface="T-Sans"/>
              </a:rPr>
              <a:t>наше приложение пока не имеет постоянного хранилища, поэтому нужно отдельное демо</a:t>
            </a:r>
          </a:p>
        </p:txBody>
      </p:sp>
      <p:pic>
        <p:nvPicPr>
          <p:cNvPr id="1806595715" name="Picture 1806595714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881017" y="7864423"/>
            <a:ext cx="5163012" cy="1692790"/>
          </a:xfrm>
          <a:prstGeom prst="rect">
            <a:avLst/>
          </a:prstGeom>
        </p:spPr>
      </p:pic>
      <p:sp>
        <p:nvSpPr>
          <p:cNvPr id="575251743" name="Right Arrow 575251742"/>
          <p:cNvSpPr/>
          <p:nvPr/>
        </p:nvSpPr>
        <p:spPr bwMode="auto">
          <a:xfrm>
            <a:off x="11145904" y="8402213"/>
            <a:ext cx="2201680" cy="545038"/>
          </a:xfrm>
          <a:prstGeom prst="rightArrow">
            <a:avLst>
              <a:gd name="adj1" fmla="val 50000"/>
              <a:gd name="adj2" fmla="val 114595"/>
            </a:avLst>
          </a:prstGeom>
          <a:solidFill>
            <a:srgbClr val="FFDE36"/>
          </a:solidFill>
          <a:ln w="12700" cap="flat">
            <a:noFill/>
            <a:prstDash val="solid"/>
            <a:miter lim="8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/>
          <a:lstStyle/>
          <a:p>
            <a:pPr>
              <a:defRPr/>
            </a:pPr>
            <a:endParaRPr>
              <a:solidFill>
                <a:schemeClr val="accent6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7422" name="Полилиния 17"/>
          <p:cNvSpPr/>
          <p:nvPr/>
        </p:nvSpPr>
        <p:spPr bwMode="auto">
          <a:xfrm flipH="1">
            <a:off x="9971087" y="1366837"/>
            <a:ext cx="9432000" cy="9396533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 extrusionOk="0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chemeClr val="accent6">
              <a:lumMod val="95000"/>
            </a:schemeClr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669667574" name="Полилиния 20"/>
          <p:cNvSpPr/>
          <p:nvPr/>
        </p:nvSpPr>
        <p:spPr bwMode="auto">
          <a:xfrm>
            <a:off x="396211" y="1366837"/>
            <a:ext cx="9432000" cy="9396533"/>
          </a:xfrm>
          <a:custGeom>
            <a:avLst/>
            <a:gdLst>
              <a:gd name="connsiteX0" fmla="*/ 9012665 w 9432000"/>
              <a:gd name="connsiteY0" fmla="*/ 0 h 10366619"/>
              <a:gd name="connsiteX1" fmla="*/ 419336 w 9432000"/>
              <a:gd name="connsiteY1" fmla="*/ 0 h 10366619"/>
              <a:gd name="connsiteX2" fmla="*/ 0 w 9432000"/>
              <a:gd name="connsiteY2" fmla="*/ 419334 h 10366619"/>
              <a:gd name="connsiteX3" fmla="*/ 0 w 9432000"/>
              <a:gd name="connsiteY3" fmla="*/ 3274342 h 10366619"/>
              <a:gd name="connsiteX4" fmla="*/ 0 w 9432000"/>
              <a:gd name="connsiteY4" fmla="*/ 3469156 h 10366619"/>
              <a:gd name="connsiteX5" fmla="*/ 0 w 9432000"/>
              <a:gd name="connsiteY5" fmla="*/ 6897463 h 10366619"/>
              <a:gd name="connsiteX6" fmla="*/ 0 w 9432000"/>
              <a:gd name="connsiteY6" fmla="*/ 7295686 h 10366619"/>
              <a:gd name="connsiteX7" fmla="*/ 0 w 9432000"/>
              <a:gd name="connsiteY7" fmla="*/ 9947284 h 10366619"/>
              <a:gd name="connsiteX8" fmla="*/ 419336 w 9432000"/>
              <a:gd name="connsiteY8" fmla="*/ 10366619 h 10366619"/>
              <a:gd name="connsiteX9" fmla="*/ 9012665 w 9432000"/>
              <a:gd name="connsiteY9" fmla="*/ 10366619 h 10366619"/>
              <a:gd name="connsiteX10" fmla="*/ 9432000 w 9432000"/>
              <a:gd name="connsiteY10" fmla="*/ 9947284 h 10366619"/>
              <a:gd name="connsiteX11" fmla="*/ 9432000 w 9432000"/>
              <a:gd name="connsiteY11" fmla="*/ 6897463 h 10366619"/>
              <a:gd name="connsiteX12" fmla="*/ 9424152 w 9432000"/>
              <a:gd name="connsiteY12" fmla="*/ 6819614 h 10366619"/>
              <a:gd name="connsiteX13" fmla="*/ 9424152 w 9432000"/>
              <a:gd name="connsiteY13" fmla="*/ 6790862 h 10366619"/>
              <a:gd name="connsiteX14" fmla="*/ 8881916 w 9432000"/>
              <a:gd name="connsiteY14" fmla="*/ 5772324 h 10366619"/>
              <a:gd name="connsiteX15" fmla="*/ 8680506 w 9432000"/>
              <a:gd name="connsiteY15" fmla="*/ 5176312 h 10366619"/>
              <a:gd name="connsiteX16" fmla="*/ 8881916 w 9432000"/>
              <a:gd name="connsiteY16" fmla="*/ 4580301 h 10366619"/>
              <a:gd name="connsiteX17" fmla="*/ 9424153 w 9432000"/>
              <a:gd name="connsiteY17" fmla="*/ 3561765 h 10366619"/>
              <a:gd name="connsiteX18" fmla="*/ 9424153 w 9432000"/>
              <a:gd name="connsiteY18" fmla="*/ 3546995 h 10366619"/>
              <a:gd name="connsiteX19" fmla="*/ 9432000 w 9432000"/>
              <a:gd name="connsiteY19" fmla="*/ 3469156 h 10366619"/>
              <a:gd name="connsiteX20" fmla="*/ 9432000 w 9432000"/>
              <a:gd name="connsiteY20" fmla="*/ 419334 h 10366619"/>
              <a:gd name="connsiteX21" fmla="*/ 9012665 w 9432000"/>
              <a:gd name="connsiteY21" fmla="*/ 0 h 1036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432000" h="10366619" extrusionOk="0">
                <a:moveTo>
                  <a:pt x="9012665" y="0"/>
                </a:moveTo>
                <a:lnTo>
                  <a:pt x="419336" y="0"/>
                </a:lnTo>
                <a:cubicBezTo>
                  <a:pt x="187744" y="0"/>
                  <a:pt x="0" y="187742"/>
                  <a:pt x="0" y="419334"/>
                </a:cubicBezTo>
                <a:lnTo>
                  <a:pt x="0" y="3274342"/>
                </a:lnTo>
                <a:lnTo>
                  <a:pt x="0" y="3469156"/>
                </a:lnTo>
                <a:lnTo>
                  <a:pt x="0" y="6897463"/>
                </a:lnTo>
                <a:lnTo>
                  <a:pt x="0" y="7295686"/>
                </a:lnTo>
                <a:lnTo>
                  <a:pt x="0" y="9947284"/>
                </a:lnTo>
                <a:cubicBezTo>
                  <a:pt x="0" y="10178876"/>
                  <a:pt x="187744" y="10366619"/>
                  <a:pt x="419336" y="10366619"/>
                </a:cubicBezTo>
                <a:lnTo>
                  <a:pt x="9012665" y="10366619"/>
                </a:lnTo>
                <a:cubicBezTo>
                  <a:pt x="9244257" y="10366619"/>
                  <a:pt x="9432000" y="10178876"/>
                  <a:pt x="9432000" y="9947284"/>
                </a:cubicBezTo>
                <a:lnTo>
                  <a:pt x="9432000" y="6897463"/>
                </a:lnTo>
                <a:lnTo>
                  <a:pt x="9424152" y="6819614"/>
                </a:lnTo>
                <a:lnTo>
                  <a:pt x="9424152" y="6790862"/>
                </a:lnTo>
                <a:cubicBezTo>
                  <a:pt x="9424152" y="6402009"/>
                  <a:pt x="9118007" y="6081093"/>
                  <a:pt x="8881916" y="5772324"/>
                </a:cubicBezTo>
                <a:cubicBezTo>
                  <a:pt x="8755581" y="5607095"/>
                  <a:pt x="8680506" y="5400477"/>
                  <a:pt x="8680506" y="5176312"/>
                </a:cubicBezTo>
                <a:cubicBezTo>
                  <a:pt x="8680506" y="4952149"/>
                  <a:pt x="8755581" y="4745530"/>
                  <a:pt x="8881916" y="4580301"/>
                </a:cubicBezTo>
                <a:cubicBezTo>
                  <a:pt x="9118007" y="4271533"/>
                  <a:pt x="9424153" y="3950617"/>
                  <a:pt x="9424153" y="3561765"/>
                </a:cubicBezTo>
                <a:lnTo>
                  <a:pt x="9424153" y="3546995"/>
                </a:lnTo>
                <a:lnTo>
                  <a:pt x="9432000" y="3469156"/>
                </a:lnTo>
                <a:lnTo>
                  <a:pt x="9432000" y="419334"/>
                </a:lnTo>
                <a:cubicBezTo>
                  <a:pt x="9432000" y="187742"/>
                  <a:pt x="9244257" y="0"/>
                  <a:pt x="9012665" y="0"/>
                </a:cubicBezTo>
                <a:close/>
              </a:path>
            </a:pathLst>
          </a:custGeom>
          <a:solidFill>
            <a:schemeClr val="accent6">
              <a:lumMod val="95000"/>
            </a:schemeClr>
          </a:soli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grpSp>
        <p:nvGrpSpPr>
          <p:cNvPr id="1574880587" name="Группа 6"/>
          <p:cNvGrpSpPr/>
          <p:nvPr/>
        </p:nvGrpSpPr>
        <p:grpSpPr bwMode="auto">
          <a:xfrm>
            <a:off x="9232858" y="4913271"/>
            <a:ext cx="1333580" cy="1333580"/>
            <a:chOff x="8084122" y="4913271"/>
            <a:chExt cx="1333580" cy="1333580"/>
          </a:xfrm>
        </p:grpSpPr>
        <p:sp>
          <p:nvSpPr>
            <p:cNvPr id="1102612574" name="Овал 8"/>
            <p:cNvSpPr/>
            <p:nvPr/>
          </p:nvSpPr>
          <p:spPr bwMode="auto">
            <a:xfrm>
              <a:off x="8084122" y="4913271"/>
              <a:ext cx="1333580" cy="133358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>
              <a:innerShdw blurRad="317009">
                <a:schemeClr val="accent6"/>
              </a:innerShdw>
            </a:effectLst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016387124" name="TextBox 12"/>
            <p:cNvSpPr txBox="1"/>
            <p:nvPr/>
          </p:nvSpPr>
          <p:spPr bwMode="auto">
            <a:xfrm>
              <a:off x="8314660" y="5249200"/>
              <a:ext cx="872507" cy="6617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 anchor="t">
              <a:spAutoFit/>
            </a:bodyPr>
            <a:lstStyle>
              <a:defPPr marL="0" marR="0" indent="0" algn="l" defTabSz="900059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ts val="3799"/>
                </a:lnSpc>
                <a:defRPr sz="3200">
                  <a:solidFill>
                    <a:schemeClr val="accent2"/>
                  </a:solidFill>
                  <a:latin typeface="TINKOFFSANS-MEDIUM"/>
                </a:defRPr>
              </a:lvl1pPr>
            </a:lstStyle>
            <a:p>
              <a:pPr algn="ctr">
                <a:lnSpc>
                  <a:spcPct val="110000"/>
                </a:lnSpc>
                <a:defRPr/>
              </a:pPr>
              <a:r>
                <a:rPr lang="ru-RU" sz="4000">
                  <a:latin typeface="T-Sans"/>
                  <a:ea typeface="T-Sans"/>
                </a:rPr>
                <a:t>V</a:t>
              </a:r>
              <a:r>
                <a:rPr lang="en-US" sz="4000">
                  <a:latin typeface="T-Sans"/>
                  <a:ea typeface="T-Sans"/>
                </a:rPr>
                <a:t>S</a:t>
              </a:r>
              <a:endParaRPr lang="ru-RU" sz="4000">
                <a:latin typeface="T-Sans"/>
                <a:ea typeface="T-Sans"/>
              </a:endParaRPr>
            </a:p>
          </p:txBody>
        </p:sp>
      </p:grpSp>
      <p:sp>
        <p:nvSpPr>
          <p:cNvPr id="776964559" name="TextBox 21"/>
          <p:cNvSpPr txBox="1"/>
          <p:nvPr/>
        </p:nvSpPr>
        <p:spPr bwMode="auto">
          <a:xfrm>
            <a:off x="1150938" y="1561435"/>
            <a:ext cx="7239826" cy="986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/>
                <a:ea typeface="T-Sans"/>
              </a:defRPr>
            </a:lvl1pPr>
          </a:lstStyle>
          <a:p>
            <a:pPr algn="ctr">
              <a:defRPr/>
            </a:pPr>
            <a:r>
              <a:rPr lang="en-US" b="0"/>
              <a:t>Golang</a:t>
            </a:r>
            <a:endParaRPr/>
          </a:p>
        </p:txBody>
      </p:sp>
      <p:sp>
        <p:nvSpPr>
          <p:cNvPr id="168873587" name="TextBox 1"/>
          <p:cNvSpPr txBox="1"/>
          <p:nvPr/>
        </p:nvSpPr>
        <p:spPr bwMode="auto">
          <a:xfrm>
            <a:off x="10800023" y="9099730"/>
            <a:ext cx="8428874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799"/>
              </a:spcAft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  <a:t>Исключение - это нештатная ситуация работы программы, </a:t>
            </a:r>
            <a:b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</a:br>
            <a:r>
              <a:rPr lang="ru-RU">
                <a:solidFill>
                  <a:schemeClr val="tx2">
                    <a:lumMod val="50000"/>
                  </a:schemeClr>
                </a:solidFill>
                <a:latin typeface="T-Sans"/>
                <a:ea typeface="T-Sans"/>
              </a:rPr>
              <a:t>про обработку которой не стоит забывать</a:t>
            </a:r>
            <a:endParaRPr/>
          </a:p>
        </p:txBody>
      </p:sp>
      <p:sp>
        <p:nvSpPr>
          <p:cNvPr id="816922960" name="TextBox 3"/>
          <p:cNvSpPr txBox="1"/>
          <p:nvPr/>
        </p:nvSpPr>
        <p:spPr bwMode="auto">
          <a:xfrm>
            <a:off x="1150938" y="9099730"/>
            <a:ext cx="6831631" cy="10233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spcAft>
                <a:spcPts val="1799"/>
              </a:spcAft>
              <a:defRPr/>
            </a:pPr>
            <a:r>
              <a:rPr lang="ru-RU">
                <a:latin typeface="T-Sans"/>
                <a:ea typeface="T-Sans"/>
              </a:rPr>
              <a:t>Ошибка - это штатная ситуация, которую нужно обработать прямо в моменте возникновения. </a:t>
            </a:r>
            <a:endParaRPr/>
          </a:p>
        </p:txBody>
      </p:sp>
      <p:sp>
        <p:nvSpPr>
          <p:cNvPr id="234686924" name="TextBox 4"/>
          <p:cNvSpPr txBox="1"/>
          <p:nvPr/>
        </p:nvSpPr>
        <p:spPr bwMode="auto">
          <a:xfrm>
            <a:off x="11070774" y="2212133"/>
            <a:ext cx="7236586" cy="62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600">
                <a:latin typeface="T-Sans Medium"/>
                <a:ea typeface="T-Sans"/>
              </a:rPr>
              <a:t>Исключения</a:t>
            </a:r>
            <a:endParaRPr sz="3600"/>
          </a:p>
        </p:txBody>
      </p:sp>
      <p:sp>
        <p:nvSpPr>
          <p:cNvPr id="1686365582" name="TextBox 5"/>
          <p:cNvSpPr txBox="1"/>
          <p:nvPr/>
        </p:nvSpPr>
        <p:spPr bwMode="auto">
          <a:xfrm>
            <a:off x="10800023" y="1473240"/>
            <a:ext cx="8016845" cy="986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75000"/>
              </a:lnSpc>
              <a:defRPr sz="8000" b="1">
                <a:solidFill>
                  <a:schemeClr val="accent2"/>
                </a:solidFill>
                <a:latin typeface="T-Sans"/>
                <a:ea typeface="T-Sans"/>
              </a:defRPr>
            </a:lvl1pPr>
          </a:lstStyle>
          <a:p>
            <a:pPr algn="ctr">
              <a:defRPr/>
            </a:pPr>
            <a:r>
              <a:rPr lang="en-US" b="0"/>
              <a:t>Java</a:t>
            </a:r>
            <a:endParaRPr lang="ru-RU" b="0"/>
          </a:p>
        </p:txBody>
      </p:sp>
      <p:sp>
        <p:nvSpPr>
          <p:cNvPr id="736683617" name="TextBox 7"/>
          <p:cNvSpPr txBox="1"/>
          <p:nvPr/>
        </p:nvSpPr>
        <p:spPr bwMode="auto">
          <a:xfrm>
            <a:off x="1844618" y="2212133"/>
            <a:ext cx="7239466" cy="621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3600">
                <a:latin typeface="T-Sans Medium"/>
                <a:ea typeface="T-Sans"/>
              </a:rPr>
              <a:t>Ошибки</a:t>
            </a:r>
            <a:endParaRPr sz="7200"/>
          </a:p>
        </p:txBody>
      </p:sp>
      <p:sp>
        <p:nvSpPr>
          <p:cNvPr id="1056356889" name="TextBox 9"/>
          <p:cNvSpPr txBox="1"/>
          <p:nvPr/>
        </p:nvSpPr>
        <p:spPr bwMode="auto">
          <a:xfrm>
            <a:off x="11070774" y="3180235"/>
            <a:ext cx="725242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Логика программы не смешивается с обработкой исключений</a:t>
            </a:r>
            <a:endParaRPr/>
          </a:p>
        </p:txBody>
      </p:sp>
      <p:sp>
        <p:nvSpPr>
          <p:cNvPr id="557804239" name="TextBox 10"/>
          <p:cNvSpPr txBox="1"/>
          <p:nvPr/>
        </p:nvSpPr>
        <p:spPr bwMode="auto">
          <a:xfrm>
            <a:off x="1844617" y="3198327"/>
            <a:ext cx="725350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Явная проверка ошибки после каждого вызова</a:t>
            </a:r>
            <a:endParaRPr/>
          </a:p>
        </p:txBody>
      </p:sp>
      <p:sp>
        <p:nvSpPr>
          <p:cNvPr id="324828517" name="TextBox 11"/>
          <p:cNvSpPr txBox="1"/>
          <p:nvPr/>
        </p:nvSpPr>
        <p:spPr bwMode="auto">
          <a:xfrm>
            <a:off x="1844616" y="4184521"/>
            <a:ext cx="725314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Высокая скорость, ошибка - </a:t>
            </a:r>
            <a:br>
              <a:rPr lang="ru-RU" sz="2400">
                <a:latin typeface="T-Sans Medium"/>
                <a:ea typeface="T-Sans"/>
              </a:rPr>
            </a:br>
            <a:r>
              <a:rPr lang="ru-RU" sz="2400">
                <a:latin typeface="T-Sans Medium"/>
                <a:ea typeface="T-Sans"/>
              </a:rPr>
              <a:t>это просто возврат значения</a:t>
            </a:r>
            <a:endParaRPr/>
          </a:p>
        </p:txBody>
      </p:sp>
      <p:sp>
        <p:nvSpPr>
          <p:cNvPr id="1788110971" name="TextBox 13"/>
          <p:cNvSpPr txBox="1"/>
          <p:nvPr/>
        </p:nvSpPr>
        <p:spPr bwMode="auto">
          <a:xfrm>
            <a:off x="11070771" y="4322508"/>
            <a:ext cx="724954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Низкая скорость, требуется сбор контекста</a:t>
            </a:r>
            <a:endParaRPr/>
          </a:p>
        </p:txBody>
      </p:sp>
      <p:sp>
        <p:nvSpPr>
          <p:cNvPr id="175198332" name="TextBox 15"/>
          <p:cNvSpPr txBox="1"/>
          <p:nvPr/>
        </p:nvSpPr>
        <p:spPr bwMode="auto">
          <a:xfrm>
            <a:off x="1844618" y="5957974"/>
            <a:ext cx="7253146" cy="803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Контекст собирается руками </a:t>
            </a:r>
            <a:br>
              <a:rPr lang="ru-RU" sz="2400">
                <a:latin typeface="T-Sans Medium"/>
                <a:ea typeface="T-Sans"/>
              </a:rPr>
            </a:br>
            <a:r>
              <a:rPr lang="ru-RU" sz="2400">
                <a:latin typeface="T-Sans Medium"/>
                <a:ea typeface="T-Sans"/>
              </a:rPr>
              <a:t>или специальными библиотеками</a:t>
            </a:r>
            <a:endParaRPr/>
          </a:p>
        </p:txBody>
      </p:sp>
      <p:sp>
        <p:nvSpPr>
          <p:cNvPr id="576860031" name="TextBox 16"/>
          <p:cNvSpPr txBox="1"/>
          <p:nvPr/>
        </p:nvSpPr>
        <p:spPr bwMode="auto">
          <a:xfrm>
            <a:off x="11000216" y="6140854"/>
            <a:ext cx="7252066" cy="438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latin typeface="T-Sans Medium"/>
                <a:ea typeface="T-Sans"/>
              </a:rPr>
              <a:t>Контекст (stacktrace) собирается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"/>
                <a:cs typeface="T-Sans Medium"/>
              </a:rPr>
              <a:t>автоматически</a:t>
            </a:r>
            <a:endParaRPr/>
          </a:p>
        </p:txBody>
      </p:sp>
      <p:sp>
        <p:nvSpPr>
          <p:cNvPr id="477029809" name="TextBox 477029808"/>
          <p:cNvSpPr txBox="1"/>
          <p:nvPr/>
        </p:nvSpPr>
        <p:spPr bwMode="auto">
          <a:xfrm>
            <a:off x="6463775" y="1966620"/>
            <a:ext cx="2075971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en-US" sz="2000" b="0"/>
              <a:t>(</a:t>
            </a:r>
            <a:r>
              <a:rPr lang="ru-RU" sz="2000" b="0"/>
              <a:t>например)</a:t>
            </a:r>
            <a:endParaRPr sz="2000"/>
          </a:p>
        </p:txBody>
      </p:sp>
      <p:sp>
        <p:nvSpPr>
          <p:cNvPr id="311846202" name="TextBox 311846201"/>
          <p:cNvSpPr txBox="1"/>
          <p:nvPr/>
        </p:nvSpPr>
        <p:spPr bwMode="auto">
          <a:xfrm>
            <a:off x="487240" y="268074"/>
            <a:ext cx="187089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 sz="3600" b="0"/>
              <a:t>Как в языках программирования обрабатывают нестандартные ситуации?</a:t>
            </a:r>
            <a:endParaRPr lang="ru-RU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37990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B940007B-DDE9-6F23-9AF8-BF2C11D3AA0C}" type="slidenum">
              <a:rPr lang="ru-RU"/>
              <a:t>8</a:t>
            </a:fld>
            <a:endParaRPr lang="ru-RU"/>
          </a:p>
        </p:txBody>
      </p:sp>
      <p:sp>
        <p:nvSpPr>
          <p:cNvPr id="1781085553" name="TextBox 22"/>
          <p:cNvSpPr txBox="1"/>
          <p:nvPr/>
        </p:nvSpPr>
        <p:spPr bwMode="auto">
          <a:xfrm>
            <a:off x="259231" y="263451"/>
            <a:ext cx="5469491" cy="171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6000" b="1" i="0" u="none" strike="noStrike" cap="none" spc="0" dirty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Arial"/>
              </a:rPr>
              <a:t>Виды исключений</a:t>
            </a:r>
            <a:r>
              <a:rPr lang="en-US" sz="6000" b="1" i="0" u="none" strike="noStrike" cap="none" spc="0" dirty="0">
                <a:ln>
                  <a:noFill/>
                </a:ln>
                <a:solidFill>
                  <a:schemeClr val="accent2"/>
                </a:solidFill>
                <a:latin typeface="Tinkoff Sans"/>
                <a:ea typeface="Tinkoff Sans"/>
                <a:cs typeface="Arial"/>
              </a:rPr>
              <a:t> </a:t>
            </a:r>
            <a:endParaRPr dirty="0"/>
          </a:p>
        </p:txBody>
      </p:sp>
      <p:grpSp>
        <p:nvGrpSpPr>
          <p:cNvPr id="1218944055" name="Группа 1"/>
          <p:cNvGrpSpPr/>
          <p:nvPr/>
        </p:nvGrpSpPr>
        <p:grpSpPr bwMode="auto">
          <a:xfrm>
            <a:off x="5487499" y="647699"/>
            <a:ext cx="13437669" cy="9864724"/>
            <a:chOff x="0" y="0"/>
            <a:chExt cx="13437669" cy="9864724"/>
          </a:xfrm>
        </p:grpSpPr>
        <p:sp>
          <p:nvSpPr>
            <p:cNvPr id="2057401403" name="Скругленный прямоугольник 3"/>
            <p:cNvSpPr/>
            <p:nvPr/>
          </p:nvSpPr>
          <p:spPr bwMode="auto">
            <a:xfrm>
              <a:off x="0" y="0"/>
              <a:ext cx="13437669" cy="9864724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728301381" name="Овал 4"/>
            <p:cNvSpPr>
              <a:spLocks noChangeAspect="1"/>
            </p:cNvSpPr>
            <p:nvPr/>
          </p:nvSpPr>
          <p:spPr bwMode="auto">
            <a:xfrm>
              <a:off x="298064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56502958" name="Овал 9"/>
            <p:cNvSpPr>
              <a:spLocks noChangeAspect="1"/>
            </p:cNvSpPr>
            <p:nvPr/>
          </p:nvSpPr>
          <p:spPr bwMode="auto">
            <a:xfrm>
              <a:off x="602021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319553558" name="Овал 10"/>
            <p:cNvSpPr>
              <a:spLocks noChangeAspect="1"/>
            </p:cNvSpPr>
            <p:nvPr/>
          </p:nvSpPr>
          <p:spPr bwMode="auto">
            <a:xfrm>
              <a:off x="905977" y="229496"/>
              <a:ext cx="190276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437751606" name="Скругленный прямоугольник 11"/>
            <p:cNvSpPr/>
            <p:nvPr/>
          </p:nvSpPr>
          <p:spPr bwMode="auto">
            <a:xfrm>
              <a:off x="169027" y="597808"/>
              <a:ext cx="13099615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764522227" name="TextBox 2"/>
          <p:cNvSpPr txBox="1"/>
          <p:nvPr/>
        </p:nvSpPr>
        <p:spPr bwMode="auto">
          <a:xfrm>
            <a:off x="133350" y="2188921"/>
            <a:ext cx="4880418" cy="724062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 marL="349965" indent="-349965" algn="l">
              <a:lnSpc>
                <a:spcPts val="4329"/>
              </a:lnSpc>
              <a:buClrTx/>
              <a:buSzTx/>
              <a:buFont typeface="Liberation Sans"/>
              <a:buChar char="•"/>
              <a:defRPr/>
            </a:pPr>
            <a:r>
              <a:rPr lang="en-US" sz="2400" b="1" u="sng">
                <a:solidFill>
                  <a:schemeClr val="bg1"/>
                </a:solidFill>
                <a:latin typeface="Tinkoff Sans"/>
              </a:rPr>
              <a:t>checked</a:t>
            </a:r>
            <a:r>
              <a:rPr lang="en-US" sz="2400" b="1">
                <a:solidFill>
                  <a:schemeClr val="bg1"/>
                </a:solidFill>
                <a:latin typeface="Tinkoff Sans"/>
              </a:rPr>
              <a:t> –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проверка исключения происходит в момент компиляции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compile-time checking)</a:t>
            </a:r>
            <a:endParaRPr/>
          </a:p>
          <a:p>
            <a:pPr>
              <a:lnSpc>
                <a:spcPts val="4329"/>
              </a:lnSpc>
              <a:defRPr/>
            </a:pPr>
            <a:endParaRPr lang="en" sz="2400" b="1">
              <a:solidFill>
                <a:srgbClr val="333333"/>
              </a:solidFill>
              <a:latin typeface="Tinkoff Sans"/>
            </a:endParaRPr>
          </a:p>
          <a:p>
            <a:pPr>
              <a:lnSpc>
                <a:spcPts val="4329"/>
              </a:lnSpc>
              <a:defRPr/>
            </a:pPr>
            <a:endParaRPr lang="ru-RU" sz="2400" b="1">
              <a:solidFill>
                <a:schemeClr val="bg1"/>
              </a:solidFill>
              <a:latin typeface="Tinkoff Sans"/>
            </a:endParaRPr>
          </a:p>
          <a:p>
            <a:pPr marL="349965" indent="-349965" algn="l">
              <a:lnSpc>
                <a:spcPts val="4329"/>
              </a:lnSpc>
              <a:buClrTx/>
              <a:buSzTx/>
              <a:buFont typeface="Liberation Sans"/>
              <a:buChar char="•"/>
              <a:defRPr/>
            </a:pPr>
            <a:r>
              <a:rPr lang="en-US" sz="2400" b="1" u="sng">
                <a:solidFill>
                  <a:schemeClr val="bg1"/>
                </a:solidFill>
                <a:latin typeface="Tinkoff Sans"/>
              </a:rPr>
              <a:t>unchecked</a:t>
            </a:r>
            <a:r>
              <a:rPr lang="en-US" sz="2400" b="1">
                <a:solidFill>
                  <a:schemeClr val="bg1"/>
                </a:solidFill>
                <a:latin typeface="Tinkoff Sans"/>
              </a:rPr>
              <a:t> – </a:t>
            </a:r>
            <a:r>
              <a:rPr lang="ru-RU" sz="2400" b="1">
                <a:solidFill>
                  <a:schemeClr val="bg1"/>
                </a:solidFill>
                <a:latin typeface="Tinkoff Sans"/>
              </a:rPr>
              <a:t>не проверяются компилятором,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перехват исключений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catch) </a:t>
            </a:r>
            <a:r>
              <a:rPr lang="ru-RU" sz="2400" b="1" i="0" u="none" strike="noStrike">
                <a:solidFill>
                  <a:srgbClr val="333333"/>
                </a:solidFill>
                <a:latin typeface="Tinkoff Sans"/>
              </a:rPr>
              <a:t>происходит в момент выполнения (</a:t>
            </a:r>
            <a:r>
              <a:rPr lang="en" sz="2400" b="1" i="0" u="none" strike="noStrike">
                <a:solidFill>
                  <a:srgbClr val="333333"/>
                </a:solidFill>
                <a:latin typeface="Tinkoff Sans"/>
              </a:rPr>
              <a:t>runtime checking)</a:t>
            </a:r>
            <a:endParaRPr lang="ru-RU" sz="2400" b="1">
              <a:solidFill>
                <a:schemeClr val="bg1"/>
              </a:solidFill>
              <a:latin typeface="Tinkoff Sans"/>
            </a:endParaRPr>
          </a:p>
        </p:txBody>
      </p:sp>
      <p:pic>
        <p:nvPicPr>
          <p:cNvPr id="357092366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939533" y="1747949"/>
            <a:ext cx="12689013" cy="83767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71065" name="Полилиния 42"/>
          <p:cNvSpPr/>
          <p:nvPr/>
        </p:nvSpPr>
        <p:spPr bwMode="auto">
          <a:xfrm>
            <a:off x="395287" y="401594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42000">
                <a:schemeClr val="accent1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571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088647592" name="Овал 43"/>
          <p:cNvSpPr/>
          <p:nvPr/>
        </p:nvSpPr>
        <p:spPr bwMode="auto">
          <a:xfrm>
            <a:off x="5617544" y="448702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268810846" name="Полилиния 21"/>
          <p:cNvSpPr/>
          <p:nvPr/>
        </p:nvSpPr>
        <p:spPr bwMode="auto">
          <a:xfrm>
            <a:off x="395287" y="5686826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376353670" name="Овал 2"/>
          <p:cNvSpPr/>
          <p:nvPr/>
        </p:nvSpPr>
        <p:spPr bwMode="auto">
          <a:xfrm>
            <a:off x="5617544" y="9772252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3</a:t>
            </a:r>
            <a:endParaRPr/>
          </a:p>
        </p:txBody>
      </p:sp>
      <p:sp>
        <p:nvSpPr>
          <p:cNvPr id="2005143571" name="TextBox 3"/>
          <p:cNvSpPr txBox="1"/>
          <p:nvPr/>
        </p:nvSpPr>
        <p:spPr bwMode="auto">
          <a:xfrm>
            <a:off x="925084" y="7031009"/>
            <a:ext cx="4721141" cy="29252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Ресурсы, которые реализуют интерфейс AutoCloseable, можно объявлять в круглых скобках оператора try, и они закроются автоматически без явного использования finally.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585725017" name="TextBox 5"/>
          <p:cNvSpPr txBox="1"/>
          <p:nvPr/>
        </p:nvSpPr>
        <p:spPr bwMode="auto">
          <a:xfrm>
            <a:off x="925084" y="6257898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try-with-resources</a:t>
            </a:r>
            <a:endParaRPr/>
          </a:p>
        </p:txBody>
      </p:sp>
      <p:pic>
        <p:nvPicPr>
          <p:cNvPr id="574235381" name="Рисунок 3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849049" y="4718526"/>
            <a:ext cx="571762" cy="571762"/>
          </a:xfrm>
          <a:prstGeom prst="rect">
            <a:avLst/>
          </a:prstGeom>
        </p:spPr>
      </p:pic>
      <p:sp>
        <p:nvSpPr>
          <p:cNvPr id="1576955526" name="Полилиния 22"/>
          <p:cNvSpPr/>
          <p:nvPr/>
        </p:nvSpPr>
        <p:spPr bwMode="auto">
          <a:xfrm>
            <a:off x="6767511" y="5675437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1449909602" name="Полилиния 23"/>
          <p:cNvSpPr/>
          <p:nvPr/>
        </p:nvSpPr>
        <p:spPr bwMode="auto">
          <a:xfrm>
            <a:off x="13176248" y="5675437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807975423" name="Овал 8"/>
          <p:cNvSpPr/>
          <p:nvPr/>
        </p:nvSpPr>
        <p:spPr bwMode="auto">
          <a:xfrm>
            <a:off x="12006645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4</a:t>
            </a:r>
            <a:endParaRPr/>
          </a:p>
        </p:txBody>
      </p:sp>
      <p:sp>
        <p:nvSpPr>
          <p:cNvPr id="1486321658" name="Овал 10"/>
          <p:cNvSpPr/>
          <p:nvPr/>
        </p:nvSpPr>
        <p:spPr bwMode="auto">
          <a:xfrm>
            <a:off x="18373771" y="9747650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5</a:t>
            </a:r>
            <a:endParaRPr/>
          </a:p>
        </p:txBody>
      </p:sp>
      <p:sp>
        <p:nvSpPr>
          <p:cNvPr id="1995869231" name="TextBox 11"/>
          <p:cNvSpPr txBox="1"/>
          <p:nvPr/>
        </p:nvSpPr>
        <p:spPr bwMode="auto">
          <a:xfrm>
            <a:off x="13724508" y="6998839"/>
            <a:ext cx="5127510" cy="3400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Блоков catch может быть больше одного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Разные типы исключений можно перечислить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через вертикальную черту | в одном блоке catch</a:t>
            </a: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  <a:p>
            <a:pPr marL="342900" indent="-342900">
              <a:lnSpc>
                <a:spcPct val="130000"/>
              </a:lnSpc>
              <a:buFont typeface="Arial"/>
              <a:buChar char="•"/>
              <a:defRPr/>
            </a:pPr>
            <a:endParaRPr lang="ru-RU"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678987952" name="TextBox 13"/>
          <p:cNvSpPr txBox="1"/>
          <p:nvPr/>
        </p:nvSpPr>
        <p:spPr bwMode="auto">
          <a:xfrm>
            <a:off x="13724508" y="6225728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Мульти-catch</a:t>
            </a:r>
            <a:endParaRPr/>
          </a:p>
        </p:txBody>
      </p:sp>
      <p:sp>
        <p:nvSpPr>
          <p:cNvPr id="2110227318" name="TextBox 14"/>
          <p:cNvSpPr txBox="1"/>
          <p:nvPr/>
        </p:nvSpPr>
        <p:spPr bwMode="auto">
          <a:xfrm>
            <a:off x="7324796" y="6998839"/>
            <a:ext cx="4772621" cy="1974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Необработанные checked exceptions обязательно нужно указывать в заголовке функции с помощью ключевого слова throws</a:t>
            </a:r>
            <a:endParaRPr/>
          </a:p>
        </p:txBody>
      </p:sp>
      <p:sp>
        <p:nvSpPr>
          <p:cNvPr id="757410726" name="TextBox 15"/>
          <p:cNvSpPr txBox="1"/>
          <p:nvPr/>
        </p:nvSpPr>
        <p:spPr bwMode="auto">
          <a:xfrm>
            <a:off x="7324796" y="6225728"/>
            <a:ext cx="488133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ru-RU"/>
              <a:t>Передача по стеку</a:t>
            </a:r>
            <a:endParaRPr/>
          </a:p>
        </p:txBody>
      </p:sp>
      <p:sp>
        <p:nvSpPr>
          <p:cNvPr id="1002708553" name="Полилиния 24"/>
          <p:cNvSpPr/>
          <p:nvPr/>
        </p:nvSpPr>
        <p:spPr bwMode="auto">
          <a:xfrm>
            <a:off x="6767511" y="408493"/>
            <a:ext cx="6240961" cy="5107687"/>
          </a:xfrm>
          <a:custGeom>
            <a:avLst/>
            <a:gdLst>
              <a:gd name="connsiteX0" fmla="*/ 497569 w 6240962"/>
              <a:gd name="connsiteY0" fmla="*/ 0 h 5107688"/>
              <a:gd name="connsiteX1" fmla="*/ 2953621 w 6240962"/>
              <a:gd name="connsiteY1" fmla="*/ 0 h 5107688"/>
              <a:gd name="connsiteX2" fmla="*/ 3371252 w 6240962"/>
              <a:gd name="connsiteY2" fmla="*/ 0 h 5107688"/>
              <a:gd name="connsiteX3" fmla="*/ 5659478 w 6240962"/>
              <a:gd name="connsiteY3" fmla="*/ 0 h 5107688"/>
              <a:gd name="connsiteX4" fmla="*/ 6240960 w 6240962"/>
              <a:gd name="connsiteY4" fmla="*/ 581482 h 5107688"/>
              <a:gd name="connsiteX5" fmla="*/ 6240960 w 6240962"/>
              <a:gd name="connsiteY5" fmla="*/ 890249 h 5107688"/>
              <a:gd name="connsiteX6" fmla="*/ 6240962 w 6240962"/>
              <a:gd name="connsiteY6" fmla="*/ 890268 h 5107688"/>
              <a:gd name="connsiteX7" fmla="*/ 6240962 w 6240962"/>
              <a:gd name="connsiteY7" fmla="*/ 1749804 h 5107688"/>
              <a:gd name="connsiteX8" fmla="*/ 6240962 w 6240962"/>
              <a:gd name="connsiteY8" fmla="*/ 2459862 h 5107688"/>
              <a:gd name="connsiteX9" fmla="*/ 6240962 w 6240962"/>
              <a:gd name="connsiteY9" fmla="*/ 3319398 h 5107688"/>
              <a:gd name="connsiteX10" fmla="*/ 5646814 w 6240962"/>
              <a:gd name="connsiteY10" fmla="*/ 3912858 h 5107688"/>
              <a:gd name="connsiteX11" fmla="*/ 5052678 w 6240962"/>
              <a:gd name="connsiteY11" fmla="*/ 4508285 h 5107688"/>
              <a:gd name="connsiteX12" fmla="*/ 4454572 w 6240962"/>
              <a:gd name="connsiteY12" fmla="*/ 5107688 h 5107688"/>
              <a:gd name="connsiteX13" fmla="*/ 857223 w 6240962"/>
              <a:gd name="connsiteY13" fmla="*/ 5107688 h 5107688"/>
              <a:gd name="connsiteX14" fmla="*/ 840280 w 6240962"/>
              <a:gd name="connsiteY14" fmla="*/ 5105979 h 5107688"/>
              <a:gd name="connsiteX15" fmla="*/ 497569 w 6240962"/>
              <a:gd name="connsiteY15" fmla="*/ 5105979 h 5107688"/>
              <a:gd name="connsiteX16" fmla="*/ 0 w 6240962"/>
              <a:gd name="connsiteY16" fmla="*/ 4608410 h 5107688"/>
              <a:gd name="connsiteX17" fmla="*/ 0 w 6240962"/>
              <a:gd name="connsiteY17" fmla="*/ 3748874 h 5107688"/>
              <a:gd name="connsiteX18" fmla="*/ 0 w 6240962"/>
              <a:gd name="connsiteY18" fmla="*/ 1357105 h 5107688"/>
              <a:gd name="connsiteX19" fmla="*/ 0 w 6240962"/>
              <a:gd name="connsiteY19" fmla="*/ 497569 h 5107688"/>
              <a:gd name="connsiteX20" fmla="*/ 497569 w 6240962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2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8" y="0"/>
                </a:lnTo>
                <a:cubicBezTo>
                  <a:pt x="5980622" y="0"/>
                  <a:pt x="6240960" y="260338"/>
                  <a:pt x="6240960" y="581482"/>
                </a:cubicBezTo>
                <a:lnTo>
                  <a:pt x="6240960" y="890249"/>
                </a:lnTo>
                <a:lnTo>
                  <a:pt x="6240962" y="890268"/>
                </a:lnTo>
                <a:lnTo>
                  <a:pt x="6240962" y="1749804"/>
                </a:lnTo>
                <a:lnTo>
                  <a:pt x="6240962" y="2459862"/>
                </a:lnTo>
                <a:lnTo>
                  <a:pt x="6240962" y="3319398"/>
                </a:lnTo>
                <a:cubicBezTo>
                  <a:pt x="6240962" y="3647163"/>
                  <a:pt x="5974948" y="3912858"/>
                  <a:pt x="5646814" y="3912858"/>
                </a:cubicBezTo>
                <a:cubicBezTo>
                  <a:pt x="5318682" y="3912858"/>
                  <a:pt x="5052678" y="4180531"/>
                  <a:pt x="5052678" y="4508285"/>
                </a:cubicBezTo>
                <a:cubicBezTo>
                  <a:pt x="5052678" y="4838233"/>
                  <a:pt x="4784892" y="5107688"/>
                  <a:pt x="4454572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780689223" name="Полилиния 27"/>
          <p:cNvSpPr/>
          <p:nvPr/>
        </p:nvSpPr>
        <p:spPr bwMode="auto">
          <a:xfrm>
            <a:off x="13176248" y="408493"/>
            <a:ext cx="6240962" cy="5107687"/>
          </a:xfrm>
          <a:custGeom>
            <a:avLst/>
            <a:gdLst>
              <a:gd name="connsiteX0" fmla="*/ 497569 w 6240963"/>
              <a:gd name="connsiteY0" fmla="*/ 0 h 5107688"/>
              <a:gd name="connsiteX1" fmla="*/ 2953621 w 6240963"/>
              <a:gd name="connsiteY1" fmla="*/ 0 h 5107688"/>
              <a:gd name="connsiteX2" fmla="*/ 3371252 w 6240963"/>
              <a:gd name="connsiteY2" fmla="*/ 0 h 5107688"/>
              <a:gd name="connsiteX3" fmla="*/ 5659479 w 6240963"/>
              <a:gd name="connsiteY3" fmla="*/ 0 h 5107688"/>
              <a:gd name="connsiteX4" fmla="*/ 6240959 w 6240963"/>
              <a:gd name="connsiteY4" fmla="*/ 581482 h 5107688"/>
              <a:gd name="connsiteX5" fmla="*/ 6240959 w 6240963"/>
              <a:gd name="connsiteY5" fmla="*/ 890249 h 5107688"/>
              <a:gd name="connsiteX6" fmla="*/ 6240963 w 6240963"/>
              <a:gd name="connsiteY6" fmla="*/ 890268 h 5107688"/>
              <a:gd name="connsiteX7" fmla="*/ 6240963 w 6240963"/>
              <a:gd name="connsiteY7" fmla="*/ 1749804 h 5107688"/>
              <a:gd name="connsiteX8" fmla="*/ 6240963 w 6240963"/>
              <a:gd name="connsiteY8" fmla="*/ 2459862 h 5107688"/>
              <a:gd name="connsiteX9" fmla="*/ 6240963 w 6240963"/>
              <a:gd name="connsiteY9" fmla="*/ 3319398 h 5107688"/>
              <a:gd name="connsiteX10" fmla="*/ 5646815 w 6240963"/>
              <a:gd name="connsiteY10" fmla="*/ 3912858 h 5107688"/>
              <a:gd name="connsiteX11" fmla="*/ 5052679 w 6240963"/>
              <a:gd name="connsiteY11" fmla="*/ 4508285 h 5107688"/>
              <a:gd name="connsiteX12" fmla="*/ 4454571 w 6240963"/>
              <a:gd name="connsiteY12" fmla="*/ 5107688 h 5107688"/>
              <a:gd name="connsiteX13" fmla="*/ 857223 w 6240963"/>
              <a:gd name="connsiteY13" fmla="*/ 5107688 h 5107688"/>
              <a:gd name="connsiteX14" fmla="*/ 840280 w 6240963"/>
              <a:gd name="connsiteY14" fmla="*/ 5105979 h 5107688"/>
              <a:gd name="connsiteX15" fmla="*/ 497569 w 6240963"/>
              <a:gd name="connsiteY15" fmla="*/ 5105979 h 5107688"/>
              <a:gd name="connsiteX16" fmla="*/ 0 w 6240963"/>
              <a:gd name="connsiteY16" fmla="*/ 4608410 h 5107688"/>
              <a:gd name="connsiteX17" fmla="*/ 0 w 6240963"/>
              <a:gd name="connsiteY17" fmla="*/ 3748874 h 5107688"/>
              <a:gd name="connsiteX18" fmla="*/ 0 w 6240963"/>
              <a:gd name="connsiteY18" fmla="*/ 1357105 h 5107688"/>
              <a:gd name="connsiteX19" fmla="*/ 0 w 6240963"/>
              <a:gd name="connsiteY19" fmla="*/ 497569 h 5107688"/>
              <a:gd name="connsiteX20" fmla="*/ 497569 w 6240963"/>
              <a:gd name="connsiteY20" fmla="*/ 0 h 510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40963" h="5107688" extrusionOk="0">
                <a:moveTo>
                  <a:pt x="497569" y="0"/>
                </a:moveTo>
                <a:lnTo>
                  <a:pt x="2953621" y="0"/>
                </a:lnTo>
                <a:lnTo>
                  <a:pt x="3371252" y="0"/>
                </a:lnTo>
                <a:lnTo>
                  <a:pt x="5659479" y="0"/>
                </a:lnTo>
                <a:cubicBezTo>
                  <a:pt x="5980623" y="0"/>
                  <a:pt x="6240959" y="260338"/>
                  <a:pt x="6240959" y="581482"/>
                </a:cubicBezTo>
                <a:lnTo>
                  <a:pt x="6240959" y="890249"/>
                </a:lnTo>
                <a:lnTo>
                  <a:pt x="6240963" y="890268"/>
                </a:lnTo>
                <a:lnTo>
                  <a:pt x="6240963" y="1749804"/>
                </a:lnTo>
                <a:lnTo>
                  <a:pt x="6240963" y="2459862"/>
                </a:lnTo>
                <a:lnTo>
                  <a:pt x="6240963" y="3319398"/>
                </a:lnTo>
                <a:cubicBezTo>
                  <a:pt x="6240963" y="3647163"/>
                  <a:pt x="5974947" y="3912858"/>
                  <a:pt x="5646815" y="3912858"/>
                </a:cubicBezTo>
                <a:cubicBezTo>
                  <a:pt x="5318683" y="3912858"/>
                  <a:pt x="5052679" y="4180531"/>
                  <a:pt x="5052679" y="4508285"/>
                </a:cubicBezTo>
                <a:cubicBezTo>
                  <a:pt x="5052679" y="4838233"/>
                  <a:pt x="4784891" y="5107688"/>
                  <a:pt x="4454571" y="5107688"/>
                </a:cubicBezTo>
                <a:lnTo>
                  <a:pt x="857223" y="5107688"/>
                </a:lnTo>
                <a:lnTo>
                  <a:pt x="840280" y="5105979"/>
                </a:lnTo>
                <a:lnTo>
                  <a:pt x="497569" y="5105979"/>
                </a:lnTo>
                <a:cubicBezTo>
                  <a:pt x="222769" y="5105979"/>
                  <a:pt x="0" y="4883210"/>
                  <a:pt x="0" y="4608410"/>
                </a:cubicBezTo>
                <a:lnTo>
                  <a:pt x="0" y="3748874"/>
                </a:lnTo>
                <a:lnTo>
                  <a:pt x="0" y="1357105"/>
                </a:lnTo>
                <a:lnTo>
                  <a:pt x="0" y="497569"/>
                </a:lnTo>
                <a:cubicBezTo>
                  <a:pt x="0" y="222769"/>
                  <a:pt x="222769" y="0"/>
                  <a:pt x="497569" y="0"/>
                </a:cubicBezTo>
                <a:close/>
              </a:path>
            </a:pathLst>
          </a:custGeom>
          <a:solidFill>
            <a:srgbClr val="F2F2F2"/>
          </a:solidFill>
          <a:ln w="12700" cap="flat">
            <a:noFill/>
            <a:prstDash val="solid"/>
            <a:miter lim="800000"/>
          </a:ln>
          <a:effectLst>
            <a:innerShdw blurRad="381000">
              <a:schemeClr val="accent3">
                <a:alpha val="30000"/>
              </a:schemeClr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defTabSz="457200">
              <a:defRPr/>
            </a:pPr>
            <a:endParaRPr lang="ru-RU" sz="1800">
              <a:latin typeface="T-Sans"/>
              <a:ea typeface="T-Sans"/>
            </a:endParaRPr>
          </a:p>
        </p:txBody>
      </p:sp>
      <p:sp>
        <p:nvSpPr>
          <p:cNvPr id="2052139070" name="Овал 28"/>
          <p:cNvSpPr/>
          <p:nvPr/>
        </p:nvSpPr>
        <p:spPr bwMode="auto">
          <a:xfrm>
            <a:off x="12006645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1</a:t>
            </a:r>
            <a:endParaRPr/>
          </a:p>
        </p:txBody>
      </p:sp>
      <p:sp>
        <p:nvSpPr>
          <p:cNvPr id="2078784760" name="Овал 29"/>
          <p:cNvSpPr/>
          <p:nvPr/>
        </p:nvSpPr>
        <p:spPr bwMode="auto">
          <a:xfrm>
            <a:off x="18373771" y="4480706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r>
              <a:rPr lang="ru-RU" sz="3600">
                <a:solidFill>
                  <a:schemeClr val="accent2"/>
                </a:solidFill>
                <a:latin typeface="T-Sans Medium"/>
                <a:ea typeface="T-Sans Medium"/>
              </a:rPr>
              <a:t>2</a:t>
            </a:r>
            <a:endParaRPr/>
          </a:p>
        </p:txBody>
      </p:sp>
      <p:sp>
        <p:nvSpPr>
          <p:cNvPr id="647573306" name="TextBox 37"/>
          <p:cNvSpPr txBox="1"/>
          <p:nvPr/>
        </p:nvSpPr>
        <p:spPr bwMode="auto">
          <a:xfrm>
            <a:off x="13724508" y="1731895"/>
            <a:ext cx="4724741" cy="1974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Компонент finally идет после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INKOFFSANS-MEDIUM"/>
                <a:ea typeface="TINKOFFSANS-MEDIUM"/>
                <a:cs typeface="TINKOFFSANS-MEDIUM"/>
              </a:rPr>
              <a:t>try-catch и срабатывает независимо от того, произошла ошибка или нет</a:t>
            </a:r>
            <a:endParaRPr>
              <a:solidFill>
                <a:schemeClr val="bg1"/>
              </a:solidFill>
              <a:latin typeface="TINKOFFSANS-MEDIUM"/>
              <a:ea typeface="TINKOFFSANS-MEDIUM"/>
              <a:cs typeface="TINKOFFSANS-MEDIUM"/>
            </a:endParaRPr>
          </a:p>
        </p:txBody>
      </p:sp>
      <p:sp>
        <p:nvSpPr>
          <p:cNvPr id="144889153" name="TextBox 38"/>
          <p:cNvSpPr txBox="1"/>
          <p:nvPr/>
        </p:nvSpPr>
        <p:spPr bwMode="auto">
          <a:xfrm>
            <a:off x="13724508" y="958784"/>
            <a:ext cx="488205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/>
              <a:t>finally</a:t>
            </a:r>
            <a:endParaRPr lang="ru-RU"/>
          </a:p>
        </p:txBody>
      </p:sp>
      <p:sp>
        <p:nvSpPr>
          <p:cNvPr id="364076849" name="TextBox 39"/>
          <p:cNvSpPr txBox="1"/>
          <p:nvPr/>
        </p:nvSpPr>
        <p:spPr bwMode="auto">
          <a:xfrm>
            <a:off x="7324796" y="1731895"/>
            <a:ext cx="4781260" cy="2510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/>
              <a:t>Блоки catch служат для обработки указанных типов ошибок.</a:t>
            </a:r>
            <a:br>
              <a:rPr lang="ru-RU"/>
            </a:br>
            <a:r>
              <a:rPr lang="ru-RU"/>
              <a:t>Не перехваченные ошибки передаются выше по стеку, вплоть до остановки программы</a:t>
            </a:r>
          </a:p>
        </p:txBody>
      </p:sp>
      <p:sp>
        <p:nvSpPr>
          <p:cNvPr id="696307257" name="TextBox 40"/>
          <p:cNvSpPr txBox="1"/>
          <p:nvPr/>
        </p:nvSpPr>
        <p:spPr bwMode="auto">
          <a:xfrm>
            <a:off x="7324796" y="958784"/>
            <a:ext cx="4875571" cy="5661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3600">
                <a:solidFill>
                  <a:schemeClr val="accent2"/>
                </a:solidFill>
                <a:latin typeface="T-Sans Medium"/>
                <a:ea typeface="T-Sans"/>
              </a:defRPr>
            </a:lvl1pPr>
          </a:lstStyle>
          <a:p>
            <a:pPr>
              <a:defRPr/>
            </a:pPr>
            <a:r>
              <a:rPr lang="en-US" sz="36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 Medium"/>
                <a:ea typeface="T-Sans Medium"/>
                <a:cs typeface="T-Sans Medium"/>
              </a:rPr>
              <a:t>try-catch</a:t>
            </a:r>
            <a:endParaRPr lang="ru-RU"/>
          </a:p>
        </p:txBody>
      </p:sp>
      <p:sp>
        <p:nvSpPr>
          <p:cNvPr id="1814233239" name="TextBox 44"/>
          <p:cNvSpPr txBox="1"/>
          <p:nvPr/>
        </p:nvSpPr>
        <p:spPr bwMode="auto">
          <a:xfrm>
            <a:off x="611187" y="1085445"/>
            <a:ext cx="5816824" cy="6088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80000"/>
              </a:lnSpc>
              <a:defRPr sz="7200" b="1">
                <a:solidFill>
                  <a:schemeClr val="accent6"/>
                </a:solidFill>
                <a:latin typeface="T-Sans"/>
                <a:ea typeface="T-Sans"/>
              </a:defRPr>
            </a:lvl1pPr>
          </a:lstStyle>
          <a:p>
            <a:pPr>
              <a:defRPr/>
            </a:pPr>
            <a:r>
              <a:rPr lang="ru-RU" sz="4400" b="0">
                <a:solidFill>
                  <a:srgbClr val="0A0A0A"/>
                </a:solidFill>
                <a:latin typeface="T-Sans"/>
              </a:rPr>
              <a:t>Обработка исключений</a:t>
            </a:r>
            <a:endParaRPr lang="ru-RU" sz="44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10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 bwMode="auto">
          <a:xfrm>
            <a:off x="1366837" y="1366837"/>
            <a:ext cx="16665135" cy="1059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7200" b="0">
                <a:solidFill>
                  <a:schemeClr val="accent6"/>
                </a:solidFill>
                <a:latin typeface="T-Sans"/>
                <a:ea typeface="T-Sans"/>
              </a:rPr>
              <a:t>Создание собственных исключений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9928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DD54C234-0742-4F99-981E-55CE8638AF0C}" type="slidenum">
              <a:rPr lang="ru-RU"/>
              <a:t>11</a:t>
            </a:fld>
            <a:endParaRPr lang="ru-RU"/>
          </a:p>
        </p:txBody>
      </p:sp>
      <p:sp>
        <p:nvSpPr>
          <p:cNvPr id="281906555" name="TextBox 22"/>
          <p:cNvSpPr txBox="1"/>
          <p:nvPr/>
        </p:nvSpPr>
        <p:spPr bwMode="auto">
          <a:xfrm>
            <a:off x="611187" y="598304"/>
            <a:ext cx="6595200" cy="171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b="0">
                <a:latin typeface="T-Sans"/>
                <a:ea typeface="T-Sans"/>
              </a:rPr>
              <a:t>Создание исключения</a:t>
            </a:r>
          </a:p>
        </p:txBody>
      </p:sp>
      <p:grpSp>
        <p:nvGrpSpPr>
          <p:cNvPr id="179821033" name="Группа 1"/>
          <p:cNvGrpSpPr/>
          <p:nvPr/>
        </p:nvGrpSpPr>
        <p:grpSpPr bwMode="auto">
          <a:xfrm>
            <a:off x="7477169" y="647699"/>
            <a:ext cx="11448000" cy="9864725"/>
            <a:chOff x="7477169" y="647699"/>
            <a:chExt cx="11448000" cy="9864725"/>
          </a:xfrm>
        </p:grpSpPr>
        <p:sp>
          <p:nvSpPr>
            <p:cNvPr id="1988160832" name="Скругленный прямоугольник 3"/>
            <p:cNvSpPr/>
            <p:nvPr/>
          </p:nvSpPr>
          <p:spPr bwMode="auto">
            <a:xfrm>
              <a:off x="7477169" y="647699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903021874" name="Овал 4"/>
            <p:cNvSpPr>
              <a:spLocks noChangeAspect="1"/>
            </p:cNvSpPr>
            <p:nvPr/>
          </p:nvSpPr>
          <p:spPr bwMode="auto">
            <a:xfrm>
              <a:off x="7731100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261389922" name="Овал 9"/>
            <p:cNvSpPr>
              <a:spLocks noChangeAspect="1"/>
            </p:cNvSpPr>
            <p:nvPr/>
          </p:nvSpPr>
          <p:spPr bwMode="auto">
            <a:xfrm>
              <a:off x="799005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496363123" name="Овал 10"/>
            <p:cNvSpPr>
              <a:spLocks noChangeAspect="1"/>
            </p:cNvSpPr>
            <p:nvPr/>
          </p:nvSpPr>
          <p:spPr bwMode="auto">
            <a:xfrm>
              <a:off x="824900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414244095" name="Скругленный прямоугольник 11"/>
            <p:cNvSpPr/>
            <p:nvPr/>
          </p:nvSpPr>
          <p:spPr bwMode="auto">
            <a:xfrm>
              <a:off x="7621169" y="1245508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512999207" name="TextBox 12"/>
          <p:cNvSpPr txBox="1"/>
          <p:nvPr/>
        </p:nvSpPr>
        <p:spPr bwMode="auto">
          <a:xfrm>
            <a:off x="622607" y="2662586"/>
            <a:ext cx="6626619" cy="1279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Создаем класс-наследник от Exception, RuntimeException или любого их наследника.</a:t>
            </a:r>
            <a:br>
              <a:rPr lang="ru-RU">
                <a:latin typeface="T-Sans"/>
                <a:ea typeface="T-Sans"/>
              </a:rPr>
            </a:br>
            <a:r>
              <a:rPr lang="ru-RU" b="1" i="0" u="sng">
                <a:latin typeface="T-Sans"/>
                <a:ea typeface="T-Sans"/>
              </a:rPr>
              <a:t>Почему выбрали RuntimeException?</a:t>
            </a:r>
            <a:endParaRPr b="1" i="0">
              <a:latin typeface="T-Sans"/>
              <a:ea typeface="T-Sans"/>
            </a:endParaRPr>
          </a:p>
        </p:txBody>
      </p:sp>
      <p:sp>
        <p:nvSpPr>
          <p:cNvPr id="1187825117" name="TextBox 5"/>
          <p:cNvSpPr txBox="1"/>
          <p:nvPr/>
        </p:nvSpPr>
        <p:spPr bwMode="auto">
          <a:xfrm>
            <a:off x="757309" y="8351072"/>
            <a:ext cx="6594579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Собственные методы тоже разрешены</a:t>
            </a:r>
          </a:p>
        </p:txBody>
      </p:sp>
      <p:sp>
        <p:nvSpPr>
          <p:cNvPr id="536088800" name="TextBox 7"/>
          <p:cNvSpPr txBox="1"/>
          <p:nvPr/>
        </p:nvSpPr>
        <p:spPr bwMode="auto">
          <a:xfrm>
            <a:off x="8071102" y="1836966"/>
            <a:ext cx="6619059" cy="87703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Создаем собственное исключение, если нужно выделить отдельную логику обработки</a:t>
            </a:r>
            <a:endParaRPr/>
          </a:p>
        </p:txBody>
      </p:sp>
      <p:pic>
        <p:nvPicPr>
          <p:cNvPr id="1857590370" name="Picture 185759036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071102" y="3403419"/>
            <a:ext cx="10310141" cy="5613817"/>
          </a:xfrm>
          <a:prstGeom prst="rect">
            <a:avLst/>
          </a:prstGeom>
        </p:spPr>
      </p:pic>
      <p:sp>
        <p:nvSpPr>
          <p:cNvPr id="103991212" name="TextBox 12"/>
          <p:cNvSpPr txBox="1"/>
          <p:nvPr/>
        </p:nvSpPr>
        <p:spPr bwMode="auto">
          <a:xfrm>
            <a:off x="578327" y="4155541"/>
            <a:ext cx="6627698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Можно объявлять собственные поля</a:t>
            </a:r>
          </a:p>
        </p:txBody>
      </p:sp>
      <p:sp>
        <p:nvSpPr>
          <p:cNvPr id="1896622750" name="TextBox 12"/>
          <p:cNvSpPr txBox="1"/>
          <p:nvPr/>
        </p:nvSpPr>
        <p:spPr bwMode="auto">
          <a:xfrm>
            <a:off x="578327" y="5257332"/>
            <a:ext cx="6643898" cy="474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Обязательно нужен хотя бы один конструктор</a:t>
            </a:r>
          </a:p>
        </p:txBody>
      </p:sp>
      <p:sp>
        <p:nvSpPr>
          <p:cNvPr id="1798530321" name="TextBox 12"/>
          <p:cNvSpPr txBox="1"/>
          <p:nvPr/>
        </p:nvSpPr>
        <p:spPr bwMode="auto">
          <a:xfrm>
            <a:off x="689991" y="6540174"/>
            <a:ext cx="6702937" cy="1279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Можно обернуть другое исключение в доменное исключение, не потеряв первоначальную причину </a:t>
            </a:r>
            <a:r>
              <a:rPr lang="en-US">
                <a:latin typeface="T-Sans"/>
                <a:ea typeface="T-Sans"/>
              </a:rPr>
              <a:t>(exception chaining)</a:t>
            </a:r>
            <a:endParaRPr lang="ru-RU">
              <a:latin typeface="T-Sans"/>
              <a:ea typeface="T-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5388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564EED96-EFF0-722B-5954-86203D3AE6DE}" type="slidenum">
              <a:rPr lang="ru-RU"/>
              <a:t>12</a:t>
            </a:fld>
            <a:endParaRPr lang="ru-RU"/>
          </a:p>
        </p:txBody>
      </p:sp>
      <p:pic>
        <p:nvPicPr>
          <p:cNvPr id="141143873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215201" y="428482"/>
            <a:ext cx="9193213" cy="9193212"/>
          </a:xfrm>
          <a:prstGeom prst="rect">
            <a:avLst/>
          </a:prstGeom>
        </p:spPr>
      </p:pic>
      <p:sp>
        <p:nvSpPr>
          <p:cNvPr id="1451889586" name="TextBox 1451889585"/>
          <p:cNvSpPr txBox="1"/>
          <p:nvPr/>
        </p:nvSpPr>
        <p:spPr bwMode="auto">
          <a:xfrm>
            <a:off x="1493892" y="1617286"/>
            <a:ext cx="9820560" cy="44809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Добавим собственное исключение </a:t>
            </a:r>
            <a:b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и научим программу </a:t>
            </a:r>
            <a:b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</a:br>
            <a:r>
              <a:rPr lang="ru-RU" sz="7200" b="0" i="0" u="none">
                <a:solidFill>
                  <a:schemeClr val="accent6"/>
                </a:solidFill>
                <a:latin typeface="T-Sans"/>
                <a:ea typeface="T-Sans"/>
                <a:cs typeface="T-Sans"/>
              </a:rPr>
              <a:t>его обрабатывать</a:t>
            </a:r>
            <a:endParaRPr lang="ru-RU" sz="12000" b="0" i="0" u="none">
              <a:solidFill>
                <a:schemeClr val="accent6"/>
              </a:solidFill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92907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A18816C2-A944-6890-BE04-DD1FB486EAEA}" type="slidenum">
              <a:rPr lang="ru-RU"/>
              <a:t>13</a:t>
            </a:fld>
            <a:endParaRPr lang="ru-RU"/>
          </a:p>
        </p:txBody>
      </p:sp>
      <p:sp>
        <p:nvSpPr>
          <p:cNvPr id="1597092664" name="TextBox 2"/>
          <p:cNvSpPr txBox="1"/>
          <p:nvPr/>
        </p:nvSpPr>
        <p:spPr bwMode="auto">
          <a:xfrm>
            <a:off x="1366837" y="1366837"/>
            <a:ext cx="16674135" cy="105991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7200" b="0">
                <a:solidFill>
                  <a:schemeClr val="accent6"/>
                </a:solidFill>
                <a:latin typeface="T-Sans"/>
                <a:ea typeface="T-Sans"/>
              </a:rPr>
              <a:t>try-with-resources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255515" name="TextBox 2"/>
          <p:cNvSpPr txBox="1"/>
          <p:nvPr/>
        </p:nvSpPr>
        <p:spPr bwMode="auto">
          <a:xfrm>
            <a:off x="611187" y="556965"/>
            <a:ext cx="5879259" cy="15165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5400" b="0">
                <a:latin typeface="T-Sans"/>
                <a:ea typeface="T-Sans"/>
              </a:rPr>
              <a:t>Как было раньше</a:t>
            </a:r>
            <a:endParaRPr/>
          </a:p>
          <a:p>
            <a:pPr>
              <a:defRPr/>
            </a:pPr>
            <a:r>
              <a:rPr lang="ru-RU" sz="5400" b="0">
                <a:latin typeface="T-Sans"/>
                <a:ea typeface="T-Sans"/>
              </a:rPr>
              <a:t>И как сейчас</a:t>
            </a:r>
            <a:endParaRPr/>
          </a:p>
        </p:txBody>
      </p:sp>
      <p:sp>
        <p:nvSpPr>
          <p:cNvPr id="1325145201" name="TextBox 4"/>
          <p:cNvSpPr txBox="1"/>
          <p:nvPr/>
        </p:nvSpPr>
        <p:spPr bwMode="auto">
          <a:xfrm>
            <a:off x="611187" y="3743325"/>
            <a:ext cx="4768301" cy="3912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 lang="ru-RU">
                <a:latin typeface="T-Sans"/>
                <a:ea typeface="T-Sans"/>
              </a:rPr>
              <a:t>До введения синтаксического сахара в </a:t>
            </a:r>
            <a:r>
              <a:rPr lang="en-US">
                <a:latin typeface="T-Sans"/>
                <a:ea typeface="T-Sans"/>
              </a:rPr>
              <a:t>Java 1.7 </a:t>
            </a:r>
            <a:r>
              <a:rPr lang="ru-RU">
                <a:latin typeface="T-Sans"/>
                <a:ea typeface="T-Sans"/>
              </a:rPr>
              <a:t>можно было использовать только try-catch-finally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>
              <a:latin typeface="T-Sans"/>
              <a:ea typeface="T-Sans"/>
            </a:endParaRPr>
          </a:p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Разница не только в компактности: ручной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finally можно 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написать с ошибкой, а try-with-resources синтаксически не позволяет забыть про </a:t>
            </a:r>
            <a:r>
              <a:rPr lang="ru-RU" sz="2400" b="0" i="1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close()</a:t>
            </a:r>
            <a:r>
              <a:rPr lang="ru-RU" sz="2400" b="0" i="0" u="none" strike="noStrike" cap="none" spc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T-Sans"/>
                <a:ea typeface="T-Sans"/>
                <a:cs typeface="T-Sans"/>
              </a:rPr>
              <a:t>. </a:t>
            </a:r>
            <a:endParaRPr sz="2400" b="0" i="0" u="none" strike="noStrike" cap="none" spc="0">
              <a:ln>
                <a:noFill/>
              </a:ln>
              <a:solidFill>
                <a:schemeClr val="tx2">
                  <a:lumMod val="75000"/>
                </a:schemeClr>
              </a:solidFill>
              <a:latin typeface="T-Sans"/>
              <a:cs typeface="T-Sans"/>
            </a:endParaRPr>
          </a:p>
        </p:txBody>
      </p:sp>
      <p:sp>
        <p:nvSpPr>
          <p:cNvPr id="780507645" name="TextBox 7"/>
          <p:cNvSpPr txBox="1"/>
          <p:nvPr/>
        </p:nvSpPr>
        <p:spPr bwMode="auto">
          <a:xfrm>
            <a:off x="7165607" y="5466774"/>
            <a:ext cx="5097600" cy="226691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 lang="ru-RU" sz="2400">
                <a:solidFill>
                  <a:schemeClr val="bg1"/>
                </a:solidFill>
                <a:latin typeface="T-Sans"/>
                <a:ea typeface="T-Sans"/>
              </a:rPr>
              <a:t>Приходится писать дополнительный блок finally</a:t>
            </a:r>
            <a:endParaRPr sz="2400"/>
          </a:p>
          <a:p>
            <a:pPr>
              <a:lnSpc>
                <a:spcPct val="100000"/>
              </a:lnSpc>
              <a:defRPr/>
            </a:pPr>
            <a:endParaRPr sz="2400">
              <a:solidFill>
                <a:schemeClr val="bg1"/>
              </a:solidFill>
              <a:latin typeface="T-Sans"/>
              <a:ea typeface="T-Sans"/>
            </a:endParaRPr>
          </a:p>
          <a:p>
            <a:pPr>
              <a:lnSpc>
                <a:spcPct val="100000"/>
              </a:lnSpc>
              <a:defRPr/>
            </a:pPr>
            <a:r>
              <a:rPr lang="ru-RU" sz="2400">
                <a:solidFill>
                  <a:schemeClr val="bg1"/>
                </a:solidFill>
                <a:latin typeface="T-Sans"/>
                <a:ea typeface="T-Sans"/>
              </a:rPr>
              <a:t>Если нам нужно обработать ошибки close(), то потребуется обернуть код дополнительным блоком try-catch </a:t>
            </a:r>
            <a:endParaRPr sz="2400">
              <a:solidFill>
                <a:schemeClr val="bg1"/>
              </a:solidFill>
              <a:latin typeface="T-Sans"/>
              <a:ea typeface="T-Sans"/>
            </a:endParaRPr>
          </a:p>
        </p:txBody>
      </p:sp>
      <p:sp>
        <p:nvSpPr>
          <p:cNvPr id="142044660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D779A56A-A6BA-727E-5198-BC17EFD29EC9}" type="slidenum">
              <a:rPr lang="ru-RU"/>
              <a:t>14</a:t>
            </a:fld>
            <a:endParaRPr lang="ru-RU"/>
          </a:p>
        </p:txBody>
      </p:sp>
      <p:sp>
        <p:nvSpPr>
          <p:cNvPr id="2014015073" name="TextBox 3"/>
          <p:cNvSpPr txBox="1"/>
          <p:nvPr/>
        </p:nvSpPr>
        <p:spPr bwMode="auto">
          <a:xfrm>
            <a:off x="7359459" y="1107389"/>
            <a:ext cx="5025348" cy="554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2800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3600">
                <a:latin typeface="T-Sans Medium"/>
                <a:ea typeface="T-Sans"/>
              </a:rPr>
              <a:t>Java &lt; 1.7</a:t>
            </a:r>
            <a:endParaRPr lang="ru-RU" sz="3600">
              <a:latin typeface="T-Sans Medium"/>
              <a:ea typeface="T-Sans"/>
            </a:endParaRPr>
          </a:p>
        </p:txBody>
      </p:sp>
      <p:sp>
        <p:nvSpPr>
          <p:cNvPr id="102297744" name="TextBox 5"/>
          <p:cNvSpPr txBox="1"/>
          <p:nvPr/>
        </p:nvSpPr>
        <p:spPr bwMode="auto">
          <a:xfrm>
            <a:off x="13668819" y="1107569"/>
            <a:ext cx="5053647" cy="554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2800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sz="3600">
                <a:solidFill>
                  <a:schemeClr val="bg1"/>
                </a:solidFill>
                <a:latin typeface="T-Sans Medium"/>
                <a:ea typeface="T-Sans"/>
              </a:rPr>
              <a:t>Java </a:t>
            </a:r>
            <a:r>
              <a:rPr lang="en-US" sz="3600" b="0" i="0" u="none" strike="noStrike" cap="none" spc="0">
                <a:ln>
                  <a:noFill/>
                </a:ln>
                <a:solidFill>
                  <a:schemeClr val="bg1"/>
                </a:solidFill>
                <a:latin typeface="T-Sans Medium"/>
                <a:ea typeface="T-Sans Medium"/>
                <a:cs typeface="T-Sans Medium"/>
              </a:rPr>
              <a:t>≥</a:t>
            </a:r>
            <a:r>
              <a:rPr lang="en-US" sz="3600">
                <a:solidFill>
                  <a:schemeClr val="bg1"/>
                </a:solidFill>
                <a:latin typeface="T-Sans Medium"/>
                <a:ea typeface="T-Sans"/>
              </a:rPr>
              <a:t> 1.7</a:t>
            </a:r>
            <a:endParaRPr lang="ru-RU" sz="3600">
              <a:solidFill>
                <a:schemeClr val="bg1"/>
              </a:solidFill>
              <a:latin typeface="T-Sans Medium"/>
              <a:ea typeface="T-Sans"/>
            </a:endParaRPr>
          </a:p>
        </p:txBody>
      </p:sp>
      <p:sp>
        <p:nvSpPr>
          <p:cNvPr id="1629998821" name="TextBox 15"/>
          <p:cNvSpPr txBox="1"/>
          <p:nvPr/>
        </p:nvSpPr>
        <p:spPr bwMode="auto">
          <a:xfrm>
            <a:off x="13489281" y="5527733"/>
            <a:ext cx="5054400" cy="22059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199"/>
              </a:lnSpc>
              <a:defRPr sz="2400">
                <a:solidFill>
                  <a:schemeClr val="accent2"/>
                </a:solidFill>
                <a:latin typeface="TINKOFFSANS-MEDIUM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defRPr/>
            </a:pPr>
            <a:r>
              <a:rPr>
                <a:latin typeface="T-Sans"/>
                <a:ea typeface="T-Sans"/>
                <a:cs typeface="T-Sans"/>
              </a:rPr>
              <a:t>Код стал компактнее</a:t>
            </a:r>
            <a:br>
              <a:rPr>
                <a:latin typeface="T-Sans"/>
                <a:ea typeface="T-Sans"/>
                <a:cs typeface="T-Sans"/>
              </a:rPr>
            </a:br>
            <a:br>
              <a:rPr>
                <a:latin typeface="T-Sans"/>
                <a:ea typeface="T-Sans"/>
                <a:cs typeface="T-Sans"/>
              </a:rPr>
            </a:br>
            <a:r>
              <a:rPr lang="en-US" sz="24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"/>
                <a:ea typeface="T-Sans"/>
                <a:cs typeface="T-Sans"/>
              </a:rPr>
              <a:t>Блок catch перехватит как ошибки, возникшие в try, так и возникшие при close()</a:t>
            </a:r>
            <a:endParaRPr>
              <a:latin typeface="T-Sans"/>
              <a:ea typeface="T-Sans"/>
              <a:cs typeface="T-Sans"/>
            </a:endParaRPr>
          </a:p>
          <a:p>
            <a:pPr>
              <a:lnSpc>
                <a:spcPct val="100000"/>
              </a:lnSpc>
              <a:defRPr/>
            </a:pPr>
            <a:r>
              <a:rPr lang="ru-RU" sz="2000">
                <a:solidFill>
                  <a:schemeClr val="bg1"/>
                </a:solidFill>
                <a:latin typeface="T-Sans"/>
                <a:ea typeface="T-Sans"/>
                <a:cs typeface="T-Sans"/>
              </a:rPr>
              <a:t> </a:t>
            </a:r>
            <a:endParaRPr sz="2000">
              <a:solidFill>
                <a:schemeClr val="bg1"/>
              </a:solidFill>
              <a:latin typeface="T-Sans"/>
              <a:ea typeface="T-Sans"/>
              <a:cs typeface="T-Sans"/>
            </a:endParaRPr>
          </a:p>
        </p:txBody>
      </p:sp>
      <p:pic>
        <p:nvPicPr>
          <p:cNvPr id="409591196" name="Рисунок 1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43775" y="8439249"/>
            <a:ext cx="2088982" cy="2006415"/>
          </a:xfrm>
          <a:prstGeom prst="rect">
            <a:avLst/>
          </a:prstGeom>
        </p:spPr>
      </p:pic>
      <p:pic>
        <p:nvPicPr>
          <p:cNvPr id="386643639" name="Рисунок 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68819" y="8439248"/>
            <a:ext cx="2088982" cy="2006415"/>
          </a:xfrm>
          <a:prstGeom prst="rect">
            <a:avLst/>
          </a:prstGeom>
        </p:spPr>
      </p:pic>
      <p:pic>
        <p:nvPicPr>
          <p:cNvPr id="789354260" name="Picture 78935425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53802" y="2804583"/>
            <a:ext cx="5412724" cy="2080804"/>
          </a:xfrm>
          <a:prstGeom prst="rect">
            <a:avLst/>
          </a:prstGeom>
        </p:spPr>
      </p:pic>
      <p:pic>
        <p:nvPicPr>
          <p:cNvPr id="2107852984" name="Picture 210785298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489281" y="3059685"/>
            <a:ext cx="5412724" cy="15705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69653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1452AD08-5EDB-F430-AC79-C871C7CD8D10}" type="slidenum">
              <a:rPr lang="ru-RU"/>
              <a:t>15</a:t>
            </a:fld>
            <a:endParaRPr lang="ru-RU"/>
          </a:p>
        </p:txBody>
      </p:sp>
      <p:sp>
        <p:nvSpPr>
          <p:cNvPr id="1570777612" name="TextBox 17"/>
          <p:cNvSpPr txBox="1"/>
          <p:nvPr/>
        </p:nvSpPr>
        <p:spPr bwMode="auto">
          <a:xfrm>
            <a:off x="622607" y="1499554"/>
            <a:ext cx="5704038" cy="795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>
                <a:latin typeface="T-Sans"/>
                <a:ea typeface="T-Sans"/>
              </a:rPr>
              <a:t>Библиотека позволяющая работать с ошибками в </a:t>
            </a:r>
            <a:r>
              <a:rPr lang="en-US">
                <a:latin typeface="T-Sans"/>
                <a:ea typeface="T-Sans"/>
              </a:rPr>
              <a:t>Java </a:t>
            </a:r>
            <a:r>
              <a:rPr lang="ru-RU">
                <a:latin typeface="T-Sans"/>
                <a:ea typeface="T-Sans"/>
              </a:rPr>
              <a:t>в более «функциональном» стиле.</a:t>
            </a:r>
            <a:endParaRPr/>
          </a:p>
        </p:txBody>
      </p:sp>
      <p:sp>
        <p:nvSpPr>
          <p:cNvPr id="2104176428" name="TextBox 22"/>
          <p:cNvSpPr txBox="1"/>
          <p:nvPr/>
        </p:nvSpPr>
        <p:spPr bwMode="auto">
          <a:xfrm>
            <a:off x="611187" y="645474"/>
            <a:ext cx="6587280" cy="854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en-US" b="0">
                <a:latin typeface="T-Sans"/>
                <a:ea typeface="T-Sans"/>
              </a:rPr>
              <a:t>Vavr</a:t>
            </a:r>
            <a:endParaRPr lang="ru-RU" b="0">
              <a:latin typeface="T-Sans"/>
              <a:ea typeface="T-Sans"/>
            </a:endParaRPr>
          </a:p>
        </p:txBody>
      </p:sp>
      <p:grpSp>
        <p:nvGrpSpPr>
          <p:cNvPr id="367903607" name="Группа 1"/>
          <p:cNvGrpSpPr/>
          <p:nvPr/>
        </p:nvGrpSpPr>
        <p:grpSpPr bwMode="auto">
          <a:xfrm>
            <a:off x="7425941" y="680914"/>
            <a:ext cx="11448000" cy="9864725"/>
            <a:chOff x="7477169" y="647699"/>
            <a:chExt cx="11448000" cy="9864725"/>
          </a:xfrm>
        </p:grpSpPr>
        <p:sp>
          <p:nvSpPr>
            <p:cNvPr id="1080229443" name="Скругленный прямоугольник 3"/>
            <p:cNvSpPr/>
            <p:nvPr/>
          </p:nvSpPr>
          <p:spPr bwMode="auto">
            <a:xfrm>
              <a:off x="7477169" y="647699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519735423" name="Овал 4"/>
            <p:cNvSpPr>
              <a:spLocks noChangeAspect="1"/>
            </p:cNvSpPr>
            <p:nvPr/>
          </p:nvSpPr>
          <p:spPr bwMode="auto">
            <a:xfrm>
              <a:off x="7731100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765879832" name="Овал 9"/>
            <p:cNvSpPr>
              <a:spLocks noChangeAspect="1"/>
            </p:cNvSpPr>
            <p:nvPr/>
          </p:nvSpPr>
          <p:spPr bwMode="auto">
            <a:xfrm>
              <a:off x="799005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309940282" name="Овал 10"/>
            <p:cNvSpPr>
              <a:spLocks noChangeAspect="1"/>
            </p:cNvSpPr>
            <p:nvPr/>
          </p:nvSpPr>
          <p:spPr bwMode="auto">
            <a:xfrm>
              <a:off x="8249002" y="877196"/>
              <a:ext cx="162102" cy="16210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368297309" name="Скругленный прямоугольник 11"/>
            <p:cNvSpPr/>
            <p:nvPr/>
          </p:nvSpPr>
          <p:spPr bwMode="auto">
            <a:xfrm>
              <a:off x="7621169" y="1245508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099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1384917607" name="TextBox 13"/>
          <p:cNvSpPr txBox="1"/>
          <p:nvPr/>
        </p:nvSpPr>
        <p:spPr bwMode="auto">
          <a:xfrm>
            <a:off x="8071101" y="1461709"/>
            <a:ext cx="3270335" cy="427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099" rtlCol="0" anchor="t">
            <a:sp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Старый ванильный </a:t>
            </a:r>
            <a:r>
              <a:rPr lang="en-US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java </a:t>
            </a:r>
            <a:r>
              <a:rPr lang="ru-RU" sz="2200">
                <a:latin typeface="T-Sans"/>
                <a:ea typeface="T-Sans"/>
              </a:rPr>
              <a:t>код</a:t>
            </a:r>
            <a:endParaRPr lang="ru-RU" sz="220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</p:txBody>
      </p:sp>
      <p:pic>
        <p:nvPicPr>
          <p:cNvPr id="1116213181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990050" y="1831038"/>
            <a:ext cx="7673280" cy="3099084"/>
          </a:xfrm>
          <a:prstGeom prst="rect">
            <a:avLst/>
          </a:prstGeom>
        </p:spPr>
      </p:pic>
      <p:sp>
        <p:nvSpPr>
          <p:cNvPr id="460983971" name="TextBox 8"/>
          <p:cNvSpPr txBox="1"/>
          <p:nvPr/>
        </p:nvSpPr>
        <p:spPr bwMode="auto">
          <a:xfrm>
            <a:off x="7990049" y="5136333"/>
            <a:ext cx="5302687" cy="427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099" rtlCol="0" anchor="t">
            <a:sp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Модный код на </a:t>
            </a:r>
            <a:r>
              <a:rPr lang="en-US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vavr </a:t>
            </a: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в функциональном стиле</a:t>
            </a:r>
            <a:endParaRPr sz="1600"/>
          </a:p>
        </p:txBody>
      </p:sp>
      <p:pic>
        <p:nvPicPr>
          <p:cNvPr id="2101417533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90049" y="5613278"/>
            <a:ext cx="10539185" cy="1329388"/>
          </a:xfrm>
          <a:prstGeom prst="rect">
            <a:avLst/>
          </a:prstGeom>
        </p:spPr>
      </p:pic>
      <p:sp>
        <p:nvSpPr>
          <p:cNvPr id="644315697" name="TextBox 18"/>
          <p:cNvSpPr txBox="1"/>
          <p:nvPr/>
        </p:nvSpPr>
        <p:spPr bwMode="auto">
          <a:xfrm>
            <a:off x="611187" y="2389646"/>
            <a:ext cx="5704038" cy="36394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 b="1">
                <a:latin typeface="T-Sans"/>
                <a:ea typeface="T-Sans"/>
              </a:rPr>
              <a:t>Плюсы</a:t>
            </a:r>
            <a:endParaRPr/>
          </a:p>
          <a:p>
            <a:pPr>
              <a:defRPr/>
            </a:pPr>
            <a:r>
              <a:rPr lang="en-US">
                <a:latin typeface="T-Sans"/>
                <a:ea typeface="T-Sans"/>
              </a:rPr>
              <a:t>+ </a:t>
            </a:r>
            <a:r>
              <a:rPr lang="ru-RU">
                <a:latin typeface="T-Sans"/>
                <a:ea typeface="T-Sans"/>
              </a:rPr>
              <a:t>Ошибка как значение, а не исключение</a:t>
            </a:r>
            <a:endParaRPr/>
          </a:p>
          <a:p>
            <a:pPr>
              <a:defRPr/>
            </a:pPr>
            <a:r>
              <a:rPr lang="ru-RU">
                <a:latin typeface="T-Sans"/>
                <a:ea typeface="T-Sans"/>
              </a:rPr>
              <a:t>+ Более мощный </a:t>
            </a:r>
            <a:r>
              <a:rPr lang="en-US">
                <a:latin typeface="T-Sans"/>
                <a:ea typeface="T-Sans"/>
              </a:rPr>
              <a:t>Optional</a:t>
            </a:r>
            <a:endParaRPr/>
          </a:p>
          <a:p>
            <a:pPr>
              <a:defRPr/>
            </a:pPr>
            <a:r>
              <a:rPr lang="ru-RU">
                <a:latin typeface="T-Sans"/>
                <a:ea typeface="T-Sans"/>
              </a:rPr>
              <a:t>+ Более мощные иммутабельные коллекции</a:t>
            </a:r>
            <a:endParaRPr/>
          </a:p>
          <a:p>
            <a:pPr>
              <a:defRPr/>
            </a:pPr>
            <a:r>
              <a:rPr lang="ru-RU">
                <a:latin typeface="T-Sans"/>
                <a:ea typeface="T-Sans"/>
              </a:rPr>
              <a:t>+ Каррирование</a:t>
            </a:r>
          </a:p>
          <a:p>
            <a:pPr>
              <a:defRPr/>
            </a:pPr>
            <a:r>
              <a:rPr lang="ru-RU">
                <a:latin typeface="T-Sans"/>
                <a:ea typeface="T-Sans"/>
              </a:rPr>
              <a:t>+ </a:t>
            </a:r>
            <a:r>
              <a:rPr lang="en-US">
                <a:latin typeface="T-Sans"/>
                <a:ea typeface="T-Sans"/>
              </a:rPr>
              <a:t>pattern-matching, tuple </a:t>
            </a:r>
            <a:r>
              <a:rPr lang="ru-RU">
                <a:latin typeface="T-Sans"/>
                <a:ea typeface="T-Sans"/>
              </a:rPr>
              <a:t>и тд</a:t>
            </a:r>
            <a:endParaRPr lang="en-US">
              <a:latin typeface="T-Sans"/>
              <a:ea typeface="T-Sans"/>
            </a:endParaRPr>
          </a:p>
          <a:p>
            <a:pPr>
              <a:defRPr/>
            </a:pPr>
            <a:endParaRPr lang="en-US">
              <a:latin typeface="T-Sans"/>
              <a:ea typeface="T-Sans"/>
            </a:endParaRPr>
          </a:p>
          <a:p>
            <a:pPr>
              <a:defRPr/>
            </a:pPr>
            <a:r>
              <a:rPr lang="ru-RU" b="1">
                <a:latin typeface="T-Sans"/>
                <a:ea typeface="T-Sans"/>
              </a:rPr>
              <a:t>Минусы</a:t>
            </a:r>
            <a:endParaRPr/>
          </a:p>
          <a:p>
            <a:pPr>
              <a:defRPr/>
            </a:pPr>
            <a:r>
              <a:rPr lang="ru-RU">
                <a:latin typeface="T-Sans"/>
                <a:ea typeface="T-Sans"/>
              </a:rPr>
              <a:t>- Его нет в ванильной </a:t>
            </a:r>
            <a:r>
              <a:rPr lang="en-US">
                <a:latin typeface="T-Sans"/>
                <a:ea typeface="T-Sans"/>
              </a:rPr>
              <a:t>Java</a:t>
            </a:r>
            <a:r>
              <a:rPr lang="ru-RU">
                <a:latin typeface="T-Sans"/>
                <a:ea typeface="T-Sans"/>
              </a:rPr>
              <a:t>, надо подключать</a:t>
            </a:r>
            <a:endParaRPr/>
          </a:p>
        </p:txBody>
      </p:sp>
      <p:sp>
        <p:nvSpPr>
          <p:cNvPr id="1283745844" name="TextBox 19"/>
          <p:cNvSpPr txBox="1"/>
          <p:nvPr/>
        </p:nvSpPr>
        <p:spPr bwMode="auto">
          <a:xfrm>
            <a:off x="622607" y="7036776"/>
            <a:ext cx="6575859" cy="347787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>
              <a:defRPr/>
            </a:pPr>
            <a:r>
              <a:rPr lang="en" sz="2200">
                <a:latin typeface="T-Sans"/>
                <a:ea typeface="T-Sans"/>
              </a:rPr>
              <a:t>Vavr </a:t>
            </a:r>
            <a:r>
              <a:rPr lang="ru-RU" sz="2200">
                <a:latin typeface="T-Sans"/>
                <a:ea typeface="T-Sans"/>
              </a:rPr>
              <a:t>делает программирование декларативным. </a:t>
            </a:r>
            <a:endParaRPr/>
          </a:p>
          <a:p>
            <a:pPr>
              <a:defRPr/>
            </a:pPr>
            <a:endParaRPr lang="ru-RU" sz="2200">
              <a:latin typeface="T-Sans"/>
              <a:ea typeface="T-Sans"/>
            </a:endParaRPr>
          </a:p>
          <a:p>
            <a:pPr>
              <a:defRPr/>
            </a:pPr>
            <a:r>
              <a:rPr lang="ru-RU" sz="2200">
                <a:latin typeface="T-Sans"/>
                <a:ea typeface="T-Sans"/>
              </a:rPr>
              <a:t>Ошибки, отсутствие значения, побочные эффекты — всё это становится значениями и типами, видимыми в сигнатуре, а не скрытым поведением.</a:t>
            </a:r>
            <a:br>
              <a:rPr lang="ru-RU" sz="2200">
                <a:latin typeface="T-Sans"/>
                <a:ea typeface="T-Sans"/>
              </a:rPr>
            </a:br>
            <a:endParaRPr lang="ru-RU" sz="2200">
              <a:latin typeface="T-Sans"/>
              <a:ea typeface="T-Sans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" sz="2200" b="1">
                <a:latin typeface="T-Sans"/>
                <a:ea typeface="T-Sans"/>
              </a:rPr>
              <a:t>Java</a:t>
            </a:r>
            <a:r>
              <a:rPr lang="en" sz="2200">
                <a:latin typeface="T-Sans"/>
                <a:ea typeface="T-Sans"/>
              </a:rPr>
              <a:t> </a:t>
            </a:r>
            <a:r>
              <a:rPr lang="ru-RU" sz="2200">
                <a:latin typeface="T-Sans"/>
                <a:ea typeface="T-Sans"/>
              </a:rPr>
              <a:t>= состояние + команды + исключения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" sz="2200" b="1">
                <a:latin typeface="T-Sans"/>
                <a:ea typeface="T-Sans"/>
              </a:rPr>
              <a:t>Vavr </a:t>
            </a:r>
            <a:r>
              <a:rPr lang="ru-RU" sz="2200">
                <a:latin typeface="T-Sans"/>
                <a:ea typeface="T-Sans"/>
              </a:rPr>
              <a:t>=</a:t>
            </a:r>
            <a:r>
              <a:rPr lang="ru-RU" sz="2200" b="1">
                <a:latin typeface="T-Sans"/>
                <a:ea typeface="T-Sans"/>
              </a:rPr>
              <a:t> </a:t>
            </a:r>
            <a:r>
              <a:rPr lang="ru-RU" sz="2200">
                <a:latin typeface="T-Sans"/>
                <a:ea typeface="T-Sans"/>
              </a:rPr>
              <a:t>данные + чистые функции + ошибка как значение</a:t>
            </a:r>
            <a:endParaRPr/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200">
              <a:latin typeface="T-Sans"/>
              <a:ea typeface="T-Sans"/>
            </a:endParaRPr>
          </a:p>
        </p:txBody>
      </p:sp>
      <p:sp>
        <p:nvSpPr>
          <p:cNvPr id="51006806" name="TextBox 20"/>
          <p:cNvSpPr txBox="1"/>
          <p:nvPr/>
        </p:nvSpPr>
        <p:spPr bwMode="auto">
          <a:xfrm>
            <a:off x="7949405" y="7641478"/>
            <a:ext cx="9451479" cy="1432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099" rtlCol="0" anchor="t">
            <a:sp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Наш код стал короче и моднее! </a:t>
            </a:r>
            <a:endParaRPr lang="en-US" sz="220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Теперь он написан через лямбды и функциональный стиль и похож на пайплайн.</a:t>
            </a:r>
            <a:endParaRPr sz="1600"/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200">
              <a:latin typeface="T-Sans"/>
              <a:ea typeface="T-Sans"/>
            </a:endParaRPr>
          </a:p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И это лишь крошечная часть того, что можно реализовать через </a:t>
            </a:r>
            <a:r>
              <a:rPr lang="en-US" sz="22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Vavr.</a:t>
            </a:r>
            <a:endParaRPr lang="ru-RU" sz="220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86223282" name="Группа 1"/>
          <p:cNvGrpSpPr/>
          <p:nvPr/>
        </p:nvGrpSpPr>
        <p:grpSpPr bwMode="auto">
          <a:xfrm>
            <a:off x="10673333" y="1975555"/>
            <a:ext cx="8959079" cy="8254999"/>
            <a:chOff x="0" y="0"/>
            <a:chExt cx="8959079" cy="8254999"/>
          </a:xfrm>
        </p:grpSpPr>
        <p:sp>
          <p:nvSpPr>
            <p:cNvPr id="1339355125" name="Скругленный прямоугольник 3"/>
            <p:cNvSpPr/>
            <p:nvPr/>
          </p:nvSpPr>
          <p:spPr bwMode="auto">
            <a:xfrm>
              <a:off x="0" y="610321"/>
              <a:ext cx="8959079" cy="7644678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7" tIns="45717" rIns="45717" bIns="45717" numCol="1" spcCol="38098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  <p:sp>
          <p:nvSpPr>
            <p:cNvPr id="1766403439" name="Овал 4"/>
            <p:cNvSpPr>
              <a:spLocks noChangeAspect="1"/>
            </p:cNvSpPr>
            <p:nvPr/>
          </p:nvSpPr>
          <p:spPr bwMode="auto">
            <a:xfrm>
              <a:off x="198723" y="0"/>
              <a:ext cx="126858" cy="138881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7" tIns="45717" rIns="45717" bIns="45717" numCol="1" spcCol="38098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836564700" name="Овал 9"/>
            <p:cNvSpPr>
              <a:spLocks noChangeAspect="1"/>
            </p:cNvSpPr>
            <p:nvPr/>
          </p:nvSpPr>
          <p:spPr bwMode="auto">
            <a:xfrm>
              <a:off x="401376" y="0"/>
              <a:ext cx="126858" cy="138881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7" tIns="45717" rIns="45717" bIns="45717" numCol="1" spcCol="38098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1181969320" name="Овал 10"/>
            <p:cNvSpPr>
              <a:spLocks noChangeAspect="1"/>
            </p:cNvSpPr>
            <p:nvPr/>
          </p:nvSpPr>
          <p:spPr bwMode="auto">
            <a:xfrm>
              <a:off x="604027" y="0"/>
              <a:ext cx="126858" cy="138881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7" tIns="45717" rIns="45717" bIns="45717" numCol="1" spcCol="38098" rtlCol="0" anchor="ctr">
              <a:noAutofit/>
            </a:bodyPr>
            <a:lstStyle/>
            <a:p>
              <a:pPr marL="0" marR="0" indent="0" algn="l" defTabSz="4572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endParaRPr>
            </a:p>
          </p:txBody>
        </p:sp>
        <p:sp>
          <p:nvSpPr>
            <p:cNvPr id="2087648216" name="Скругленный прямоугольник 11"/>
            <p:cNvSpPr/>
            <p:nvPr/>
          </p:nvSpPr>
          <p:spPr bwMode="auto">
            <a:xfrm>
              <a:off x="112692" y="1360974"/>
              <a:ext cx="8733693" cy="6788716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rot="0" spcFirstLastPara="1" vertOverflow="overflow" horzOverflow="overflow" vert="horz" wrap="square" lIns="45717" tIns="45717" rIns="45717" bIns="45717" numCol="1" spcCol="38098" rtlCol="0" anchor="ctr">
              <a:noAutofit/>
            </a:bodyPr>
            <a:lstStyle/>
            <a:p>
              <a:pPr defTabSz="457200">
                <a:defRPr/>
              </a:pPr>
              <a:endParaRPr lang="ru-RU" sz="1800">
                <a:latin typeface="T-Sans"/>
                <a:ea typeface="T-Sans"/>
              </a:endParaRPr>
            </a:p>
          </p:txBody>
        </p:sp>
      </p:grpSp>
      <p:sp>
        <p:nvSpPr>
          <p:cNvPr id="1109275028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 b="0" i="0">
                <a:latin typeface="T-Sans"/>
                <a:ea typeface="T-Sans"/>
              </a:defRPr>
            </a:lvl1pPr>
          </a:lstStyle>
          <a:p>
            <a:pPr algn="r">
              <a:buFont typeface="Wingdings"/>
              <a:buNone/>
              <a:defRPr/>
            </a:pPr>
            <a:fld id="{55EE46F7-46EB-847D-D5CC-F344F266B827}" type="slidenum">
              <a:rPr lang="ru-RU"/>
              <a:t>16</a:t>
            </a:fld>
            <a:endParaRPr lang="ru-RU"/>
          </a:p>
        </p:txBody>
      </p:sp>
      <p:sp>
        <p:nvSpPr>
          <p:cNvPr id="1796032280" name="TextBox 22"/>
          <p:cNvSpPr txBox="1"/>
          <p:nvPr/>
        </p:nvSpPr>
        <p:spPr bwMode="auto">
          <a:xfrm>
            <a:off x="611186" y="645473"/>
            <a:ext cx="9763004" cy="171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algn="ctr">
              <a:defRPr/>
            </a:pPr>
            <a:r>
              <a:rPr lang="en-US" b="0">
                <a:latin typeface="T-Sans"/>
                <a:ea typeface="T-Sans"/>
              </a:rPr>
              <a:t>JMH </a:t>
            </a:r>
            <a:br>
              <a:rPr lang="en-US" b="0">
                <a:latin typeface="T-Sans"/>
                <a:ea typeface="T-Sans"/>
              </a:rPr>
            </a:br>
            <a:r>
              <a:rPr lang="en-US" b="0">
                <a:latin typeface="T-Sans"/>
                <a:ea typeface="T-Sans"/>
              </a:rPr>
              <a:t>Java Microbenchmark Harness</a:t>
            </a:r>
            <a:endParaRPr lang="ru-RU" b="0">
              <a:latin typeface="T-Sans"/>
              <a:ea typeface="T-Sans"/>
            </a:endParaRPr>
          </a:p>
        </p:txBody>
      </p:sp>
      <p:pic>
        <p:nvPicPr>
          <p:cNvPr id="164489065" name="Picture 16448906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417777" y="4065054"/>
            <a:ext cx="6057900" cy="5543550"/>
          </a:xfrm>
          <a:prstGeom prst="rect">
            <a:avLst/>
          </a:prstGeom>
        </p:spPr>
      </p:pic>
      <p:sp>
        <p:nvSpPr>
          <p:cNvPr id="1420609206" name=" 1420609205"/>
          <p:cNvSpPr/>
          <p:nvPr/>
        </p:nvSpPr>
        <p:spPr bwMode="auto">
          <a:xfrm>
            <a:off x="1730416" y="3164166"/>
            <a:ext cx="7745272" cy="5639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defRPr/>
            </a:pPr>
            <a:r>
              <a:rPr lang="ru-RU" sz="2800" b="0" i="0" u="none">
                <a:solidFill>
                  <a:schemeClr val="tx1"/>
                </a:solidFill>
                <a:latin typeface="T-Sans"/>
                <a:ea typeface="T-Sans"/>
                <a:cs typeface="T-Sans"/>
              </a:rPr>
              <a:t>@State(Scope.Thread) определяет область видимости состояния бенчмарка</a:t>
            </a:r>
          </a:p>
          <a:p>
            <a:pPr algn="l">
              <a:defRPr/>
            </a:pPr>
            <a:endParaRPr lang="ru-RU" sz="2800">
              <a:solidFill>
                <a:schemeClr val="tx1"/>
              </a:solidFill>
              <a:latin typeface="T-Sans"/>
              <a:ea typeface="T-Sans"/>
              <a:cs typeface="T-Sans"/>
            </a:endParaRPr>
          </a:p>
          <a:p>
            <a:pPr algn="l">
              <a:defRPr/>
            </a:pPr>
            <a:r>
              <a:rPr lang="ru-RU" sz="2800" b="0" i="0" u="none">
                <a:solidFill>
                  <a:schemeClr val="tx1"/>
                </a:solidFill>
                <a:latin typeface="T-Sans"/>
                <a:ea typeface="T-Sans"/>
                <a:cs typeface="T-Sans"/>
              </a:rPr>
              <a:t>@BenchmarkMode задаёт, что именно измеряется.</a:t>
            </a:r>
            <a:endParaRPr lang="ru-RU" sz="2800">
              <a:solidFill>
                <a:schemeClr val="tx1"/>
              </a:solidFill>
              <a:latin typeface="T-Sans"/>
              <a:ea typeface="T-Sans"/>
              <a:cs typeface="T-Sans"/>
            </a:endParaRPr>
          </a:p>
          <a:p>
            <a:pPr algn="l">
              <a:defRPr/>
            </a:pPr>
            <a:endParaRPr lang="ru-RU" sz="2800">
              <a:solidFill>
                <a:schemeClr val="tx1"/>
              </a:solidFill>
              <a:latin typeface="T-Sans"/>
              <a:ea typeface="T-Sans"/>
              <a:cs typeface="T-Sans"/>
            </a:endParaRPr>
          </a:p>
          <a:p>
            <a:pPr algn="l">
              <a:defRPr/>
            </a:pPr>
            <a:r>
              <a:rPr lang="ru-RU" sz="2800" b="0" i="0" u="none">
                <a:solidFill>
                  <a:schemeClr val="tx1"/>
                </a:solidFill>
                <a:latin typeface="T-Sans"/>
                <a:ea typeface="T-Sans"/>
                <a:cs typeface="T-Sans"/>
              </a:rPr>
              <a:t>@Warmup и @Measurement задают число итераций прогрева и число итераций собственно измерения, а также длительность каждой итерации.</a:t>
            </a:r>
          </a:p>
          <a:p>
            <a:pPr algn="l">
              <a:defRPr/>
            </a:pPr>
            <a:endParaRPr lang="ru-RU" sz="2800">
              <a:solidFill>
                <a:schemeClr val="tx1"/>
              </a:solidFill>
              <a:latin typeface="T-Sans"/>
              <a:ea typeface="T-Sans"/>
              <a:cs typeface="T-Sans"/>
            </a:endParaRPr>
          </a:p>
          <a:p>
            <a:pPr algn="l">
              <a:defRPr/>
            </a:pPr>
            <a:r>
              <a:rPr lang="ru-RU" sz="2800" b="0" i="0" u="none">
                <a:solidFill>
                  <a:schemeClr val="tx1"/>
                </a:solidFill>
                <a:latin typeface="T-Sans"/>
                <a:ea typeface="T-Sans"/>
                <a:cs typeface="T-Sans"/>
              </a:rPr>
              <a:t>@Fork задаёт, сколько раз JMH перезапустит бенчмарк в отдельном процессе JVM. Каждый форк — это полностью новая JVM со своим состоянием JIT-компилятора.</a:t>
            </a:r>
          </a:p>
        </p:txBody>
      </p:sp>
      <p:pic>
        <p:nvPicPr>
          <p:cNvPr id="933432284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4182" y="3087693"/>
            <a:ext cx="720000" cy="720000"/>
          </a:xfrm>
          <a:prstGeom prst="rect">
            <a:avLst/>
          </a:prstGeom>
        </p:spPr>
      </p:pic>
      <p:pic>
        <p:nvPicPr>
          <p:cNvPr id="1067691062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4059" y="4340054"/>
            <a:ext cx="720000" cy="720000"/>
          </a:xfrm>
          <a:prstGeom prst="rect">
            <a:avLst/>
          </a:prstGeom>
        </p:spPr>
      </p:pic>
      <p:pic>
        <p:nvPicPr>
          <p:cNvPr id="711863813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4059" y="5263745"/>
            <a:ext cx="720000" cy="720000"/>
          </a:xfrm>
          <a:prstGeom prst="rect">
            <a:avLst/>
          </a:prstGeom>
        </p:spPr>
      </p:pic>
      <p:pic>
        <p:nvPicPr>
          <p:cNvPr id="22802268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4059" y="6968248"/>
            <a:ext cx="720000" cy="720000"/>
          </a:xfrm>
          <a:prstGeom prst="rect">
            <a:avLst/>
          </a:prstGeom>
        </p:spPr>
      </p:pic>
      <p:sp>
        <p:nvSpPr>
          <p:cNvPr id="49726033" name=" 49726032"/>
          <p:cNvSpPr/>
          <p:nvPr/>
        </p:nvSpPr>
        <p:spPr bwMode="auto">
          <a:xfrm>
            <a:off x="231111" y="9438954"/>
            <a:ext cx="9442697" cy="1371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ru-RU" sz="2800" b="0" i="0" u="none">
                <a:solidFill>
                  <a:schemeClr val="bg2"/>
                </a:solidFill>
                <a:latin typeface="T-Sans"/>
                <a:ea typeface="T-Sans"/>
                <a:cs typeface="T-Sans"/>
              </a:rPr>
              <a:t>JMH отвечает на узкий вопрос: </a:t>
            </a:r>
            <a:br>
              <a:rPr lang="ru-RU" sz="2800" b="0" i="0" u="none">
                <a:solidFill>
                  <a:schemeClr val="bg2"/>
                </a:solidFill>
                <a:latin typeface="T-Sans"/>
                <a:ea typeface="T-Sans"/>
                <a:cs typeface="T-Sans"/>
              </a:rPr>
            </a:br>
            <a:r>
              <a:rPr lang="ru-RU" sz="2800" b="0" i="0" u="none">
                <a:solidFill>
                  <a:schemeClr val="bg2"/>
                </a:solidFill>
                <a:latin typeface="T-Sans"/>
                <a:ea typeface="T-Sans"/>
                <a:cs typeface="T-Sans"/>
              </a:rPr>
              <a:t>«какой из двух (или нескольких) конкретных фрагментов кода быстрее при прочих равных». </a:t>
            </a:r>
            <a:endParaRPr lang="ru-RU" sz="4800">
              <a:solidFill>
                <a:schemeClr val="bg2"/>
              </a:solidFill>
              <a:latin typeface="T-Sans"/>
              <a:ea typeface="T-Sans"/>
              <a:cs typeface="T-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251054" name="Овал 18"/>
          <p:cNvSpPr/>
          <p:nvPr/>
        </p:nvSpPr>
        <p:spPr bwMode="auto">
          <a:xfrm>
            <a:off x="8793438" y="7099131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311779928" name="Овал 26"/>
          <p:cNvSpPr/>
          <p:nvPr/>
        </p:nvSpPr>
        <p:spPr bwMode="auto">
          <a:xfrm>
            <a:off x="18397677" y="7099131"/>
            <a:ext cx="1034773" cy="1034773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rgbClr val="FFCB2C"/>
              </a:gs>
              <a:gs pos="100000">
                <a:srgbClr val="FFCB2C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>
            <a:innerShdw blurRad="190500">
              <a:schemeClr val="accent6"/>
            </a:innerShdw>
          </a:effectLst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ctr">
            <a:noAutofit/>
          </a:bodyPr>
          <a:lstStyle/>
          <a:p>
            <a:pPr algn="ctr" defTabSz="457200">
              <a:defRPr/>
            </a:pPr>
            <a:endParaRPr lang="ru-RU" sz="3600">
              <a:solidFill>
                <a:schemeClr val="accent2"/>
              </a:solidFill>
              <a:latin typeface="T-Sans Medium"/>
              <a:ea typeface="T-Sans Medium"/>
            </a:endParaRPr>
          </a:p>
        </p:txBody>
      </p:sp>
      <p:sp>
        <p:nvSpPr>
          <p:cNvPr id="1828843369" name="Рисунок 1"/>
          <p:cNvSpPr>
            <a:spLocks noGrp="1"/>
          </p:cNvSpPr>
          <p:nvPr>
            <p:ph type="pic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545106" name="Рисунок 5"/>
          <p:cNvSpPr>
            <a:spLocks noGrp="1"/>
          </p:cNvSpPr>
          <p:nvPr>
            <p:ph type="pic" sz="quarter" idx="12"/>
          </p:nvPr>
        </p:nvSpPr>
        <p:spPr bwMode="auto"/>
        <p:txBody>
          <a:bodyPr/>
          <a:lstStyle/>
          <a:p>
            <a:pPr algn="l">
              <a:lnSpc>
                <a:spcPct val="150000"/>
              </a:lnSpc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Сравниваем четыре варианта одной и той же проверки: </a:t>
            </a:r>
            <a:endParaRPr lang="ru-RU" sz="2800" b="0" i="0" u="none" strike="noStrike" cap="none" spc="0">
              <a:ln>
                <a:noFill/>
              </a:ln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defRPr/>
            </a:pPr>
            <a:endParaRPr sz="2800" b="0" i="0" u="none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 marL="394022" indent="-394022" algn="l">
              <a:lnSpc>
                <a:spcPct val="15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код возврата, </a:t>
            </a:r>
            <a:endParaRPr sz="2800" b="0" i="0" u="none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 marL="394022" indent="-394022" algn="l">
              <a:lnSpc>
                <a:spcPct val="15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исключение с полной трассировкой стека, </a:t>
            </a:r>
            <a:endParaRPr sz="2800" b="0" i="0" u="none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 marL="394022" indent="-394022" algn="l">
              <a:lnSpc>
                <a:spcPct val="15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исключение без трассировки, </a:t>
            </a:r>
            <a:endParaRPr sz="2800" b="0" i="0" u="none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 marL="394022" indent="-394022" algn="l">
              <a:lnSpc>
                <a:spcPct val="150000"/>
              </a:lnSpc>
              <a:buClrTx/>
              <a:buSzTx/>
              <a:buFont typeface="Liberation Sans"/>
              <a:buChar char="•"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обработка исключения через vavr.</a:t>
            </a:r>
            <a:endParaRPr sz="2800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>
              <a:defRPr/>
            </a:pPr>
            <a:endParaRPr/>
          </a:p>
        </p:txBody>
      </p:sp>
      <p:sp>
        <p:nvSpPr>
          <p:cNvPr id="1516454770" name="TextBox 12"/>
          <p:cNvSpPr txBox="1"/>
          <p:nvPr/>
        </p:nvSpPr>
        <p:spPr bwMode="auto">
          <a:xfrm>
            <a:off x="5523617" y="8556684"/>
            <a:ext cx="6014741" cy="10375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t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ts val="3799"/>
              </a:lnSpc>
              <a:defRPr sz="3200">
                <a:solidFill>
                  <a:schemeClr val="accent2"/>
                </a:solidFill>
                <a:latin typeface="TINKOFFSANS-MEDIUM"/>
              </a:defRPr>
            </a:lvl1pPr>
          </a:lstStyle>
          <a:p>
            <a:pPr>
              <a:defRPr/>
            </a:pPr>
            <a:r>
              <a:rPr lang="ru-RU" sz="32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Ключевая деталь</a:t>
            </a:r>
            <a:endParaRPr sz="2400" b="0" i="0" u="none">
              <a:solidFill>
                <a:schemeClr val="bg2"/>
              </a:solidFill>
              <a:latin typeface="T-Sans"/>
              <a:ea typeface="T-Sans"/>
              <a:cs typeface="T-Sans"/>
            </a:endParaRPr>
          </a:p>
          <a:p>
            <a:pPr>
              <a:defRPr/>
            </a:pPr>
            <a:endParaRPr/>
          </a:p>
        </p:txBody>
      </p:sp>
      <p:sp>
        <p:nvSpPr>
          <p:cNvPr id="610978652" name="TextBox 13"/>
          <p:cNvSpPr txBox="1"/>
          <p:nvPr/>
        </p:nvSpPr>
        <p:spPr bwMode="auto">
          <a:xfrm>
            <a:off x="611187" y="9075464"/>
            <a:ext cx="10927170" cy="18280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120000"/>
              </a:lnSpc>
              <a:spcAft>
                <a:spcPts val="1799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/>
              </a:defRPr>
            </a:lvl1pPr>
            <a:lvl2pPr marL="1199923" indent="-445132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2pPr>
            <a:lvl3pPr marL="2035649" indent="-52606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3pPr>
            <a:lvl4pPr marL="286300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4pPr>
            <a:lvl5pPr marL="3617793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5pPr>
            <a:lvl6pPr marL="4372584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6pPr>
            <a:lvl7pPr marL="5127376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7pPr>
            <a:lvl8pPr marL="5882167" indent="-598627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8pPr>
            <a:lvl9pPr marL="6636960" indent="-598626" defTabSz="1509581">
              <a:lnSpc>
                <a:spcPct val="90000"/>
              </a:lnSpc>
              <a:spcBef>
                <a:spcPts val="1599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 четырёхаргументный конструктор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Throwable(message, cause, enableSuppression, writableStackTrace):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последний флаг позволяет отключить вызов fillInStackTrace() </a:t>
            </a:r>
            <a:b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</a:br>
            <a:r>
              <a:rPr lang="ru-RU" sz="2400" b="0" i="0" u="none" strike="noStrike" cap="none" spc="0">
                <a:ln>
                  <a:noFill/>
                </a:ln>
                <a:solidFill>
                  <a:schemeClr val="bg2"/>
                </a:solidFill>
                <a:latin typeface="T-Sans"/>
                <a:ea typeface="T-Sans"/>
                <a:cs typeface="T-Sans"/>
              </a:rPr>
              <a:t>при создании исключения</a:t>
            </a:r>
            <a:endParaRPr/>
          </a:p>
        </p:txBody>
      </p:sp>
      <p:pic>
        <p:nvPicPr>
          <p:cNvPr id="1506797288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983553" y="7289246"/>
            <a:ext cx="654544" cy="654544"/>
          </a:xfrm>
          <a:prstGeom prst="rect">
            <a:avLst/>
          </a:prstGeom>
        </p:spPr>
      </p:pic>
      <p:pic>
        <p:nvPicPr>
          <p:cNvPr id="611227928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587792" y="7289246"/>
            <a:ext cx="654544" cy="654544"/>
          </a:xfrm>
          <a:prstGeom prst="rect">
            <a:avLst/>
          </a:prstGeom>
        </p:spPr>
      </p:pic>
      <p:sp>
        <p:nvSpPr>
          <p:cNvPr id="813845335" name="TextBox 30"/>
          <p:cNvSpPr txBox="1"/>
          <p:nvPr/>
        </p:nvSpPr>
        <p:spPr bwMode="auto">
          <a:xfrm>
            <a:off x="611186" y="627305"/>
            <a:ext cx="18305318" cy="2541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 algn="ctr">
              <a:defRPr/>
            </a:pPr>
            <a:r>
              <a:rPr lang="ru-RU" sz="60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"/>
                <a:ea typeface="T-Sans"/>
                <a:cs typeface="T-Sans"/>
              </a:rPr>
              <a:t>Особенности создания исключений. </a:t>
            </a:r>
            <a:br>
              <a:rPr lang="ru-RU" sz="60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"/>
                <a:ea typeface="T-Sans"/>
                <a:cs typeface="T-Sans"/>
              </a:rPr>
            </a:br>
            <a:r>
              <a:rPr lang="ru-RU" sz="6000" b="0" i="0" u="none" strike="noStrike" cap="none" spc="0">
                <a:ln>
                  <a:noFill/>
                </a:ln>
                <a:solidFill>
                  <a:schemeClr val="accent2"/>
                </a:solidFill>
                <a:latin typeface="T-Sans"/>
                <a:ea typeface="T-Sans"/>
                <a:cs typeface="T-Sans"/>
              </a:rPr>
              <a:t>Производительность</a:t>
            </a:r>
            <a:endParaRPr lang="ru-RU" b="0">
              <a:latin typeface="T-Sans"/>
              <a:ea typeface="T-Sans"/>
            </a:endParaRPr>
          </a:p>
          <a:p>
            <a:pPr>
              <a:defRPr/>
            </a:pPr>
            <a:endParaRPr/>
          </a:p>
        </p:txBody>
      </p:sp>
      <p:sp>
        <p:nvSpPr>
          <p:cNvPr id="1162218631" name="TextBox 1162218630"/>
          <p:cNvSpPr txBox="1"/>
          <p:nvPr/>
        </p:nvSpPr>
        <p:spPr bwMode="auto">
          <a:xfrm>
            <a:off x="3550322" y="5941447"/>
            <a:ext cx="4302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1184316170" name="Picture 11843161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180895" y="4697443"/>
            <a:ext cx="9009977" cy="17347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746767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623146"/>
            <a:ext cx="1068945" cy="246220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412DF49D-F5EF-45F3-159C-2FE283BDB491}" type="slidenum">
              <a:rPr lang="ru-RU"/>
              <a:t>18</a:t>
            </a:fld>
            <a:endParaRPr lang="ru-RU"/>
          </a:p>
        </p:txBody>
      </p:sp>
      <p:pic>
        <p:nvPicPr>
          <p:cNvPr id="991225345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419730" y="-109722"/>
            <a:ext cx="11379569" cy="11379569"/>
          </a:xfrm>
          <a:prstGeom prst="rect">
            <a:avLst/>
          </a:prstGeom>
        </p:spPr>
      </p:pic>
      <p:sp>
        <p:nvSpPr>
          <p:cNvPr id="1432656320" name="TextBox 4"/>
          <p:cNvSpPr txBox="1"/>
          <p:nvPr/>
        </p:nvSpPr>
        <p:spPr bwMode="auto">
          <a:xfrm>
            <a:off x="1366837" y="1351764"/>
            <a:ext cx="8751008" cy="116963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 anchor="ctr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sz="8000">
                <a:solidFill>
                  <a:schemeClr val="tx1"/>
                </a:solidFill>
                <a:latin typeface="T-Sans"/>
                <a:ea typeface="T-Sans"/>
              </a:rPr>
              <a:t>Итоги 4 семинара</a:t>
            </a:r>
            <a:endParaRPr/>
          </a:p>
        </p:txBody>
      </p:sp>
      <p:sp>
        <p:nvSpPr>
          <p:cNvPr id="646388575" name="TextBox 2"/>
          <p:cNvSpPr txBox="1"/>
          <p:nvPr/>
        </p:nvSpPr>
        <p:spPr bwMode="auto">
          <a:xfrm>
            <a:off x="2399770" y="2505610"/>
            <a:ext cx="8248694" cy="47552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>
                <a:latin typeface="T-Sans"/>
                <a:ea typeface="T-Sans"/>
              </a:rPr>
              <a:t>Познакомились с исключениями</a:t>
            </a:r>
            <a:br>
              <a:rPr lang="ru-RU" sz="2400">
                <a:latin typeface="T-Sans"/>
                <a:ea typeface="T-Sans"/>
              </a:rPr>
            </a:br>
            <a:endParaRPr lang="ru-RU" sz="2400">
              <a:latin typeface="T-Sans"/>
              <a:ea typeface="T-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>
                <a:latin typeface="T-Sans"/>
                <a:ea typeface="T-Sans"/>
              </a:rPr>
              <a:t>Разобрались, как они обрабатываются в джаве</a:t>
            </a: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Познакомились с конструкцией try-with-resources</a:t>
            </a: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Улучшили наше приложение</a:t>
            </a: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	добавили собственное исключение</a:t>
            </a: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-Sans"/>
                <a:ea typeface="T-Sans"/>
              </a:rPr>
              <a:t>реализовали обработку известных исключений</a:t>
            </a:r>
            <a:endParaRPr sz="2400" b="0" i="0" u="none" strike="noStrike" cap="none" spc="0">
              <a:ln>
                <a:noFill/>
              </a:ln>
              <a:solidFill>
                <a:srgbClr val="000000"/>
              </a:solidFill>
              <a:latin typeface="T-Sans"/>
              <a:ea typeface="T-Sans"/>
            </a:endParaRPr>
          </a:p>
          <a:p>
            <a:pPr marL="349965" marR="0" lvl="1" indent="-349965" algn="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–"/>
              <a:defRPr/>
            </a:pPr>
            <a:endParaRPr/>
          </a:p>
        </p:txBody>
      </p:sp>
      <p:pic>
        <p:nvPicPr>
          <p:cNvPr id="72805742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5988" y="2505610"/>
            <a:ext cx="720000" cy="720000"/>
          </a:xfrm>
          <a:prstGeom prst="rect">
            <a:avLst/>
          </a:prstGeom>
        </p:spPr>
      </p:pic>
      <p:pic>
        <p:nvPicPr>
          <p:cNvPr id="166699866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3401318"/>
            <a:ext cx="720000" cy="720000"/>
          </a:xfrm>
          <a:prstGeom prst="rect">
            <a:avLst/>
          </a:prstGeom>
        </p:spPr>
      </p:pic>
      <p:pic>
        <p:nvPicPr>
          <p:cNvPr id="282576236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5220061"/>
            <a:ext cx="720000" cy="720000"/>
          </a:xfrm>
          <a:prstGeom prst="rect">
            <a:avLst/>
          </a:prstGeom>
        </p:spPr>
      </p:pic>
      <p:pic>
        <p:nvPicPr>
          <p:cNvPr id="43724101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11552" y="4223996"/>
            <a:ext cx="720000" cy="720000"/>
          </a:xfrm>
          <a:prstGeom prst="rect">
            <a:avLst/>
          </a:prstGeom>
        </p:spPr>
      </p:pic>
      <p:sp>
        <p:nvSpPr>
          <p:cNvPr id="1795222053" name="TextBox 5"/>
          <p:cNvSpPr txBox="1"/>
          <p:nvPr/>
        </p:nvSpPr>
        <p:spPr bwMode="auto">
          <a:xfrm>
            <a:off x="2399770" y="7493798"/>
            <a:ext cx="8684619" cy="173841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099" rtlCol="0" anchor="t">
            <a:spAutoFit/>
          </a:bodyPr>
          <a:lstStyle/>
          <a:p>
            <a:pPr marL="0" marR="0" indent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1"/>
              <a:t>А так же!</a:t>
            </a:r>
            <a:endParaRPr/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Немного познакомились с </a:t>
            </a:r>
            <a:r>
              <a:rPr lang="en-US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Vavr</a:t>
            </a: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 библиоте</a:t>
            </a:r>
            <a:r>
              <a:rPr lang="ru-RU" sz="2400"/>
              <a:t>кой</a:t>
            </a:r>
            <a:endParaRPr lang="ru-RU" sz="24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  <a:p>
            <a:pPr marR="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ru-RU" sz="24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rPr>
              <a:t>Измерили цену создания исключений при помощи JMH</a:t>
            </a:r>
          </a:p>
        </p:txBody>
      </p:sp>
      <p:pic>
        <p:nvPicPr>
          <p:cNvPr id="1701997749" name="Рисунок 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66837" y="7493798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 bwMode="auto"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/>
            <p:cNvSpPr txBox="1"/>
            <p:nvPr/>
          </p:nvSpPr>
          <p:spPr bwMode="auto"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/>
                </a:defRPr>
              </a:lvl1pPr>
            </a:lstStyle>
            <a:p>
              <a:pPr>
                <a:defRPr/>
              </a:pPr>
              <a:r>
                <a:rPr lang="ru-RU" sz="7200" b="0">
                  <a:latin typeface="T-Sans"/>
                  <a:ea typeface="T-Sans"/>
                </a:rPr>
                <a:t>Оставьте, пожалуйста, обратную связь!</a:t>
              </a:r>
              <a:endParaRPr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none"/>
          </p:style>
          <p:txBody>
            <a:bodyPr wrap="square" lIns="36000" tIns="36000" rIns="36000" bIns="36000">
              <a:spAutoFit/>
            </a:bodyPr>
            <a:lstStyle>
              <a:defPPr marL="0" marR="0" indent="0" algn="l" defTabSz="90006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750" b="0" i="0" u="none" strike="noStrike" cap="none" spc="0">
                  <a:ln>
                    <a:noFill/>
                  </a:ln>
                  <a:solidFill>
                    <a:srgbClr val="000000"/>
                  </a:solidFill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pPr>
                <a:defRPr/>
              </a:pPr>
              <a:r>
                <a:rPr lang="ru-RU">
                  <a:solidFill>
                    <a:schemeClr val="tx2">
                      <a:lumMod val="50000"/>
                    </a:schemeClr>
                  </a:solidFill>
                  <a:latin typeface="T-Sans"/>
                  <a:ea typeface="T-Sans"/>
                </a:rPr>
                <a:t>Обратная связь позволяет нам самосовершенствоваться и делать курс лучше!</a:t>
              </a:r>
              <a:endParaRPr/>
            </a:p>
          </p:txBody>
        </p:sp>
      </p:grp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6" r="206"/>
          <a:stretch/>
        </p:blipFill>
        <p:spPr bwMode="auto">
          <a:prstGeom prst="rect">
            <a:avLst/>
          </a:prstGeom>
        </p:spPr>
      </p:pic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9" y="10623147"/>
            <a:ext cx="1068946" cy="246221"/>
          </a:xfrm>
          <a:prstGeom prst="rect">
            <a:avLst/>
          </a:prstGeom>
        </p:spPr>
        <p:txBody>
          <a:bodyPr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9A07687F-D30E-1A4C-A0AB-5DD07EB6EB47}" type="slidenum">
              <a:rPr lang="ru-RU"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/>
              </a:defRPr>
            </a:lvl1pPr>
          </a:lstStyle>
          <a:p>
            <a:pPr>
              <a:lnSpc>
                <a:spcPct val="80000"/>
              </a:lnSpc>
              <a:defRPr/>
            </a:pP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Спасибо </a:t>
            </a:r>
            <a:b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</a:br>
            <a:r>
              <a:rPr lang="ru-RU" sz="11500" b="0">
                <a:solidFill>
                  <a:schemeClr val="accent2"/>
                </a:solidFill>
                <a:latin typeface="T-Sans"/>
                <a:ea typeface="T-Sans"/>
              </a:rPr>
              <a:t>за внимание! </a:t>
            </a:r>
            <a:endParaRPr/>
          </a:p>
        </p:txBody>
      </p:sp>
      <p:pic>
        <p:nvPicPr>
          <p:cNvPr id="23" name="Рисунок 22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/>
        </p:blipFill>
        <p:spPr bwMode="auto">
          <a:xfrm>
            <a:off x="13139738" y="647700"/>
            <a:ext cx="6045749" cy="98647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/>
        <a:ea typeface="Liberation Sans"/>
        <a:cs typeface="Liberation Sans"/>
      </a:majorFont>
      <a:minorFont>
        <a:latin typeface="Arial"/>
        <a:ea typeface="Liberation Sans"/>
        <a:cs typeface="Liberation Sans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5244</Words>
  <Application>Microsoft Macintosh PowerPoint</Application>
  <DocSecurity>0</DocSecurity>
  <PresentationFormat>Custom</PresentationFormat>
  <Paragraphs>171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Tinkoff Sans</vt:lpstr>
      <vt:lpstr>Helvetica</vt:lpstr>
      <vt:lpstr>Times New Roman</vt:lpstr>
      <vt:lpstr>T-Sans Medium</vt:lpstr>
      <vt:lpstr>Calibri</vt:lpstr>
      <vt:lpstr>Wingdings</vt:lpstr>
      <vt:lpstr>T-Sans</vt:lpstr>
      <vt:lpstr>TINKOFFSANS-MEDIUM</vt:lpstr>
      <vt:lpstr>Liberation 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an khasanov</cp:lastModifiedBy>
  <cp:revision>1202</cp:revision>
  <dcterms:modified xsi:type="dcterms:W3CDTF">2026-10-01T17:03:59Z</dcterms:modified>
  <cp:category/>
  <dc:identifier/>
  <cp:contentStatus/>
  <dc:language/>
  <cp:version/>
</cp:coreProperties>
</file>